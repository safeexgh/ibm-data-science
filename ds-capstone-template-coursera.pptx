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3.xml" ContentType="application/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_rels/notesSlide4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6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34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14.xml" ContentType="application/vnd.openxmlformats-officedocument.presentationml.slide+xml"/>
  <Override PartName="/ppt/slides/slide36.xml" ContentType="application/vnd.openxmlformats-officedocument.presentationml.slide+xml"/>
  <Override PartName="/ppt/slides/slide15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7.xml" ContentType="application/vnd.openxmlformats-officedocument.presentationml.slide+xml"/>
  <Override PartName="/ppt/slides/slide39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33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12.xml.rels" ContentType="application/vnd.openxmlformats-package.relationships+xml"/>
  <Override PartName="/ppt/slides/_rels/slide35.xml.rels" ContentType="application/vnd.openxmlformats-package.relationships+xml"/>
  <Override PartName="/ppt/slides/_rels/slide13.xml.rels" ContentType="application/vnd.openxmlformats-package.relationships+xml"/>
  <Override PartName="/ppt/slides/_rels/slide36.xml.rels" ContentType="application/vnd.openxmlformats-package.relationships+xml"/>
  <Override PartName="/ppt/slides/_rels/slide14.xml.rels" ContentType="application/vnd.openxmlformats-package.relationships+xml"/>
  <Override PartName="/ppt/slides/_rels/slide37.xml.rels" ContentType="application/vnd.openxmlformats-package.relationships+xml"/>
  <Override PartName="/ppt/slides/_rels/slide15.xml.rels" ContentType="application/vnd.openxmlformats-package.relationships+xml"/>
  <Override PartName="/ppt/slides/_rels/slide38.xml.rels" ContentType="application/vnd.openxmlformats-package.relationships+xml"/>
  <Override PartName="/ppt/slides/_rels/slide16.xml.rels" ContentType="application/vnd.openxmlformats-package.relationships+xml"/>
  <Override PartName="/ppt/slides/_rels/slide39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42.xml.rels" ContentType="application/vnd.openxmlformats-package.relationships+xml"/>
  <Override PartName="/ppt/slides/_rels/slide20.xml.rels" ContentType="application/vnd.openxmlformats-package.relationships+xml"/>
  <Override PartName="/ppt/slides/_rels/slide43.xml.rels" ContentType="application/vnd.openxmlformats-package.relationships+xml"/>
  <Override PartName="/ppt/slides/_rels/slide21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45.xml.rels" ContentType="application/vnd.openxmlformats-package.relationships+xml"/>
  <Override PartName="/ppt/slides/_rels/slide23.xml.rels" ContentType="application/vnd.openxmlformats-package.relationships+xml"/>
  <Override PartName="/ppt/slides/_rels/slide46.xml.rels" ContentType="application/vnd.openxmlformats-package.relationships+xml"/>
  <Override PartName="/ppt/slides/_rels/slide24.xml.rels" ContentType="application/vnd.openxmlformats-package.relationships+xml"/>
  <Override PartName="/ppt/slides/_rels/slide47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22.xml" ContentType="application/vnd.openxmlformats-officedocument.presentationml.slide+xml"/>
  <Override PartName="/ppt/slides/slide44.xml" ContentType="application/vnd.openxmlformats-officedocument.presentationml.slide+xml"/>
  <Override PartName="/ppt/slides/slide23.xml" ContentType="application/vnd.openxmlformats-officedocument.presentationml.slide+xml"/>
  <Override PartName="/ppt/slides/slide45.xml" ContentType="application/vnd.openxmlformats-officedocument.presentationml.slide+xml"/>
  <Override PartName="/ppt/slides/slide24.xml" ContentType="application/vnd.openxmlformats-officedocument.presentationml.slide+xml"/>
  <Override PartName="/ppt/slides/slide46.xml" ContentType="application/vnd.openxmlformats-officedocument.presentationml.slide+xml"/>
  <Override PartName="/ppt/slides/slide25.xml" ContentType="application/vnd.openxmlformats-officedocument.presentationml.slide+xml"/>
  <Override PartName="/ppt/slides/slide47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media/image1.jpeg" ContentType="image/jpeg"/>
  <Override PartName="/ppt/media/image2.png" ContentType="image/png"/>
  <Override PartName="/ppt/media/image7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8.jpeg" ContentType="image/jpeg"/>
  <Override PartName="/ppt/media/image9.jpeg" ContentType="image/jpe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/>
  <p:notesSz cx="6858000" cy="18573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desplazar la diapositiva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87C6D03-DDE2-4740-8BEF-EC865C4621B8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288D0-A445-4DE3-B57F-AE311DFCFE2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24A0AF-7B3F-49FB-9E2E-FC7912F4893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3923F0-A092-4B11-83CE-9EDFE2206F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D02FED-1393-4E7C-932A-53098716B08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45312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6816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83808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45312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6816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24F466-0A3B-4A27-B700-DF9B9E410A1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C6432F-00CD-4486-A0F0-F1B244E6078A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14A7B5-2849-47F1-BF05-4A7C3A28BF32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1E36C7-F026-4CA9-8AFC-5001CA8032E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7913D3-B03F-43D1-9A97-4DD5D51BEE6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BAD8D9-490C-46AA-82CA-E2B9EDA0B976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758E30-CE49-4BD3-A3B1-C7DBA1E6490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7A6B5F-8520-491F-B068-38104E0210B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3FBC14-2F4B-40DF-9117-5865E5E6C82E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1BD349-5494-40D3-8157-988AD6D8A3E0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AB8DE1-218D-46C3-AF61-67FF650634F5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45312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6816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83808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45312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6816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466FD-F9AA-4F68-9F98-7CDF430432B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D0A1ECA-4D12-4DD8-88CD-6F9E0ABCBD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48DD50B-791F-4F5A-8228-1EB9C9C642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7D87E3-2439-467D-8BAD-B22F537BBE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A8F526-4C62-49E0-8C0F-3382EFED36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C06DEE-3AB0-4A41-BC96-6284D25B3A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A0DB3A-6833-4DDF-9128-B048B3650C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1FF3B7-7EAC-42C2-BB59-3DE85CE740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9C879F-DAAA-4E94-9953-58DE8F152B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CB742A7-5070-4B1E-A9F9-8759CB1108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5A3332-E5C3-407B-A77D-B372926D11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F8D65A-1D32-489A-B94C-3FCBE6F2F2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345312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06816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83808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/>
          </p:nvPr>
        </p:nvSpPr>
        <p:spPr>
          <a:xfrm>
            <a:off x="345312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/>
          </p:nvPr>
        </p:nvSpPr>
        <p:spPr>
          <a:xfrm>
            <a:off x="606816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296F9B-730D-4EA7-AB47-E466AAF2E0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581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838080" y="3400920"/>
            <a:ext cx="773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800960" y="36504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83808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/>
          </p:nvPr>
        </p:nvSpPr>
        <p:spPr>
          <a:xfrm>
            <a:off x="4800960" y="3400920"/>
            <a:ext cx="377388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808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345312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068160" y="36504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/>
          </p:nvPr>
        </p:nvSpPr>
        <p:spPr>
          <a:xfrm>
            <a:off x="83808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/>
          </p:nvPr>
        </p:nvSpPr>
        <p:spPr>
          <a:xfrm>
            <a:off x="345312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/>
          </p:nvPr>
        </p:nvSpPr>
        <p:spPr>
          <a:xfrm>
            <a:off x="6068160" y="3400920"/>
            <a:ext cx="2490120" cy="27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rgbClr val="005493"/>
                </a:solidFill>
                <a:latin typeface="IBM Plex Mono SemiBold"/>
                <a:ea typeface="IBM Plex Mono SemiBold"/>
              </a:rPr>
              <a:t>Click to edit Master title style</a:t>
            </a:r>
            <a:endParaRPr b="0" lang="en-US" sz="4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Num" idx="2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6B22D4-BF3F-4DBA-AFAE-8C4087528946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&lt;fecha/hora&gt;</a:t>
            </a: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5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475F18-074D-49C2-A5DE-C0EC794E2F3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45000" rIns="45000" tIns="90000" bIns="9000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5"/>
          <p:cNvSpPr/>
          <p:nvPr/>
        </p:nvSpPr>
        <p:spPr>
          <a:xfrm>
            <a:off x="888480" y="4568760"/>
            <a:ext cx="37915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e7e6e6"/>
                </a:solidFill>
                <a:latin typeface="Abadi"/>
                <a:ea typeface="SF Pro"/>
              </a:rPr>
              <a:t>Jose Antonio Valero Aige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e7e6e6"/>
                </a:solidFill>
                <a:latin typeface="Abadi"/>
                <a:ea typeface="SF Pro"/>
              </a:rPr>
              <a:t>26-05-2023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2" descr="IBM Skills Network Logo - Horizontal-noai copy.png"/>
          <p:cNvPicPr/>
          <p:nvPr/>
        </p:nvPicPr>
        <p:blipFill>
          <a:blip r:embed="rId2"/>
          <a:stretch/>
        </p:blipFill>
        <p:spPr>
          <a:xfrm>
            <a:off x="889920" y="676800"/>
            <a:ext cx="2103840" cy="628920"/>
          </a:xfrm>
          <a:prstGeom prst="rect">
            <a:avLst/>
          </a:prstGeom>
          <a:ln w="0">
            <a:noFill/>
          </a:ln>
        </p:spPr>
      </p:pic>
    </p:spTree>
  </p:cSld>
  <p:transition spd="slow">
    <p:push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Num" idx="10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indent="0" algn="r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60FF5D-6917-4639-AE63-62687EA38E7F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Content Placeholder 2"/>
          <p:cNvSpPr/>
          <p:nvPr/>
        </p:nvSpPr>
        <p:spPr>
          <a:xfrm>
            <a:off x="958680" y="2113200"/>
            <a:ext cx="5166720" cy="33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Outline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Num" idx="11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indent="0" algn="r">
              <a:lnSpc>
                <a:spcPct val="100000"/>
              </a:lnSpc>
              <a:spcAft>
                <a:spcPts val="601"/>
              </a:spcAft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spcAft>
                <a:spcPts val="601"/>
              </a:spcAft>
              <a:buNone/>
            </a:pPr>
            <a:fld id="{B1690778-C4C4-413C-B7E1-BCCFF033BC55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Content Placeholder 2"/>
          <p:cNvSpPr/>
          <p:nvPr/>
        </p:nvSpPr>
        <p:spPr>
          <a:xfrm>
            <a:off x="959040" y="2684880"/>
            <a:ext cx="4017600" cy="10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Summary of methodologies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Summary of all results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Executive Summary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Num" idx="12"/>
          </p:nvPr>
        </p:nvSpPr>
        <p:spPr>
          <a:xfrm>
            <a:off x="8714880" y="6025680"/>
            <a:ext cx="2742840" cy="401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indent="0" algn="r">
              <a:lnSpc>
                <a:spcPct val="100000"/>
              </a:lnSpc>
              <a:spcAft>
                <a:spcPts val="601"/>
              </a:spcAft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spcAft>
                <a:spcPts val="601"/>
              </a:spcAft>
              <a:buNone/>
            </a:pPr>
            <a:fld id="{A424F446-8C89-4418-A99C-AD6CEDCF4D80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Title 1"/>
          <p:cNvSpPr/>
          <p:nvPr/>
        </p:nvSpPr>
        <p:spPr>
          <a:xfrm>
            <a:off x="828000" y="538560"/>
            <a:ext cx="105296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Introduction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ontent Placeholder 2"/>
          <p:cNvSpPr/>
          <p:nvPr/>
        </p:nvSpPr>
        <p:spPr>
          <a:xfrm>
            <a:off x="958680" y="2521440"/>
            <a:ext cx="5660640" cy="18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Project background and context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Problems you want to find answers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Num" idx="13"/>
          </p:nvPr>
        </p:nvSpPr>
        <p:spPr>
          <a:xfrm>
            <a:off x="944892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600" spc="-1" strike="noStrike">
                <a:solidFill>
                  <a:srgbClr val="1c7ddb"/>
                </a:solidFill>
                <a:latin typeface="Abad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F3EE2A-08F7-4257-9AAE-02E8AE46760E}" type="slidenum">
              <a:rPr b="0" lang="en-US" sz="1600" spc="-1" strike="noStrike">
                <a:solidFill>
                  <a:srgbClr val="1c7ddb"/>
                </a:solidFill>
                <a:latin typeface="Abadi"/>
              </a:rPr>
              <a:t>&lt;número&gt;</a:t>
            </a:fld>
            <a:endParaRPr b="0" lang="es-ES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TextBox 1"/>
          <p:cNvSpPr/>
          <p:nvPr/>
        </p:nvSpPr>
        <p:spPr>
          <a:xfrm>
            <a:off x="777960" y="2812680"/>
            <a:ext cx="103284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Section 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ntent Placeholder 2"/>
          <p:cNvSpPr/>
          <p:nvPr/>
        </p:nvSpPr>
        <p:spPr>
          <a:xfrm>
            <a:off x="770040" y="1580760"/>
            <a:ext cx="10104480" cy="52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28000"/>
          </a:bodyPr>
          <a:p>
            <a:pPr>
              <a:lnSpc>
                <a:spcPct val="120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n-US" sz="8800" spc="-1" strike="noStrike">
                <a:solidFill>
                  <a:srgbClr val="0b49cb"/>
                </a:solidFill>
                <a:latin typeface="Abadi"/>
              </a:rPr>
              <a:t>Executive Summary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marL="255960" indent="-25596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lvl="1" marL="767880" indent="-25596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rgbClr val="767171"/>
                </a:solidFill>
                <a:latin typeface="Abadi"/>
              </a:rPr>
              <a:t>Describe how data was collected </a:t>
            </a:r>
            <a:endParaRPr b="0" lang="es-ES" sz="7600" spc="-1" strike="noStrike">
              <a:solidFill>
                <a:srgbClr val="000000"/>
              </a:solidFill>
              <a:latin typeface="Arial"/>
            </a:endParaRPr>
          </a:p>
          <a:p>
            <a:pPr marL="255960" indent="-25596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lvl="1" marL="767880" indent="-25596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rgbClr val="767171"/>
                </a:solidFill>
                <a:latin typeface="Abadi"/>
              </a:rPr>
              <a:t>Describe how data was processed</a:t>
            </a:r>
            <a:endParaRPr b="0" lang="es-ES" sz="7600" spc="-1" strike="noStrike">
              <a:solidFill>
                <a:srgbClr val="000000"/>
              </a:solidFill>
              <a:latin typeface="Arial"/>
            </a:endParaRPr>
          </a:p>
          <a:p>
            <a:pPr marL="255960" indent="-25596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marL="255960" indent="-25596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Plotly Dash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marL="255960" indent="-255960">
              <a:lnSpc>
                <a:spcPct val="12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 lvl="1" marL="767880" indent="-255960">
              <a:lnSpc>
                <a:spcPct val="120000"/>
              </a:lnSpc>
              <a:spcBef>
                <a:spcPts val="1400"/>
              </a:spcBef>
              <a:buClr>
                <a:srgbClr val="767171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7600" spc="-1" strike="noStrike">
                <a:solidFill>
                  <a:srgbClr val="767171"/>
                </a:solidFill>
                <a:latin typeface="Abadi"/>
              </a:rPr>
              <a:t>How to build, tune, evaluate classification models</a:t>
            </a:r>
            <a:endParaRPr b="0" lang="es-ES" sz="7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1400"/>
              </a:spcBef>
              <a:tabLst>
                <a:tab algn="l" pos="0"/>
              </a:tabLst>
            </a:pPr>
            <a:endParaRPr b="0" lang="es-ES" sz="8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Methodology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705167-A4A4-4C11-9EA5-23250D64929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Describe how data sets were collected.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to present your data collection process use key phrases and flowcharts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435B22-030C-4B19-9A07-CC78686B7F15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/>
          </p:nvPr>
        </p:nvSpPr>
        <p:spPr>
          <a:xfrm>
            <a:off x="5910120" y="1792440"/>
            <a:ext cx="5460480" cy="4206600"/>
          </a:xfrm>
          <a:prstGeom prst="rect">
            <a:avLst/>
          </a:prstGeom>
          <a:noFill/>
          <a:ln w="0">
            <a:solidFill>
              <a:srgbClr val="0b49cb"/>
            </a:solidFill>
            <a:prstDash val="dash"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Place your flowchart of SpaceX API calls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820800" y="1800360"/>
            <a:ext cx="4640040" cy="4225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data collection with SpaceX REST calls using key phrases and flowcharts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the completed SpaceX API calls notebook </a:t>
            </a: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(must include completed code cell and outcome cell),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 – SpaceX API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6E52F9-21E3-49A7-98DA-E6D37A92EF87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922320" y="17924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the completed web scraping notebook,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>
              <a:lnSpc>
                <a:spcPct val="90000"/>
              </a:lnSpc>
            </a:pPr>
            <a:endParaRPr b="0" lang="en-US" sz="4000" spc="-1" strike="noStrike">
              <a:solidFill>
                <a:srgbClr val="1c7ddb"/>
              </a:solidFill>
              <a:latin typeface="Abadi"/>
              <a:ea typeface="IBM Plex Mono SemiBold"/>
            </a:endParaRPr>
          </a:p>
        </p:txBody>
      </p:sp>
      <p:sp>
        <p:nvSpPr>
          <p:cNvPr id="186" name="Title 1"/>
          <p:cNvSpPr/>
          <p:nvPr/>
        </p:nvSpPr>
        <p:spPr>
          <a:xfrm>
            <a:off x="922320" y="69120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Collection - Scraping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ontent Placeholder 4"/>
          <p:cNvSpPr/>
          <p:nvPr/>
        </p:nvSpPr>
        <p:spPr>
          <a:xfrm>
            <a:off x="5910120" y="1792440"/>
            <a:ext cx="5460480" cy="4206600"/>
          </a:xfrm>
          <a:prstGeom prst="rect">
            <a:avLst/>
          </a:prstGeom>
          <a:noFill/>
          <a:ln w="0">
            <a:solidFill>
              <a:srgbClr val="0b49cb"/>
            </a:solidFill>
            <a:prstDash val="dash"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FFB9FC-8050-405C-AEAA-04388310D63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897516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Describe how data were processed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to present your data wrangling process using key phrases and flowcharts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data wrangling related notebooks,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Data Wrangling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225F6B-8555-463E-B13E-7483388D863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EDA with data visualization notebook,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EDA with Data Visualization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480E08-13BE-4C79-931C-D44792DEBA3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/>
          </p:nvPr>
        </p:nvSpPr>
        <p:spPr>
          <a:xfrm>
            <a:off x="770040" y="180648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EDA with SQL notebook,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EDA with SQL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162CAC-8AE2-48D6-9FD1-14ABA1D1871A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838080" y="18748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map objects such as markers, circles, lines, etc. you created and added to a folium map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why you added those objects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interactive map with Folium map,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Build an Interactive Map with Folium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3BCCB9-3177-42D7-8F81-A9937D3B7D75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plots/graphs and interactions you have added to a dashboard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why you added those plots and interactions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Plotly Dash lab,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Build a Dashboard with Plotly Dash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DF0413-32A4-4DAD-98FD-F6580F2E176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how you built, evaluated, improved, and found the best performing classification model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You need present your model development process using key phrases and flowchart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Add the GitHub URL of your completed predictive analysis lab, as an external reference and peer-review purpose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Predictive Analysis (Classification)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B0699E-63BF-453A-A539-590A57295AD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ontent Placeholder 2"/>
          <p:cNvSpPr/>
          <p:nvPr/>
        </p:nvSpPr>
        <p:spPr>
          <a:xfrm>
            <a:off x="840960" y="1807200"/>
            <a:ext cx="7068240" cy="16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Exploratory data analysis results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analytics demo in screenshots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Predictive analysis results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Results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F7EEA4-8C2A-47EF-87D3-255356548F5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/>
          <p:nvPr/>
        </p:nvSpPr>
        <p:spPr>
          <a:xfrm>
            <a:off x="810720" y="2529720"/>
            <a:ext cx="103284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Section 2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/>
          </p:nvPr>
        </p:nvSpPr>
        <p:spPr>
          <a:xfrm>
            <a:off x="8650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scatter plot of Flight Number vs. Launch Site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Flight Number vs. Launch Site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41B6CA-0ACF-4C8D-B598-4C9651CFE57A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scatter plot of Payload vs. Launch Site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Payload vs. Launch Site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001307-E183-4C01-8331-21C544221DBC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/>
          </p:nvPr>
        </p:nvSpPr>
        <p:spPr>
          <a:xfrm>
            <a:off x="770040" y="20822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bar chart for the success rate of each orbit type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Success Rate vs. Orbit Type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4427DB-42A2-4ACE-92F6-81D08C01F9AC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point of Flight number vs. Orbit type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Flight Number vs. Orbit Type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909FBE-EB58-49D7-9EA9-5CD442F2B2D6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/>
          </p:nvPr>
        </p:nvSpPr>
        <p:spPr>
          <a:xfrm>
            <a:off x="77004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scatter point of payload vs. orbit type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Payload vs. Orbit Type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9C5D72-8F8E-4337-A614-09EE1BD017A1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/>
          </p:nvPr>
        </p:nvSpPr>
        <p:spPr>
          <a:xfrm>
            <a:off x="770040" y="20696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CA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a </a:t>
            </a: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line chart of yearly average success rate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scatter plot with explanations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Launch Success Yearly Trend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96C754-70C2-4782-89FC-528E9541CBDF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names of the unique launch sites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All Launch Site Names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8BA45A-FF8C-4555-8ADD-08FE5B7378AB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5 records where launch sites begin with `CCA`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Launch Site Names Begin with 'CCA'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D1438A-D359-409B-AADC-54C043F9E8CB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total payload carried by boosters from NASA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Total Payload Mass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65870F-F18E-4DC5-834C-CF42B6E0E54A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average payload mass carried by booster version F9 v1.1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Average Payload Mass by F9 v1.1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21F474-E373-40A3-A463-3A0BA69D52D4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First Successful Ground Landing Date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DA9B78-0F92-4D92-9029-EB9300B81EF4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52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Successful Drone Ship Landing with Payload between 4000 and 6000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68E944-F7BF-4AC6-8489-DC8BD5F2FBF7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Calculate the total number of successful and failure mission outcomes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8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Total Number of Successful and Failure Mission Outcomes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4073EA-1317-4A41-AFD4-FCF98C8A3369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the booster which have carried the maximum payload mass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Boosters Carried Maximum Payload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EBB027-A068-415C-AE99-E2115DC1B5AC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landing_outcomes in drone ship, their booster versions, and launch site names for in year 2015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2015 Launch Records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F2FC34-7595-4517-B7FB-A4C839C5D14E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4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Rank Landing Outcomes Between 2010-06-04 and 2017-03-20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E97774-3D90-4622-BD76-0ACFF5057995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6"/>
          <p:cNvSpPr/>
          <p:nvPr/>
        </p:nvSpPr>
        <p:spPr>
          <a:xfrm>
            <a:off x="810720" y="2529720"/>
            <a:ext cx="103284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Section 3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1&gt;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747491-CB72-437A-90FC-80FF05A29AEC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  <a:ea typeface="Calibri"/>
              </a:rPr>
              <a:t>Explore the folium map and make a proper screenshot to show the color-labeled launch outcomes on the map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  <a:ea typeface="Calibri"/>
              </a:rPr>
              <a:t>Explain the important elements and findings on the screenshot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2&gt;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92DF30-71C9-497D-9C0F-FF5E4EDC2AF4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/>
          </p:nvPr>
        </p:nvSpPr>
        <p:spPr>
          <a:xfrm>
            <a:off x="770040" y="1690560"/>
            <a:ext cx="8597520" cy="4314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&lt;Folium Map Screenshot 3&gt;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118646-E4EF-4AFD-B63A-DDECC1058E95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810720" y="2529720"/>
            <a:ext cx="103284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Section 4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974520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piechart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1&gt;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C83C2C-5EF6-452F-AC2D-61779BF7D908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/>
          </p:nvPr>
        </p:nvSpPr>
        <p:spPr>
          <a:xfrm>
            <a:off x="734040" y="1825560"/>
            <a:ext cx="10551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piechart for the launch site with highest launch success ratio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2&gt;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CD3CDF-6C71-45EB-BD3D-CB0A14A6BFC6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/>
          </p:nvPr>
        </p:nvSpPr>
        <p:spPr>
          <a:xfrm>
            <a:off x="770040" y="1825560"/>
            <a:ext cx="104144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3&gt; title with an appropriate title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screenshots of Payload vs. Launch Outcome scatter plot for all sites, with different payload selected in the range slider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8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&lt;Dashboard Screenshot 3&gt;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E0E8B8-45F7-4885-A032-B059EDC36398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810720" y="2529720"/>
            <a:ext cx="1032840" cy="363960"/>
          </a:xfrm>
          <a:prstGeom prst="rect">
            <a:avLst/>
          </a:prstGeom>
          <a:solidFill>
            <a:srgbClr val="094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Section 5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/>
          </p:nvPr>
        </p:nvSpPr>
        <p:spPr>
          <a:xfrm>
            <a:off x="770040" y="2082240"/>
            <a:ext cx="532548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built classification models, in a bar chart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Find which model has the highest classification accuracy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1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Classification Accuracy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70A4E8-E0D5-49B6-9649-FB2E3EB9206B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/>
          </p:nvPr>
        </p:nvSpPr>
        <p:spPr>
          <a:xfrm>
            <a:off x="770040" y="2057400"/>
            <a:ext cx="9477720" cy="38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00000"/>
              </a:lnSpc>
              <a:spcBef>
                <a:spcPts val="1400"/>
              </a:spcBef>
              <a:buClr>
                <a:srgbClr val="292929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confusion matrix of the best performing model with an explanation 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3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Confusion Matrix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3AC350-9E90-4DB8-B506-F20628E7CC90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/>
          </p:nvPr>
        </p:nvSpPr>
        <p:spPr>
          <a:xfrm>
            <a:off x="770040" y="1874880"/>
            <a:ext cx="59036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1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2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3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Point 4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…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Conclusions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629265-D55D-4DE8-AF84-D005AEECD8AA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/>
          </p:nvPr>
        </p:nvSpPr>
        <p:spPr>
          <a:xfrm>
            <a:off x="770040" y="18594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en-US" sz="2200" spc="-1" strike="noStrike">
                <a:solidFill>
                  <a:schemeClr val="accent3">
                    <a:lumMod val="25000"/>
                  </a:schemeClr>
                </a:solidFill>
                <a:latin typeface="Abadi"/>
              </a:rPr>
              <a:t>Include any relevant assets like Python code snippets, SQL queries, charts, Notebook outputs, or data sets that you may have created during this project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Title 1"/>
          <p:cNvSpPr/>
          <p:nvPr/>
        </p:nvSpPr>
        <p:spPr>
          <a:xfrm>
            <a:off x="770040" y="538560"/>
            <a:ext cx="105152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4000" spc="-1" strike="noStrike">
                <a:solidFill>
                  <a:srgbClr val="0b49cb"/>
                </a:solidFill>
                <a:latin typeface="Abadi"/>
                <a:ea typeface="IBM Plex Mono SemiBold"/>
              </a:rPr>
              <a:t>Appendix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03F296-2845-4D73-9079-92F59D27498A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LibreOffice/7.5.0.3$Windows_X86_64 LibreOffice_project/c21113d003cd3efa8c53188764377a8272d9d6de</Application>
  <AppVersion>15.0000</AppVersion>
  <Words>1346</Words>
  <Paragraphs>234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2021-04-29T18:58:34Z</dcterms:created>
  <dc:creator>YAN Luo</dc:creator>
  <dc:description/>
  <dc:language>es-ES</dc:language>
  <cp:lastModifiedBy/>
  <dcterms:modified xsi:type="dcterms:W3CDTF">2023-05-26T22:48:38Z</dcterms:modified>
  <cp:revision>199</cp:revision>
  <dc:subject/>
  <dc:title> &lt;Title&gt;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47</vt:i4>
  </property>
</Properties>
</file>