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 id="2147483687" r:id="rId4"/>
  </p:sldMasterIdLst>
  <p:notesMasterIdLst>
    <p:notesMasterId r:id="rId4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x="12192000" cy="6858000"/>
  <p:notesSz cx="6858000" cy="1857375"/>
  <p:embeddedFontLst>
    <p:embeddedFont>
      <p:font typeface="Roboto Mono" panose="020F0502020204030204" pitchFamily="49"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hUMR71c7iAt0cHwhN5Z8dwH/H/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3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customschemas.google.com/relationships/presentationmetadata" Target="metadata"/><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‹Nº›</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3" name="Google Shape;293;p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9" name="Google Shape;299;p2: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216000" lvl="0" indent="0" algn="l" rtl="0">
              <a:spcBef>
                <a:spcPts val="0"/>
              </a:spcBef>
              <a:spcAft>
                <a:spcPts val="0"/>
              </a:spcAft>
              <a:buSzPts val="1800"/>
              <a:buNone/>
            </a:pPr>
            <a:endParaRPr sz="1800" b="0" strike="noStrike">
              <a:solidFill>
                <a:srgbClr val="000000"/>
              </a:solidFill>
              <a:latin typeface="Arial"/>
              <a:ea typeface="Arial"/>
              <a:cs typeface="Arial"/>
              <a:sym typeface="Arial"/>
            </a:endParaRPr>
          </a:p>
        </p:txBody>
      </p:sp>
      <p:sp>
        <p:nvSpPr>
          <p:cNvPr id="300" name="Google Shape;300;p2:notes"/>
          <p:cNvSpPr txBox="1">
            <a:spLocks noGrp="1"/>
          </p:cNvSpPr>
          <p:nvPr>
            <p:ph type="sldNum" idx="12"/>
          </p:nvPr>
        </p:nvSpPr>
        <p:spPr>
          <a:xfrm>
            <a:off x="3884760" y="8685360"/>
            <a:ext cx="2971440" cy="4582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a:t>
            </a:fld>
            <a:endParaRPr sz="12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7" name="Google Shape;307;p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4b3bc74cb7_0_0:notes"/>
          <p:cNvSpPr>
            <a:spLocks noGrp="1" noRot="1" noChangeAspect="1"/>
          </p:cNvSpPr>
          <p:nvPr>
            <p:ph type="sldImg" idx="2"/>
          </p:nvPr>
        </p:nvSpPr>
        <p:spPr>
          <a:xfrm>
            <a:off x="216000" y="812520"/>
            <a:ext cx="7127400" cy="4008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4b3bc74cb7_0_0: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5" name="Google Shape;315;g24b3bc74cb7_0_0: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4b3bc74cb7_0_6:notes"/>
          <p:cNvSpPr>
            <a:spLocks noGrp="1" noRot="1" noChangeAspect="1"/>
          </p:cNvSpPr>
          <p:nvPr>
            <p:ph type="sldImg" idx="2"/>
          </p:nvPr>
        </p:nvSpPr>
        <p:spPr>
          <a:xfrm>
            <a:off x="216000" y="812520"/>
            <a:ext cx="7127400" cy="4008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4b3bc74cb7_0_6: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2" name="Google Shape;322;g24b3bc74cb7_0_6: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29" name="Google Shape;329;p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4b3bc74cb7_0_19:notes"/>
          <p:cNvSpPr>
            <a:spLocks noGrp="1" noRot="1" noChangeAspect="1"/>
          </p:cNvSpPr>
          <p:nvPr>
            <p:ph type="sldImg" idx="2"/>
          </p:nvPr>
        </p:nvSpPr>
        <p:spPr>
          <a:xfrm>
            <a:off x="216000" y="812520"/>
            <a:ext cx="7127400" cy="4008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4b3bc74cb7_0_19: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38" name="Google Shape;338;g24b3bc74cb7_0_19: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4b3bc74cb7_0_24:notes"/>
          <p:cNvSpPr>
            <a:spLocks noGrp="1" noRot="1" noChangeAspect="1"/>
          </p:cNvSpPr>
          <p:nvPr>
            <p:ph type="sldImg" idx="2"/>
          </p:nvPr>
        </p:nvSpPr>
        <p:spPr>
          <a:xfrm>
            <a:off x="216000" y="812520"/>
            <a:ext cx="7127400" cy="4008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24b3bc74cb7_0_24: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45" name="Google Shape;345;g24b3bc74cb7_0_24: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51" name="Google Shape;351;p5: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7" name="Google Shape;357;p6: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216000" lvl="0" indent="0" algn="l" rtl="0">
              <a:spcBef>
                <a:spcPts val="0"/>
              </a:spcBef>
              <a:spcAft>
                <a:spcPts val="0"/>
              </a:spcAft>
              <a:buSzPts val="1800"/>
              <a:buNone/>
            </a:pPr>
            <a:endParaRPr sz="1800" b="0" strike="noStrike">
              <a:solidFill>
                <a:srgbClr val="000000"/>
              </a:solidFill>
              <a:latin typeface="Arial"/>
              <a:ea typeface="Arial"/>
              <a:cs typeface="Arial"/>
              <a:sym typeface="Arial"/>
            </a:endParaRPr>
          </a:p>
        </p:txBody>
      </p:sp>
      <p:sp>
        <p:nvSpPr>
          <p:cNvPr id="358" name="Google Shape;358;p6:notes"/>
          <p:cNvSpPr txBox="1">
            <a:spLocks noGrp="1"/>
          </p:cNvSpPr>
          <p:nvPr>
            <p:ph type="sldNum" idx="12"/>
          </p:nvPr>
        </p:nvSpPr>
        <p:spPr>
          <a:xfrm>
            <a:off x="3884760" y="8685360"/>
            <a:ext cx="2971440" cy="4582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10</a:t>
            </a:fld>
            <a:endParaRPr sz="12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7: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65" name="Google Shape;365;p7: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4b54dfaa98_0_1:notes"/>
          <p:cNvSpPr>
            <a:spLocks noGrp="1" noRot="1" noChangeAspect="1"/>
          </p:cNvSpPr>
          <p:nvPr>
            <p:ph type="sldImg" idx="2"/>
          </p:nvPr>
        </p:nvSpPr>
        <p:spPr>
          <a:xfrm>
            <a:off x="216000" y="812520"/>
            <a:ext cx="7127400" cy="4008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4b54dfaa98_0_1: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3" name="Google Shape;373;g24b54dfaa98_0_1: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79" name="Google Shape;379;p8: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6" name="Google Shape;386;p1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93" name="Google Shape;393;p1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0" name="Google Shape;400;p1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07" name="Google Shape;407;p1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4" name="Google Shape;414;p16: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216000" lvl="0" indent="0" algn="l" rtl="0">
              <a:spcBef>
                <a:spcPts val="0"/>
              </a:spcBef>
              <a:spcAft>
                <a:spcPts val="0"/>
              </a:spcAft>
              <a:buSzPts val="1800"/>
              <a:buNone/>
            </a:pPr>
            <a:endParaRPr sz="1800" b="0" strike="noStrike">
              <a:solidFill>
                <a:srgbClr val="000000"/>
              </a:solidFill>
              <a:latin typeface="Arial"/>
              <a:ea typeface="Arial"/>
              <a:cs typeface="Arial"/>
              <a:sym typeface="Arial"/>
            </a:endParaRPr>
          </a:p>
        </p:txBody>
      </p:sp>
      <p:sp>
        <p:nvSpPr>
          <p:cNvPr id="415" name="Google Shape;415;p16:notes"/>
          <p:cNvSpPr txBox="1">
            <a:spLocks noGrp="1"/>
          </p:cNvSpPr>
          <p:nvPr>
            <p:ph type="sldNum" idx="12"/>
          </p:nvPr>
        </p:nvSpPr>
        <p:spPr>
          <a:xfrm>
            <a:off x="3884760" y="8685360"/>
            <a:ext cx="2971440" cy="4582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18</a:t>
            </a:fld>
            <a:endParaRPr sz="1200" b="0" i="0" u="none" strike="noStrike" cap="non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24b54dfaa98_0_22:notes"/>
          <p:cNvSpPr>
            <a:spLocks noGrp="1" noRot="1" noChangeAspect="1"/>
          </p:cNvSpPr>
          <p:nvPr>
            <p:ph type="sldImg" idx="2"/>
          </p:nvPr>
        </p:nvSpPr>
        <p:spPr>
          <a:xfrm>
            <a:off x="216000" y="812520"/>
            <a:ext cx="7127400" cy="4008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24b54dfaa98_0_22: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3" name="Google Shape;423;g24b54dfaa98_0_22: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17: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29" name="Google Shape;429;p17: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34" name="Google Shape;434;p18: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1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1" name="Google Shape;441;p1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2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48" name="Google Shape;448;p2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55" name="Google Shape;455;p2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2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2" name="Google Shape;462;p2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69" name="Google Shape;469;p2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2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76" name="Google Shape;476;p2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2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84" name="Google Shape;484;p2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28: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492" name="Google Shape;492;p28: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9: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0" name="Google Shape;500;p2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30: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08" name="Google Shape;508;p30: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3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16" name="Google Shape;516;p3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24" name="Google Shape;524;p33: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3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2" name="Google Shape;532;p34: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3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37" name="Google Shape;537;p3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36: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46" name="Google Shape;546;p3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37: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55" name="Google Shape;555;p37: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3" name="Google Shape;563;p42: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3: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8" name="Google Shape;568;p4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4: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6" name="Google Shape;576;p4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5: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4" name="Google Shape;584;p4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24b54dfaa98_0_70:notes"/>
          <p:cNvSpPr>
            <a:spLocks noGrp="1" noRot="1" noChangeAspect="1"/>
          </p:cNvSpPr>
          <p:nvPr>
            <p:ph type="sldImg" idx="2"/>
          </p:nvPr>
        </p:nvSpPr>
        <p:spPr>
          <a:xfrm>
            <a:off x="216000" y="812520"/>
            <a:ext cx="7127400" cy="4008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24b54dfaa98_0_70:notes"/>
          <p:cNvSpPr txBox="1">
            <a:spLocks noGrp="1"/>
          </p:cNvSpPr>
          <p:nvPr>
            <p:ph type="body" idx="1"/>
          </p:nvPr>
        </p:nvSpPr>
        <p:spPr>
          <a:xfrm>
            <a:off x="756000" y="5078520"/>
            <a:ext cx="6047700" cy="48111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2" name="Google Shape;592;g24b54dfaa98_0_70:notes"/>
          <p:cNvSpPr txBox="1">
            <a:spLocks noGrp="1"/>
          </p:cNvSpPr>
          <p:nvPr>
            <p:ph type="sldNum" idx="12"/>
          </p:nvPr>
        </p:nvSpPr>
        <p:spPr>
          <a:xfrm>
            <a:off x="4278960" y="10157400"/>
            <a:ext cx="3280800" cy="5343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7: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8" name="Google Shape;598;p47:notes"/>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3"/>
        <p:cNvGrpSpPr/>
        <p:nvPr/>
      </p:nvGrpSpPr>
      <p:grpSpPr>
        <a:xfrm>
          <a:off x="0" y="0"/>
          <a:ext cx="0" cy="0"/>
          <a:chOff x="0" y="0"/>
          <a:chExt cx="0" cy="0"/>
        </a:xfrm>
      </p:grpSpPr>
      <p:sp>
        <p:nvSpPr>
          <p:cNvPr id="14" name="Google Shape;14;p49"/>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5"/>
        <p:cNvGrpSpPr/>
        <p:nvPr/>
      </p:nvGrpSpPr>
      <p:grpSpPr>
        <a:xfrm>
          <a:off x="0" y="0"/>
          <a:ext cx="0" cy="0"/>
          <a:chOff x="0" y="0"/>
          <a:chExt cx="0" cy="0"/>
        </a:xfrm>
      </p:grpSpPr>
      <p:sp>
        <p:nvSpPr>
          <p:cNvPr id="16" name="Google Shape;16;p5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56"/>
          <p:cNvSpPr txBox="1">
            <a:spLocks noGrp="1"/>
          </p:cNvSpPr>
          <p:nvPr>
            <p:ph type="subTitle" idx="1"/>
          </p:nvPr>
        </p:nvSpPr>
        <p:spPr>
          <a:xfrm>
            <a:off x="838080" y="365040"/>
            <a:ext cx="7733880" cy="58114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56"/>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9"/>
        <p:cNvGrpSpPr/>
        <p:nvPr/>
      </p:nvGrpSpPr>
      <p:grpSpPr>
        <a:xfrm>
          <a:off x="0" y="0"/>
          <a:ext cx="0" cy="0"/>
          <a:chOff x="0" y="0"/>
          <a:chExt cx="0" cy="0"/>
        </a:xfrm>
      </p:grpSpPr>
      <p:sp>
        <p:nvSpPr>
          <p:cNvPr id="20" name="Google Shape;20;p5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7"/>
          <p:cNvSpPr txBox="1">
            <a:spLocks noGrp="1"/>
          </p:cNvSpPr>
          <p:nvPr>
            <p:ph type="body" idx="1"/>
          </p:nvPr>
        </p:nvSpPr>
        <p:spPr>
          <a:xfrm>
            <a:off x="838080" y="365040"/>
            <a:ext cx="773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 name="Google Shape;22;p57"/>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3"/>
        <p:cNvGrpSpPr/>
        <p:nvPr/>
      </p:nvGrpSpPr>
      <p:grpSpPr>
        <a:xfrm>
          <a:off x="0" y="0"/>
          <a:ext cx="0" cy="0"/>
          <a:chOff x="0" y="0"/>
          <a:chExt cx="0" cy="0"/>
        </a:xfrm>
      </p:grpSpPr>
      <p:sp>
        <p:nvSpPr>
          <p:cNvPr id="24" name="Google Shape;24;p5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8"/>
          <p:cNvSpPr txBox="1">
            <a:spLocks noGrp="1"/>
          </p:cNvSpPr>
          <p:nvPr>
            <p:ph type="body" idx="1"/>
          </p:nvPr>
        </p:nvSpPr>
        <p:spPr>
          <a:xfrm>
            <a:off x="83808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58"/>
          <p:cNvSpPr txBox="1">
            <a:spLocks noGrp="1"/>
          </p:cNvSpPr>
          <p:nvPr>
            <p:ph type="body" idx="2"/>
          </p:nvPr>
        </p:nvSpPr>
        <p:spPr>
          <a:xfrm>
            <a:off x="480096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 name="Google Shape;27;p58"/>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5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9"/>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31"/>
        <p:cNvGrpSpPr/>
        <p:nvPr/>
      </p:nvGrpSpPr>
      <p:grpSpPr>
        <a:xfrm>
          <a:off x="0" y="0"/>
          <a:ext cx="0" cy="0"/>
          <a:chOff x="0" y="0"/>
          <a:chExt cx="0" cy="0"/>
        </a:xfrm>
      </p:grpSpPr>
      <p:sp>
        <p:nvSpPr>
          <p:cNvPr id="32" name="Google Shape;32;p60"/>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0"/>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4"/>
        <p:cNvGrpSpPr/>
        <p:nvPr/>
      </p:nvGrpSpPr>
      <p:grpSpPr>
        <a:xfrm>
          <a:off x="0" y="0"/>
          <a:ext cx="0" cy="0"/>
          <a:chOff x="0" y="0"/>
          <a:chExt cx="0" cy="0"/>
        </a:xfrm>
      </p:grpSpPr>
      <p:sp>
        <p:nvSpPr>
          <p:cNvPr id="35" name="Google Shape;35;p6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1"/>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7" name="Google Shape;37;p61"/>
          <p:cNvSpPr txBox="1">
            <a:spLocks noGrp="1"/>
          </p:cNvSpPr>
          <p:nvPr>
            <p:ph type="body" idx="2"/>
          </p:nvPr>
        </p:nvSpPr>
        <p:spPr>
          <a:xfrm>
            <a:off x="480096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61"/>
          <p:cNvSpPr txBox="1">
            <a:spLocks noGrp="1"/>
          </p:cNvSpPr>
          <p:nvPr>
            <p:ph type="body" idx="3"/>
          </p:nvPr>
        </p:nvSpPr>
        <p:spPr>
          <a:xfrm>
            <a:off x="83808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9" name="Google Shape;39;p61"/>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40"/>
        <p:cNvGrpSpPr/>
        <p:nvPr/>
      </p:nvGrpSpPr>
      <p:grpSpPr>
        <a:xfrm>
          <a:off x="0" y="0"/>
          <a:ext cx="0" cy="0"/>
          <a:chOff x="0" y="0"/>
          <a:chExt cx="0" cy="0"/>
        </a:xfrm>
      </p:grpSpPr>
      <p:sp>
        <p:nvSpPr>
          <p:cNvPr id="41" name="Google Shape;41;p6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2"/>
          <p:cNvSpPr txBox="1">
            <a:spLocks noGrp="1"/>
          </p:cNvSpPr>
          <p:nvPr>
            <p:ph type="body" idx="1"/>
          </p:nvPr>
        </p:nvSpPr>
        <p:spPr>
          <a:xfrm>
            <a:off x="83808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 name="Google Shape;43;p62"/>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 name="Google Shape;44;p62"/>
          <p:cNvSpPr txBox="1">
            <a:spLocks noGrp="1"/>
          </p:cNvSpPr>
          <p:nvPr>
            <p:ph type="body" idx="3"/>
          </p:nvPr>
        </p:nvSpPr>
        <p:spPr>
          <a:xfrm>
            <a:off x="480096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5" name="Google Shape;45;p62"/>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6"/>
        <p:cNvGrpSpPr/>
        <p:nvPr/>
      </p:nvGrpSpPr>
      <p:grpSpPr>
        <a:xfrm>
          <a:off x="0" y="0"/>
          <a:ext cx="0" cy="0"/>
          <a:chOff x="0" y="0"/>
          <a:chExt cx="0" cy="0"/>
        </a:xfrm>
      </p:grpSpPr>
      <p:sp>
        <p:nvSpPr>
          <p:cNvPr id="47" name="Google Shape;47;p6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3"/>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9" name="Google Shape;49;p63"/>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0" name="Google Shape;50;p63"/>
          <p:cNvSpPr txBox="1">
            <a:spLocks noGrp="1"/>
          </p:cNvSpPr>
          <p:nvPr>
            <p:ph type="body" idx="3"/>
          </p:nvPr>
        </p:nvSpPr>
        <p:spPr>
          <a:xfrm>
            <a:off x="838080" y="340092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1" name="Google Shape;51;p63"/>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52"/>
        <p:cNvGrpSpPr/>
        <p:nvPr/>
      </p:nvGrpSpPr>
      <p:grpSpPr>
        <a:xfrm>
          <a:off x="0" y="0"/>
          <a:ext cx="0" cy="0"/>
          <a:chOff x="0" y="0"/>
          <a:chExt cx="0" cy="0"/>
        </a:xfrm>
      </p:grpSpPr>
      <p:sp>
        <p:nvSpPr>
          <p:cNvPr id="53" name="Google Shape;53;p6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4"/>
          <p:cNvSpPr txBox="1">
            <a:spLocks noGrp="1"/>
          </p:cNvSpPr>
          <p:nvPr>
            <p:ph type="body" idx="1"/>
          </p:nvPr>
        </p:nvSpPr>
        <p:spPr>
          <a:xfrm>
            <a:off x="838080" y="36504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5" name="Google Shape;55;p64"/>
          <p:cNvSpPr txBox="1">
            <a:spLocks noGrp="1"/>
          </p:cNvSpPr>
          <p:nvPr>
            <p:ph type="body" idx="2"/>
          </p:nvPr>
        </p:nvSpPr>
        <p:spPr>
          <a:xfrm>
            <a:off x="838080" y="340092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6" name="Google Shape;56;p64"/>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57"/>
        <p:cNvGrpSpPr/>
        <p:nvPr/>
      </p:nvGrpSpPr>
      <p:grpSpPr>
        <a:xfrm>
          <a:off x="0" y="0"/>
          <a:ext cx="0" cy="0"/>
          <a:chOff x="0" y="0"/>
          <a:chExt cx="0" cy="0"/>
        </a:xfrm>
      </p:grpSpPr>
      <p:sp>
        <p:nvSpPr>
          <p:cNvPr id="58" name="Google Shape;58;p6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5"/>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0" name="Google Shape;60;p65"/>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1" name="Google Shape;61;p65"/>
          <p:cNvSpPr txBox="1">
            <a:spLocks noGrp="1"/>
          </p:cNvSpPr>
          <p:nvPr>
            <p:ph type="body" idx="3"/>
          </p:nvPr>
        </p:nvSpPr>
        <p:spPr>
          <a:xfrm>
            <a:off x="83808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2" name="Google Shape;62;p65"/>
          <p:cNvSpPr txBox="1">
            <a:spLocks noGrp="1"/>
          </p:cNvSpPr>
          <p:nvPr>
            <p:ph type="body" idx="4"/>
          </p:nvPr>
        </p:nvSpPr>
        <p:spPr>
          <a:xfrm>
            <a:off x="480096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3" name="Google Shape;63;p65"/>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64"/>
        <p:cNvGrpSpPr/>
        <p:nvPr/>
      </p:nvGrpSpPr>
      <p:grpSpPr>
        <a:xfrm>
          <a:off x="0" y="0"/>
          <a:ext cx="0" cy="0"/>
          <a:chOff x="0" y="0"/>
          <a:chExt cx="0" cy="0"/>
        </a:xfrm>
      </p:grpSpPr>
      <p:sp>
        <p:nvSpPr>
          <p:cNvPr id="65" name="Google Shape;65;p6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6"/>
          <p:cNvSpPr txBox="1">
            <a:spLocks noGrp="1"/>
          </p:cNvSpPr>
          <p:nvPr>
            <p:ph type="body" idx="1"/>
          </p:nvPr>
        </p:nvSpPr>
        <p:spPr>
          <a:xfrm>
            <a:off x="83808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7" name="Google Shape;67;p66"/>
          <p:cNvSpPr txBox="1">
            <a:spLocks noGrp="1"/>
          </p:cNvSpPr>
          <p:nvPr>
            <p:ph type="body" idx="2"/>
          </p:nvPr>
        </p:nvSpPr>
        <p:spPr>
          <a:xfrm>
            <a:off x="345312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8" name="Google Shape;68;p66"/>
          <p:cNvSpPr txBox="1">
            <a:spLocks noGrp="1"/>
          </p:cNvSpPr>
          <p:nvPr>
            <p:ph type="body" idx="3"/>
          </p:nvPr>
        </p:nvSpPr>
        <p:spPr>
          <a:xfrm>
            <a:off x="606816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9" name="Google Shape;69;p66"/>
          <p:cNvSpPr txBox="1">
            <a:spLocks noGrp="1"/>
          </p:cNvSpPr>
          <p:nvPr>
            <p:ph type="body" idx="4"/>
          </p:nvPr>
        </p:nvSpPr>
        <p:spPr>
          <a:xfrm>
            <a:off x="83808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0" name="Google Shape;70;p66"/>
          <p:cNvSpPr txBox="1">
            <a:spLocks noGrp="1"/>
          </p:cNvSpPr>
          <p:nvPr>
            <p:ph type="body" idx="5"/>
          </p:nvPr>
        </p:nvSpPr>
        <p:spPr>
          <a:xfrm>
            <a:off x="345312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1" name="Google Shape;71;p66"/>
          <p:cNvSpPr txBox="1">
            <a:spLocks noGrp="1"/>
          </p:cNvSpPr>
          <p:nvPr>
            <p:ph type="body" idx="6"/>
          </p:nvPr>
        </p:nvSpPr>
        <p:spPr>
          <a:xfrm>
            <a:off x="606816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72" name="Google Shape;72;p66"/>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77"/>
        <p:cNvGrpSpPr/>
        <p:nvPr/>
      </p:nvGrpSpPr>
      <p:grpSpPr>
        <a:xfrm>
          <a:off x="0" y="0"/>
          <a:ext cx="0" cy="0"/>
          <a:chOff x="0" y="0"/>
          <a:chExt cx="0" cy="0"/>
        </a:xfrm>
      </p:grpSpPr>
      <p:sp>
        <p:nvSpPr>
          <p:cNvPr id="78" name="Google Shape;78;p51"/>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79"/>
        <p:cNvGrpSpPr/>
        <p:nvPr/>
      </p:nvGrpSpPr>
      <p:grpSpPr>
        <a:xfrm>
          <a:off x="0" y="0"/>
          <a:ext cx="0" cy="0"/>
          <a:chOff x="0" y="0"/>
          <a:chExt cx="0" cy="0"/>
        </a:xfrm>
      </p:grpSpPr>
      <p:sp>
        <p:nvSpPr>
          <p:cNvPr id="80" name="Google Shape;80;p6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67"/>
          <p:cNvSpPr txBox="1">
            <a:spLocks noGrp="1"/>
          </p:cNvSpPr>
          <p:nvPr>
            <p:ph type="subTitle" idx="1"/>
          </p:nvPr>
        </p:nvSpPr>
        <p:spPr>
          <a:xfrm>
            <a:off x="838080" y="365040"/>
            <a:ext cx="7733880" cy="58114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7"/>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83"/>
        <p:cNvGrpSpPr/>
        <p:nvPr/>
      </p:nvGrpSpPr>
      <p:grpSpPr>
        <a:xfrm>
          <a:off x="0" y="0"/>
          <a:ext cx="0" cy="0"/>
          <a:chOff x="0" y="0"/>
          <a:chExt cx="0" cy="0"/>
        </a:xfrm>
      </p:grpSpPr>
      <p:sp>
        <p:nvSpPr>
          <p:cNvPr id="84" name="Google Shape;84;p6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8"/>
          <p:cNvSpPr txBox="1">
            <a:spLocks noGrp="1"/>
          </p:cNvSpPr>
          <p:nvPr>
            <p:ph type="body" idx="1"/>
          </p:nvPr>
        </p:nvSpPr>
        <p:spPr>
          <a:xfrm>
            <a:off x="838080" y="365040"/>
            <a:ext cx="773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6" name="Google Shape;86;p68"/>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87"/>
        <p:cNvGrpSpPr/>
        <p:nvPr/>
      </p:nvGrpSpPr>
      <p:grpSpPr>
        <a:xfrm>
          <a:off x="0" y="0"/>
          <a:ext cx="0" cy="0"/>
          <a:chOff x="0" y="0"/>
          <a:chExt cx="0" cy="0"/>
        </a:xfrm>
      </p:grpSpPr>
      <p:sp>
        <p:nvSpPr>
          <p:cNvPr id="88" name="Google Shape;88;p6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9"/>
          <p:cNvSpPr txBox="1">
            <a:spLocks noGrp="1"/>
          </p:cNvSpPr>
          <p:nvPr>
            <p:ph type="body" idx="1"/>
          </p:nvPr>
        </p:nvSpPr>
        <p:spPr>
          <a:xfrm>
            <a:off x="83808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0" name="Google Shape;90;p69"/>
          <p:cNvSpPr txBox="1">
            <a:spLocks noGrp="1"/>
          </p:cNvSpPr>
          <p:nvPr>
            <p:ph type="body" idx="2"/>
          </p:nvPr>
        </p:nvSpPr>
        <p:spPr>
          <a:xfrm>
            <a:off x="480096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1" name="Google Shape;91;p69"/>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2"/>
        <p:cNvGrpSpPr/>
        <p:nvPr/>
      </p:nvGrpSpPr>
      <p:grpSpPr>
        <a:xfrm>
          <a:off x="0" y="0"/>
          <a:ext cx="0" cy="0"/>
          <a:chOff x="0" y="0"/>
          <a:chExt cx="0" cy="0"/>
        </a:xfrm>
      </p:grpSpPr>
      <p:sp>
        <p:nvSpPr>
          <p:cNvPr id="93" name="Google Shape;93;p7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70"/>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95"/>
        <p:cNvGrpSpPr/>
        <p:nvPr/>
      </p:nvGrpSpPr>
      <p:grpSpPr>
        <a:xfrm>
          <a:off x="0" y="0"/>
          <a:ext cx="0" cy="0"/>
          <a:chOff x="0" y="0"/>
          <a:chExt cx="0" cy="0"/>
        </a:xfrm>
      </p:grpSpPr>
      <p:sp>
        <p:nvSpPr>
          <p:cNvPr id="96" name="Google Shape;96;p71"/>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1"/>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98"/>
        <p:cNvGrpSpPr/>
        <p:nvPr/>
      </p:nvGrpSpPr>
      <p:grpSpPr>
        <a:xfrm>
          <a:off x="0" y="0"/>
          <a:ext cx="0" cy="0"/>
          <a:chOff x="0" y="0"/>
          <a:chExt cx="0" cy="0"/>
        </a:xfrm>
      </p:grpSpPr>
      <p:sp>
        <p:nvSpPr>
          <p:cNvPr id="99" name="Google Shape;99;p7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72"/>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1" name="Google Shape;101;p72"/>
          <p:cNvSpPr txBox="1">
            <a:spLocks noGrp="1"/>
          </p:cNvSpPr>
          <p:nvPr>
            <p:ph type="body" idx="2"/>
          </p:nvPr>
        </p:nvSpPr>
        <p:spPr>
          <a:xfrm>
            <a:off x="480096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2" name="Google Shape;102;p72"/>
          <p:cNvSpPr txBox="1">
            <a:spLocks noGrp="1"/>
          </p:cNvSpPr>
          <p:nvPr>
            <p:ph type="body" idx="3"/>
          </p:nvPr>
        </p:nvSpPr>
        <p:spPr>
          <a:xfrm>
            <a:off x="83808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3" name="Google Shape;103;p72"/>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04"/>
        <p:cNvGrpSpPr/>
        <p:nvPr/>
      </p:nvGrpSpPr>
      <p:grpSpPr>
        <a:xfrm>
          <a:off x="0" y="0"/>
          <a:ext cx="0" cy="0"/>
          <a:chOff x="0" y="0"/>
          <a:chExt cx="0" cy="0"/>
        </a:xfrm>
      </p:grpSpPr>
      <p:sp>
        <p:nvSpPr>
          <p:cNvPr id="105" name="Google Shape;105;p7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73"/>
          <p:cNvSpPr txBox="1">
            <a:spLocks noGrp="1"/>
          </p:cNvSpPr>
          <p:nvPr>
            <p:ph type="body" idx="1"/>
          </p:nvPr>
        </p:nvSpPr>
        <p:spPr>
          <a:xfrm>
            <a:off x="83808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7" name="Google Shape;107;p73"/>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8" name="Google Shape;108;p73"/>
          <p:cNvSpPr txBox="1">
            <a:spLocks noGrp="1"/>
          </p:cNvSpPr>
          <p:nvPr>
            <p:ph type="body" idx="3"/>
          </p:nvPr>
        </p:nvSpPr>
        <p:spPr>
          <a:xfrm>
            <a:off x="480096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9" name="Google Shape;109;p73"/>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10"/>
        <p:cNvGrpSpPr/>
        <p:nvPr/>
      </p:nvGrpSpPr>
      <p:grpSpPr>
        <a:xfrm>
          <a:off x="0" y="0"/>
          <a:ext cx="0" cy="0"/>
          <a:chOff x="0" y="0"/>
          <a:chExt cx="0" cy="0"/>
        </a:xfrm>
      </p:grpSpPr>
      <p:sp>
        <p:nvSpPr>
          <p:cNvPr id="111" name="Google Shape;111;p7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74"/>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3" name="Google Shape;113;p74"/>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4" name="Google Shape;114;p74"/>
          <p:cNvSpPr txBox="1">
            <a:spLocks noGrp="1"/>
          </p:cNvSpPr>
          <p:nvPr>
            <p:ph type="body" idx="3"/>
          </p:nvPr>
        </p:nvSpPr>
        <p:spPr>
          <a:xfrm>
            <a:off x="838080" y="340092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5" name="Google Shape;115;p74"/>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16"/>
        <p:cNvGrpSpPr/>
        <p:nvPr/>
      </p:nvGrpSpPr>
      <p:grpSpPr>
        <a:xfrm>
          <a:off x="0" y="0"/>
          <a:ext cx="0" cy="0"/>
          <a:chOff x="0" y="0"/>
          <a:chExt cx="0" cy="0"/>
        </a:xfrm>
      </p:grpSpPr>
      <p:sp>
        <p:nvSpPr>
          <p:cNvPr id="117" name="Google Shape;117;p7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75"/>
          <p:cNvSpPr txBox="1">
            <a:spLocks noGrp="1"/>
          </p:cNvSpPr>
          <p:nvPr>
            <p:ph type="body" idx="1"/>
          </p:nvPr>
        </p:nvSpPr>
        <p:spPr>
          <a:xfrm>
            <a:off x="838080" y="36504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9" name="Google Shape;119;p75"/>
          <p:cNvSpPr txBox="1">
            <a:spLocks noGrp="1"/>
          </p:cNvSpPr>
          <p:nvPr>
            <p:ph type="body" idx="2"/>
          </p:nvPr>
        </p:nvSpPr>
        <p:spPr>
          <a:xfrm>
            <a:off x="838080" y="340092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0" name="Google Shape;120;p75"/>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21"/>
        <p:cNvGrpSpPr/>
        <p:nvPr/>
      </p:nvGrpSpPr>
      <p:grpSpPr>
        <a:xfrm>
          <a:off x="0" y="0"/>
          <a:ext cx="0" cy="0"/>
          <a:chOff x="0" y="0"/>
          <a:chExt cx="0" cy="0"/>
        </a:xfrm>
      </p:grpSpPr>
      <p:sp>
        <p:nvSpPr>
          <p:cNvPr id="122" name="Google Shape;122;p7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76"/>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4" name="Google Shape;124;p76"/>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5" name="Google Shape;125;p76"/>
          <p:cNvSpPr txBox="1">
            <a:spLocks noGrp="1"/>
          </p:cNvSpPr>
          <p:nvPr>
            <p:ph type="body" idx="3"/>
          </p:nvPr>
        </p:nvSpPr>
        <p:spPr>
          <a:xfrm>
            <a:off x="83808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6" name="Google Shape;126;p76"/>
          <p:cNvSpPr txBox="1">
            <a:spLocks noGrp="1"/>
          </p:cNvSpPr>
          <p:nvPr>
            <p:ph type="body" idx="4"/>
          </p:nvPr>
        </p:nvSpPr>
        <p:spPr>
          <a:xfrm>
            <a:off x="480096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7" name="Google Shape;127;p76"/>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28"/>
        <p:cNvGrpSpPr/>
        <p:nvPr/>
      </p:nvGrpSpPr>
      <p:grpSpPr>
        <a:xfrm>
          <a:off x="0" y="0"/>
          <a:ext cx="0" cy="0"/>
          <a:chOff x="0" y="0"/>
          <a:chExt cx="0" cy="0"/>
        </a:xfrm>
      </p:grpSpPr>
      <p:sp>
        <p:nvSpPr>
          <p:cNvPr id="129" name="Google Shape;129;p7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77"/>
          <p:cNvSpPr txBox="1">
            <a:spLocks noGrp="1"/>
          </p:cNvSpPr>
          <p:nvPr>
            <p:ph type="body" idx="1"/>
          </p:nvPr>
        </p:nvSpPr>
        <p:spPr>
          <a:xfrm>
            <a:off x="83808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1" name="Google Shape;131;p77"/>
          <p:cNvSpPr txBox="1">
            <a:spLocks noGrp="1"/>
          </p:cNvSpPr>
          <p:nvPr>
            <p:ph type="body" idx="2"/>
          </p:nvPr>
        </p:nvSpPr>
        <p:spPr>
          <a:xfrm>
            <a:off x="345312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2" name="Google Shape;132;p77"/>
          <p:cNvSpPr txBox="1">
            <a:spLocks noGrp="1"/>
          </p:cNvSpPr>
          <p:nvPr>
            <p:ph type="body" idx="3"/>
          </p:nvPr>
        </p:nvSpPr>
        <p:spPr>
          <a:xfrm>
            <a:off x="606816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3" name="Google Shape;133;p77"/>
          <p:cNvSpPr txBox="1">
            <a:spLocks noGrp="1"/>
          </p:cNvSpPr>
          <p:nvPr>
            <p:ph type="body" idx="4"/>
          </p:nvPr>
        </p:nvSpPr>
        <p:spPr>
          <a:xfrm>
            <a:off x="83808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4" name="Google Shape;134;p77"/>
          <p:cNvSpPr txBox="1">
            <a:spLocks noGrp="1"/>
          </p:cNvSpPr>
          <p:nvPr>
            <p:ph type="body" idx="5"/>
          </p:nvPr>
        </p:nvSpPr>
        <p:spPr>
          <a:xfrm>
            <a:off x="345312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5" name="Google Shape;135;p77"/>
          <p:cNvSpPr txBox="1">
            <a:spLocks noGrp="1"/>
          </p:cNvSpPr>
          <p:nvPr>
            <p:ph type="body" idx="6"/>
          </p:nvPr>
        </p:nvSpPr>
        <p:spPr>
          <a:xfrm>
            <a:off x="606816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36" name="Google Shape;136;p77"/>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3"/>
        <p:cNvGrpSpPr/>
        <p:nvPr/>
      </p:nvGrpSpPr>
      <p:grpSpPr>
        <a:xfrm>
          <a:off x="0" y="0"/>
          <a:ext cx="0" cy="0"/>
          <a:chOff x="0" y="0"/>
          <a:chExt cx="0" cy="0"/>
        </a:xfrm>
      </p:grpSpPr>
      <p:sp>
        <p:nvSpPr>
          <p:cNvPr id="144" name="Google Shape;144;p53"/>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53"/>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46" name="Google Shape;146;p53"/>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47"/>
        <p:cNvGrpSpPr/>
        <p:nvPr/>
      </p:nvGrpSpPr>
      <p:grpSpPr>
        <a:xfrm>
          <a:off x="0" y="0"/>
          <a:ext cx="0" cy="0"/>
          <a:chOff x="0" y="0"/>
          <a:chExt cx="0" cy="0"/>
        </a:xfrm>
      </p:grpSpPr>
      <p:sp>
        <p:nvSpPr>
          <p:cNvPr id="148" name="Google Shape;148;p7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78"/>
          <p:cNvSpPr txBox="1">
            <a:spLocks noGrp="1"/>
          </p:cNvSpPr>
          <p:nvPr>
            <p:ph type="subTitle" idx="1"/>
          </p:nvPr>
        </p:nvSpPr>
        <p:spPr>
          <a:xfrm>
            <a:off x="838080" y="365040"/>
            <a:ext cx="7733880" cy="58114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78"/>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78"/>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52" name="Google Shape;152;p78"/>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53"/>
        <p:cNvGrpSpPr/>
        <p:nvPr/>
      </p:nvGrpSpPr>
      <p:grpSpPr>
        <a:xfrm>
          <a:off x="0" y="0"/>
          <a:ext cx="0" cy="0"/>
          <a:chOff x="0" y="0"/>
          <a:chExt cx="0" cy="0"/>
        </a:xfrm>
      </p:grpSpPr>
      <p:sp>
        <p:nvSpPr>
          <p:cNvPr id="154" name="Google Shape;154;p7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79"/>
          <p:cNvSpPr txBox="1">
            <a:spLocks noGrp="1"/>
          </p:cNvSpPr>
          <p:nvPr>
            <p:ph type="body" idx="1"/>
          </p:nvPr>
        </p:nvSpPr>
        <p:spPr>
          <a:xfrm>
            <a:off x="838080" y="365040"/>
            <a:ext cx="773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56" name="Google Shape;156;p79"/>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79"/>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58" name="Google Shape;158;p79"/>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59"/>
        <p:cNvGrpSpPr/>
        <p:nvPr/>
      </p:nvGrpSpPr>
      <p:grpSpPr>
        <a:xfrm>
          <a:off x="0" y="0"/>
          <a:ext cx="0" cy="0"/>
          <a:chOff x="0" y="0"/>
          <a:chExt cx="0" cy="0"/>
        </a:xfrm>
      </p:grpSpPr>
      <p:sp>
        <p:nvSpPr>
          <p:cNvPr id="160" name="Google Shape;160;p8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80"/>
          <p:cNvSpPr txBox="1">
            <a:spLocks noGrp="1"/>
          </p:cNvSpPr>
          <p:nvPr>
            <p:ph type="body" idx="1"/>
          </p:nvPr>
        </p:nvSpPr>
        <p:spPr>
          <a:xfrm>
            <a:off x="83808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2" name="Google Shape;162;p80"/>
          <p:cNvSpPr txBox="1">
            <a:spLocks noGrp="1"/>
          </p:cNvSpPr>
          <p:nvPr>
            <p:ph type="body" idx="2"/>
          </p:nvPr>
        </p:nvSpPr>
        <p:spPr>
          <a:xfrm>
            <a:off x="480096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63" name="Google Shape;163;p80"/>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80"/>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65" name="Google Shape;165;p80"/>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6"/>
        <p:cNvGrpSpPr/>
        <p:nvPr/>
      </p:nvGrpSpPr>
      <p:grpSpPr>
        <a:xfrm>
          <a:off x="0" y="0"/>
          <a:ext cx="0" cy="0"/>
          <a:chOff x="0" y="0"/>
          <a:chExt cx="0" cy="0"/>
        </a:xfrm>
      </p:grpSpPr>
      <p:sp>
        <p:nvSpPr>
          <p:cNvPr id="167" name="Google Shape;167;p8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81"/>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81"/>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70" name="Google Shape;170;p81"/>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71"/>
        <p:cNvGrpSpPr/>
        <p:nvPr/>
      </p:nvGrpSpPr>
      <p:grpSpPr>
        <a:xfrm>
          <a:off x="0" y="0"/>
          <a:ext cx="0" cy="0"/>
          <a:chOff x="0" y="0"/>
          <a:chExt cx="0" cy="0"/>
        </a:xfrm>
      </p:grpSpPr>
      <p:sp>
        <p:nvSpPr>
          <p:cNvPr id="172" name="Google Shape;172;p82"/>
          <p:cNvSpPr txBox="1">
            <a:spLocks noGrp="1"/>
          </p:cNvSpPr>
          <p:nvPr>
            <p:ph type="subTitle" idx="1"/>
          </p:nvPr>
        </p:nvSpPr>
        <p:spPr>
          <a:xfrm>
            <a:off x="609480" y="273600"/>
            <a:ext cx="10972440" cy="53078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82"/>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82"/>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75" name="Google Shape;175;p82"/>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76"/>
        <p:cNvGrpSpPr/>
        <p:nvPr/>
      </p:nvGrpSpPr>
      <p:grpSpPr>
        <a:xfrm>
          <a:off x="0" y="0"/>
          <a:ext cx="0" cy="0"/>
          <a:chOff x="0" y="0"/>
          <a:chExt cx="0" cy="0"/>
        </a:xfrm>
      </p:grpSpPr>
      <p:sp>
        <p:nvSpPr>
          <p:cNvPr id="177" name="Google Shape;177;p83"/>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83"/>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9" name="Google Shape;179;p83"/>
          <p:cNvSpPr txBox="1">
            <a:spLocks noGrp="1"/>
          </p:cNvSpPr>
          <p:nvPr>
            <p:ph type="body" idx="2"/>
          </p:nvPr>
        </p:nvSpPr>
        <p:spPr>
          <a:xfrm>
            <a:off x="480096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0" name="Google Shape;180;p83"/>
          <p:cNvSpPr txBox="1">
            <a:spLocks noGrp="1"/>
          </p:cNvSpPr>
          <p:nvPr>
            <p:ph type="body" idx="3"/>
          </p:nvPr>
        </p:nvSpPr>
        <p:spPr>
          <a:xfrm>
            <a:off x="83808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1" name="Google Shape;181;p83"/>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p83"/>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83" name="Google Shape;183;p83"/>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84"/>
        <p:cNvGrpSpPr/>
        <p:nvPr/>
      </p:nvGrpSpPr>
      <p:grpSpPr>
        <a:xfrm>
          <a:off x="0" y="0"/>
          <a:ext cx="0" cy="0"/>
          <a:chOff x="0" y="0"/>
          <a:chExt cx="0" cy="0"/>
        </a:xfrm>
      </p:grpSpPr>
      <p:sp>
        <p:nvSpPr>
          <p:cNvPr id="185" name="Google Shape;185;p8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84"/>
          <p:cNvSpPr txBox="1">
            <a:spLocks noGrp="1"/>
          </p:cNvSpPr>
          <p:nvPr>
            <p:ph type="body" idx="1"/>
          </p:nvPr>
        </p:nvSpPr>
        <p:spPr>
          <a:xfrm>
            <a:off x="838080" y="365040"/>
            <a:ext cx="3773880" cy="58114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7" name="Google Shape;187;p84"/>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8" name="Google Shape;188;p84"/>
          <p:cNvSpPr txBox="1">
            <a:spLocks noGrp="1"/>
          </p:cNvSpPr>
          <p:nvPr>
            <p:ph type="body" idx="3"/>
          </p:nvPr>
        </p:nvSpPr>
        <p:spPr>
          <a:xfrm>
            <a:off x="480096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9" name="Google Shape;189;p84"/>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84"/>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91" name="Google Shape;191;p84"/>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92"/>
        <p:cNvGrpSpPr/>
        <p:nvPr/>
      </p:nvGrpSpPr>
      <p:grpSpPr>
        <a:xfrm>
          <a:off x="0" y="0"/>
          <a:ext cx="0" cy="0"/>
          <a:chOff x="0" y="0"/>
          <a:chExt cx="0" cy="0"/>
        </a:xfrm>
      </p:grpSpPr>
      <p:sp>
        <p:nvSpPr>
          <p:cNvPr id="193" name="Google Shape;193;p8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85"/>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5" name="Google Shape;195;p85"/>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6" name="Google Shape;196;p85"/>
          <p:cNvSpPr txBox="1">
            <a:spLocks noGrp="1"/>
          </p:cNvSpPr>
          <p:nvPr>
            <p:ph type="body" idx="3"/>
          </p:nvPr>
        </p:nvSpPr>
        <p:spPr>
          <a:xfrm>
            <a:off x="838080" y="340092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7" name="Google Shape;197;p85"/>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85"/>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199" name="Google Shape;199;p85"/>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00"/>
        <p:cNvGrpSpPr/>
        <p:nvPr/>
      </p:nvGrpSpPr>
      <p:grpSpPr>
        <a:xfrm>
          <a:off x="0" y="0"/>
          <a:ext cx="0" cy="0"/>
          <a:chOff x="0" y="0"/>
          <a:chExt cx="0" cy="0"/>
        </a:xfrm>
      </p:grpSpPr>
      <p:sp>
        <p:nvSpPr>
          <p:cNvPr id="201" name="Google Shape;201;p8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86"/>
          <p:cNvSpPr txBox="1">
            <a:spLocks noGrp="1"/>
          </p:cNvSpPr>
          <p:nvPr>
            <p:ph type="body" idx="1"/>
          </p:nvPr>
        </p:nvSpPr>
        <p:spPr>
          <a:xfrm>
            <a:off x="838080" y="36504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3" name="Google Shape;203;p86"/>
          <p:cNvSpPr txBox="1">
            <a:spLocks noGrp="1"/>
          </p:cNvSpPr>
          <p:nvPr>
            <p:ph type="body" idx="2"/>
          </p:nvPr>
        </p:nvSpPr>
        <p:spPr>
          <a:xfrm>
            <a:off x="838080" y="3400920"/>
            <a:ext cx="773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4" name="Google Shape;204;p86"/>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86"/>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206" name="Google Shape;206;p86"/>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07"/>
        <p:cNvGrpSpPr/>
        <p:nvPr/>
      </p:nvGrpSpPr>
      <p:grpSpPr>
        <a:xfrm>
          <a:off x="0" y="0"/>
          <a:ext cx="0" cy="0"/>
          <a:chOff x="0" y="0"/>
          <a:chExt cx="0" cy="0"/>
        </a:xfrm>
      </p:grpSpPr>
      <p:sp>
        <p:nvSpPr>
          <p:cNvPr id="208" name="Google Shape;208;p8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87"/>
          <p:cNvSpPr txBox="1">
            <a:spLocks noGrp="1"/>
          </p:cNvSpPr>
          <p:nvPr>
            <p:ph type="body" idx="1"/>
          </p:nvPr>
        </p:nvSpPr>
        <p:spPr>
          <a:xfrm>
            <a:off x="83808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0" name="Google Shape;210;p87"/>
          <p:cNvSpPr txBox="1">
            <a:spLocks noGrp="1"/>
          </p:cNvSpPr>
          <p:nvPr>
            <p:ph type="body" idx="2"/>
          </p:nvPr>
        </p:nvSpPr>
        <p:spPr>
          <a:xfrm>
            <a:off x="4800960" y="36504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1" name="Google Shape;211;p87"/>
          <p:cNvSpPr txBox="1">
            <a:spLocks noGrp="1"/>
          </p:cNvSpPr>
          <p:nvPr>
            <p:ph type="body" idx="3"/>
          </p:nvPr>
        </p:nvSpPr>
        <p:spPr>
          <a:xfrm>
            <a:off x="83808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2" name="Google Shape;212;p87"/>
          <p:cNvSpPr txBox="1">
            <a:spLocks noGrp="1"/>
          </p:cNvSpPr>
          <p:nvPr>
            <p:ph type="body" idx="4"/>
          </p:nvPr>
        </p:nvSpPr>
        <p:spPr>
          <a:xfrm>
            <a:off x="4800960" y="3400920"/>
            <a:ext cx="377388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3" name="Google Shape;213;p87"/>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4" name="Google Shape;214;p87"/>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215" name="Google Shape;215;p87"/>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16"/>
        <p:cNvGrpSpPr/>
        <p:nvPr/>
      </p:nvGrpSpPr>
      <p:grpSpPr>
        <a:xfrm>
          <a:off x="0" y="0"/>
          <a:ext cx="0" cy="0"/>
          <a:chOff x="0" y="0"/>
          <a:chExt cx="0" cy="0"/>
        </a:xfrm>
      </p:grpSpPr>
      <p:sp>
        <p:nvSpPr>
          <p:cNvPr id="217" name="Google Shape;217;p8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88"/>
          <p:cNvSpPr txBox="1">
            <a:spLocks noGrp="1"/>
          </p:cNvSpPr>
          <p:nvPr>
            <p:ph type="body" idx="1"/>
          </p:nvPr>
        </p:nvSpPr>
        <p:spPr>
          <a:xfrm>
            <a:off x="83808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9" name="Google Shape;219;p88"/>
          <p:cNvSpPr txBox="1">
            <a:spLocks noGrp="1"/>
          </p:cNvSpPr>
          <p:nvPr>
            <p:ph type="body" idx="2"/>
          </p:nvPr>
        </p:nvSpPr>
        <p:spPr>
          <a:xfrm>
            <a:off x="345312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0" name="Google Shape;220;p88"/>
          <p:cNvSpPr txBox="1">
            <a:spLocks noGrp="1"/>
          </p:cNvSpPr>
          <p:nvPr>
            <p:ph type="body" idx="3"/>
          </p:nvPr>
        </p:nvSpPr>
        <p:spPr>
          <a:xfrm>
            <a:off x="6068160" y="36504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1" name="Google Shape;221;p88"/>
          <p:cNvSpPr txBox="1">
            <a:spLocks noGrp="1"/>
          </p:cNvSpPr>
          <p:nvPr>
            <p:ph type="body" idx="4"/>
          </p:nvPr>
        </p:nvSpPr>
        <p:spPr>
          <a:xfrm>
            <a:off x="83808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2" name="Google Shape;222;p88"/>
          <p:cNvSpPr txBox="1">
            <a:spLocks noGrp="1"/>
          </p:cNvSpPr>
          <p:nvPr>
            <p:ph type="body" idx="5"/>
          </p:nvPr>
        </p:nvSpPr>
        <p:spPr>
          <a:xfrm>
            <a:off x="345312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3" name="Google Shape;223;p88"/>
          <p:cNvSpPr txBox="1">
            <a:spLocks noGrp="1"/>
          </p:cNvSpPr>
          <p:nvPr>
            <p:ph type="body" idx="6"/>
          </p:nvPr>
        </p:nvSpPr>
        <p:spPr>
          <a:xfrm>
            <a:off x="6068160" y="3400920"/>
            <a:ext cx="2490120" cy="2772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4" name="Google Shape;224;p88"/>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88"/>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1pPr>
            <a:lvl2pPr marL="0" lvl="1"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2pPr>
            <a:lvl3pPr marL="0" lvl="2"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3pPr>
            <a:lvl4pPr marL="0" lvl="3"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4pPr>
            <a:lvl5pPr marL="0" lvl="4"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5pPr>
            <a:lvl6pPr marL="0" lvl="5"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6pPr>
            <a:lvl7pPr marL="0" lvl="6"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7pPr>
            <a:lvl8pPr marL="0" lvl="7"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8pPr>
            <a:lvl9pPr marL="0" lvl="8" indent="0" algn="r">
              <a:lnSpc>
                <a:spcPct val="100000"/>
              </a:lnSpc>
              <a:spcBef>
                <a:spcPts val="0"/>
              </a:spcBef>
              <a:buClr>
                <a:srgbClr val="1C7DDB"/>
              </a:buClr>
              <a:buSzPts val="1600"/>
              <a:buFont typeface="Arial"/>
              <a:buNone/>
              <a:defRPr sz="1600" b="0" strike="noStrik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
        <p:nvSpPr>
          <p:cNvPr id="226" name="Google Shape;226;p88"/>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31"/>
        <p:cNvGrpSpPr/>
        <p:nvPr/>
      </p:nvGrpSpPr>
      <p:grpSpPr>
        <a:xfrm>
          <a:off x="0" y="0"/>
          <a:ext cx="0" cy="0"/>
          <a:chOff x="0" y="0"/>
          <a:chExt cx="0" cy="0"/>
        </a:xfrm>
      </p:grpSpPr>
      <p:sp>
        <p:nvSpPr>
          <p:cNvPr id="232" name="Google Shape;232;p55"/>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233"/>
        <p:cNvGrpSpPr/>
        <p:nvPr/>
      </p:nvGrpSpPr>
      <p:grpSpPr>
        <a:xfrm>
          <a:off x="0" y="0"/>
          <a:ext cx="0" cy="0"/>
          <a:chOff x="0" y="0"/>
          <a:chExt cx="0" cy="0"/>
        </a:xfrm>
      </p:grpSpPr>
      <p:sp>
        <p:nvSpPr>
          <p:cNvPr id="234" name="Google Shape;234;p8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89"/>
          <p:cNvSpPr txBox="1">
            <a:spLocks noGrp="1"/>
          </p:cNvSpPr>
          <p:nvPr>
            <p:ph type="subTitle" idx="1"/>
          </p:nvPr>
        </p:nvSpPr>
        <p:spPr>
          <a:xfrm rot="5400000">
            <a:off x="1799280" y="-596160"/>
            <a:ext cx="5811480" cy="773388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89"/>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37"/>
        <p:cNvGrpSpPr/>
        <p:nvPr/>
      </p:nvGrpSpPr>
      <p:grpSpPr>
        <a:xfrm>
          <a:off x="0" y="0"/>
          <a:ext cx="0" cy="0"/>
          <a:chOff x="0" y="0"/>
          <a:chExt cx="0" cy="0"/>
        </a:xfrm>
      </p:grpSpPr>
      <p:sp>
        <p:nvSpPr>
          <p:cNvPr id="238" name="Google Shape;238;p9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90"/>
          <p:cNvSpPr txBox="1">
            <a:spLocks noGrp="1"/>
          </p:cNvSpPr>
          <p:nvPr>
            <p:ph type="body" idx="1"/>
          </p:nvPr>
        </p:nvSpPr>
        <p:spPr>
          <a:xfrm rot="5400000">
            <a:off x="1799280" y="-596160"/>
            <a:ext cx="5811480" cy="773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0" name="Google Shape;240;p90"/>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41"/>
        <p:cNvGrpSpPr/>
        <p:nvPr/>
      </p:nvGrpSpPr>
      <p:grpSpPr>
        <a:xfrm>
          <a:off x="0" y="0"/>
          <a:ext cx="0" cy="0"/>
          <a:chOff x="0" y="0"/>
          <a:chExt cx="0" cy="0"/>
        </a:xfrm>
      </p:grpSpPr>
      <p:sp>
        <p:nvSpPr>
          <p:cNvPr id="242" name="Google Shape;242;p9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3" name="Google Shape;243;p91"/>
          <p:cNvSpPr txBox="1">
            <a:spLocks noGrp="1"/>
          </p:cNvSpPr>
          <p:nvPr>
            <p:ph type="body" idx="1"/>
          </p:nvPr>
        </p:nvSpPr>
        <p:spPr>
          <a:xfrm rot="5400000">
            <a:off x="-180720" y="1383840"/>
            <a:ext cx="581148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4" name="Google Shape;244;p91"/>
          <p:cNvSpPr txBox="1">
            <a:spLocks noGrp="1"/>
          </p:cNvSpPr>
          <p:nvPr>
            <p:ph type="body" idx="2"/>
          </p:nvPr>
        </p:nvSpPr>
        <p:spPr>
          <a:xfrm rot="5400000">
            <a:off x="3782160" y="1383840"/>
            <a:ext cx="581148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5" name="Google Shape;245;p91"/>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6"/>
        <p:cNvGrpSpPr/>
        <p:nvPr/>
      </p:nvGrpSpPr>
      <p:grpSpPr>
        <a:xfrm>
          <a:off x="0" y="0"/>
          <a:ext cx="0" cy="0"/>
          <a:chOff x="0" y="0"/>
          <a:chExt cx="0" cy="0"/>
        </a:xfrm>
      </p:grpSpPr>
      <p:sp>
        <p:nvSpPr>
          <p:cNvPr id="247" name="Google Shape;247;p92"/>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92"/>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49"/>
        <p:cNvGrpSpPr/>
        <p:nvPr/>
      </p:nvGrpSpPr>
      <p:grpSpPr>
        <a:xfrm>
          <a:off x="0" y="0"/>
          <a:ext cx="0" cy="0"/>
          <a:chOff x="0" y="0"/>
          <a:chExt cx="0" cy="0"/>
        </a:xfrm>
      </p:grpSpPr>
      <p:sp>
        <p:nvSpPr>
          <p:cNvPr id="250" name="Google Shape;250;p93"/>
          <p:cNvSpPr txBox="1">
            <a:spLocks noGrp="1"/>
          </p:cNvSpPr>
          <p:nvPr>
            <p:ph type="subTitle" idx="1"/>
          </p:nvPr>
        </p:nvSpPr>
        <p:spPr>
          <a:xfrm rot="5400000">
            <a:off x="3441780" y="-2558700"/>
            <a:ext cx="5307840" cy="109724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93"/>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252"/>
        <p:cNvGrpSpPr/>
        <p:nvPr/>
      </p:nvGrpSpPr>
      <p:grpSpPr>
        <a:xfrm>
          <a:off x="0" y="0"/>
          <a:ext cx="0" cy="0"/>
          <a:chOff x="0" y="0"/>
          <a:chExt cx="0" cy="0"/>
        </a:xfrm>
      </p:grpSpPr>
      <p:sp>
        <p:nvSpPr>
          <p:cNvPr id="253" name="Google Shape;253;p9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94"/>
          <p:cNvSpPr txBox="1">
            <a:spLocks noGrp="1"/>
          </p:cNvSpPr>
          <p:nvPr>
            <p:ph type="body" idx="1"/>
          </p:nvPr>
        </p:nvSpPr>
        <p:spPr>
          <a:xfrm rot="5400000">
            <a:off x="1339020" y="-13590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5" name="Google Shape;255;p94"/>
          <p:cNvSpPr txBox="1">
            <a:spLocks noGrp="1"/>
          </p:cNvSpPr>
          <p:nvPr>
            <p:ph type="body" idx="2"/>
          </p:nvPr>
        </p:nvSpPr>
        <p:spPr>
          <a:xfrm rot="5400000">
            <a:off x="3782160" y="1383840"/>
            <a:ext cx="581148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6" name="Google Shape;256;p94"/>
          <p:cNvSpPr txBox="1">
            <a:spLocks noGrp="1"/>
          </p:cNvSpPr>
          <p:nvPr>
            <p:ph type="body" idx="3"/>
          </p:nvPr>
        </p:nvSpPr>
        <p:spPr>
          <a:xfrm rot="5400000">
            <a:off x="1339020" y="289998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7" name="Google Shape;257;p94"/>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258"/>
        <p:cNvGrpSpPr/>
        <p:nvPr/>
      </p:nvGrpSpPr>
      <p:grpSpPr>
        <a:xfrm>
          <a:off x="0" y="0"/>
          <a:ext cx="0" cy="0"/>
          <a:chOff x="0" y="0"/>
          <a:chExt cx="0" cy="0"/>
        </a:xfrm>
      </p:grpSpPr>
      <p:sp>
        <p:nvSpPr>
          <p:cNvPr id="259" name="Google Shape;259;p95"/>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95"/>
          <p:cNvSpPr txBox="1">
            <a:spLocks noGrp="1"/>
          </p:cNvSpPr>
          <p:nvPr>
            <p:ph type="body" idx="1"/>
          </p:nvPr>
        </p:nvSpPr>
        <p:spPr>
          <a:xfrm rot="5400000">
            <a:off x="-180720" y="1383840"/>
            <a:ext cx="581148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1" name="Google Shape;261;p95"/>
          <p:cNvSpPr txBox="1">
            <a:spLocks noGrp="1"/>
          </p:cNvSpPr>
          <p:nvPr>
            <p:ph type="body" idx="2"/>
          </p:nvPr>
        </p:nvSpPr>
        <p:spPr>
          <a:xfrm rot="5400000">
            <a:off x="5301900" y="-13590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2" name="Google Shape;262;p95"/>
          <p:cNvSpPr txBox="1">
            <a:spLocks noGrp="1"/>
          </p:cNvSpPr>
          <p:nvPr>
            <p:ph type="body" idx="3"/>
          </p:nvPr>
        </p:nvSpPr>
        <p:spPr>
          <a:xfrm rot="5400000">
            <a:off x="5301900" y="289998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3" name="Google Shape;263;p95"/>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264"/>
        <p:cNvGrpSpPr/>
        <p:nvPr/>
      </p:nvGrpSpPr>
      <p:grpSpPr>
        <a:xfrm>
          <a:off x="0" y="0"/>
          <a:ext cx="0" cy="0"/>
          <a:chOff x="0" y="0"/>
          <a:chExt cx="0" cy="0"/>
        </a:xfrm>
      </p:grpSpPr>
      <p:sp>
        <p:nvSpPr>
          <p:cNvPr id="265" name="Google Shape;265;p96"/>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6" name="Google Shape;266;p96"/>
          <p:cNvSpPr txBox="1">
            <a:spLocks noGrp="1"/>
          </p:cNvSpPr>
          <p:nvPr>
            <p:ph type="body" idx="1"/>
          </p:nvPr>
        </p:nvSpPr>
        <p:spPr>
          <a:xfrm rot="5400000">
            <a:off x="1339020" y="-13590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7" name="Google Shape;267;p96"/>
          <p:cNvSpPr txBox="1">
            <a:spLocks noGrp="1"/>
          </p:cNvSpPr>
          <p:nvPr>
            <p:ph type="body" idx="2"/>
          </p:nvPr>
        </p:nvSpPr>
        <p:spPr>
          <a:xfrm rot="5400000">
            <a:off x="5301900" y="-13590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8" name="Google Shape;268;p96"/>
          <p:cNvSpPr txBox="1">
            <a:spLocks noGrp="1"/>
          </p:cNvSpPr>
          <p:nvPr>
            <p:ph type="body" idx="3"/>
          </p:nvPr>
        </p:nvSpPr>
        <p:spPr>
          <a:xfrm rot="5400000">
            <a:off x="3319020" y="919980"/>
            <a:ext cx="2772000" cy="773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9" name="Google Shape;269;p96"/>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270"/>
        <p:cNvGrpSpPr/>
        <p:nvPr/>
      </p:nvGrpSpPr>
      <p:grpSpPr>
        <a:xfrm>
          <a:off x="0" y="0"/>
          <a:ext cx="0" cy="0"/>
          <a:chOff x="0" y="0"/>
          <a:chExt cx="0" cy="0"/>
        </a:xfrm>
      </p:grpSpPr>
      <p:sp>
        <p:nvSpPr>
          <p:cNvPr id="271" name="Google Shape;271;p97"/>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2" name="Google Shape;272;p97"/>
          <p:cNvSpPr txBox="1">
            <a:spLocks noGrp="1"/>
          </p:cNvSpPr>
          <p:nvPr>
            <p:ph type="body" idx="1"/>
          </p:nvPr>
        </p:nvSpPr>
        <p:spPr>
          <a:xfrm rot="5400000">
            <a:off x="3319020" y="-2115900"/>
            <a:ext cx="2772000" cy="773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3" name="Google Shape;273;p97"/>
          <p:cNvSpPr txBox="1">
            <a:spLocks noGrp="1"/>
          </p:cNvSpPr>
          <p:nvPr>
            <p:ph type="body" idx="2"/>
          </p:nvPr>
        </p:nvSpPr>
        <p:spPr>
          <a:xfrm rot="5400000">
            <a:off x="3319020" y="919980"/>
            <a:ext cx="2772000" cy="773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4" name="Google Shape;274;p97"/>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275"/>
        <p:cNvGrpSpPr/>
        <p:nvPr/>
      </p:nvGrpSpPr>
      <p:grpSpPr>
        <a:xfrm>
          <a:off x="0" y="0"/>
          <a:ext cx="0" cy="0"/>
          <a:chOff x="0" y="0"/>
          <a:chExt cx="0" cy="0"/>
        </a:xfrm>
      </p:grpSpPr>
      <p:sp>
        <p:nvSpPr>
          <p:cNvPr id="276" name="Google Shape;276;p98"/>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7" name="Google Shape;277;p98"/>
          <p:cNvSpPr txBox="1">
            <a:spLocks noGrp="1"/>
          </p:cNvSpPr>
          <p:nvPr>
            <p:ph type="body" idx="1"/>
          </p:nvPr>
        </p:nvSpPr>
        <p:spPr>
          <a:xfrm rot="5400000">
            <a:off x="1339020" y="-13590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8" name="Google Shape;278;p98"/>
          <p:cNvSpPr txBox="1">
            <a:spLocks noGrp="1"/>
          </p:cNvSpPr>
          <p:nvPr>
            <p:ph type="body" idx="2"/>
          </p:nvPr>
        </p:nvSpPr>
        <p:spPr>
          <a:xfrm rot="5400000">
            <a:off x="5301900" y="-13590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79" name="Google Shape;279;p98"/>
          <p:cNvSpPr txBox="1">
            <a:spLocks noGrp="1"/>
          </p:cNvSpPr>
          <p:nvPr>
            <p:ph type="body" idx="3"/>
          </p:nvPr>
        </p:nvSpPr>
        <p:spPr>
          <a:xfrm rot="5400000">
            <a:off x="1339020" y="289998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0" name="Google Shape;280;p98"/>
          <p:cNvSpPr txBox="1">
            <a:spLocks noGrp="1"/>
          </p:cNvSpPr>
          <p:nvPr>
            <p:ph type="body" idx="4"/>
          </p:nvPr>
        </p:nvSpPr>
        <p:spPr>
          <a:xfrm rot="5400000">
            <a:off x="5301900" y="2899980"/>
            <a:ext cx="2772000" cy="37738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1" name="Google Shape;281;p98"/>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282"/>
        <p:cNvGrpSpPr/>
        <p:nvPr/>
      </p:nvGrpSpPr>
      <p:grpSpPr>
        <a:xfrm>
          <a:off x="0" y="0"/>
          <a:ext cx="0" cy="0"/>
          <a:chOff x="0" y="0"/>
          <a:chExt cx="0" cy="0"/>
        </a:xfrm>
      </p:grpSpPr>
      <p:sp>
        <p:nvSpPr>
          <p:cNvPr id="283" name="Google Shape;283;p99"/>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99"/>
          <p:cNvSpPr txBox="1">
            <a:spLocks noGrp="1"/>
          </p:cNvSpPr>
          <p:nvPr>
            <p:ph type="body" idx="1"/>
          </p:nvPr>
        </p:nvSpPr>
        <p:spPr>
          <a:xfrm rot="5400000">
            <a:off x="697140" y="505980"/>
            <a:ext cx="2772000" cy="2490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5" name="Google Shape;285;p99"/>
          <p:cNvSpPr txBox="1">
            <a:spLocks noGrp="1"/>
          </p:cNvSpPr>
          <p:nvPr>
            <p:ph type="body" idx="2"/>
          </p:nvPr>
        </p:nvSpPr>
        <p:spPr>
          <a:xfrm rot="5400000">
            <a:off x="3312180" y="505980"/>
            <a:ext cx="2772000" cy="2490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6" name="Google Shape;286;p99"/>
          <p:cNvSpPr txBox="1">
            <a:spLocks noGrp="1"/>
          </p:cNvSpPr>
          <p:nvPr>
            <p:ph type="body" idx="3"/>
          </p:nvPr>
        </p:nvSpPr>
        <p:spPr>
          <a:xfrm rot="5400000">
            <a:off x="5927220" y="505980"/>
            <a:ext cx="2772000" cy="2490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7" name="Google Shape;287;p99"/>
          <p:cNvSpPr txBox="1">
            <a:spLocks noGrp="1"/>
          </p:cNvSpPr>
          <p:nvPr>
            <p:ph type="body" idx="4"/>
          </p:nvPr>
        </p:nvSpPr>
        <p:spPr>
          <a:xfrm rot="5400000">
            <a:off x="697140" y="3541860"/>
            <a:ext cx="2772000" cy="2490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8" name="Google Shape;288;p99"/>
          <p:cNvSpPr txBox="1">
            <a:spLocks noGrp="1"/>
          </p:cNvSpPr>
          <p:nvPr>
            <p:ph type="body" idx="5"/>
          </p:nvPr>
        </p:nvSpPr>
        <p:spPr>
          <a:xfrm rot="5400000">
            <a:off x="3312180" y="3541860"/>
            <a:ext cx="2772000" cy="2490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9" name="Google Shape;289;p99"/>
          <p:cNvSpPr txBox="1">
            <a:spLocks noGrp="1"/>
          </p:cNvSpPr>
          <p:nvPr>
            <p:ph type="body" idx="6"/>
          </p:nvPr>
        </p:nvSpPr>
        <p:spPr>
          <a:xfrm rot="5400000">
            <a:off x="5927220" y="3541860"/>
            <a:ext cx="2772000" cy="249012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90" name="Google Shape;290;p99"/>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lvl="0" algn="ctr">
              <a:spcBef>
                <a:spcPts val="0"/>
              </a:spcBef>
              <a:spcAft>
                <a:spcPts val="0"/>
              </a:spcAft>
              <a:buClr>
                <a:srgbClr val="000000"/>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48"/>
          <p:cNvSpPr txBox="1">
            <a:spLocks noGrp="1"/>
          </p:cNvSpPr>
          <p:nvPr>
            <p:ph type="title"/>
          </p:nvPr>
        </p:nvSpPr>
        <p:spPr>
          <a:xfrm>
            <a:off x="1523880" y="1122480"/>
            <a:ext cx="9143640" cy="2387160"/>
          </a:xfrm>
          <a:prstGeom prst="rect">
            <a:avLst/>
          </a:prstGeom>
          <a:noFill/>
          <a:ln>
            <a:noFill/>
          </a:ln>
        </p:spPr>
        <p:txBody>
          <a:bodyPr spcFirstLastPara="1" wrap="square" lIns="90000" tIns="45000" rIns="90000" bIns="45000" anchor="b" anchorCtr="0">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1" name="Google Shape;11;p48"/>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2" name="Google Shape;12;p48"/>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3"/>
        <p:cNvGrpSpPr/>
        <p:nvPr/>
      </p:nvGrpSpPr>
      <p:grpSpPr>
        <a:xfrm>
          <a:off x="0" y="0"/>
          <a:ext cx="0" cy="0"/>
          <a:chOff x="0" y="0"/>
          <a:chExt cx="0" cy="0"/>
        </a:xfrm>
      </p:grpSpPr>
      <p:sp>
        <p:nvSpPr>
          <p:cNvPr id="74" name="Google Shape;74;p50"/>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1pPr>
            <a:lvl2pPr marL="0" marR="0" lvl="1"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2pPr>
            <a:lvl3pPr marL="0" marR="0" lvl="2"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3pPr>
            <a:lvl4pPr marL="0" marR="0" lvl="3"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4pPr>
            <a:lvl5pPr marL="0" marR="0" lvl="4"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5pPr>
            <a:lvl6pPr marL="0" marR="0" lvl="5"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6pPr>
            <a:lvl7pPr marL="0" marR="0" lvl="6"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7pPr>
            <a:lvl8pPr marL="0" marR="0" lvl="7"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8pPr>
            <a:lvl9pPr marL="0" marR="0" lvl="8"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solidFill>
                <a:srgbClr val="000000"/>
              </a:solidFill>
              <a:latin typeface="Times New Roman"/>
              <a:ea typeface="Times New Roman"/>
              <a:cs typeface="Times New Roman"/>
              <a:sym typeface="Times New Roman"/>
            </a:endParaRPr>
          </a:p>
        </p:txBody>
      </p:sp>
      <p:sp>
        <p:nvSpPr>
          <p:cNvPr id="75" name="Google Shape;75;p50"/>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6" name="Google Shape;76;p50"/>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sp>
        <p:nvSpPr>
          <p:cNvPr id="138" name="Google Shape;138;p52"/>
          <p:cNvSpPr txBox="1">
            <a:spLocks noGrp="1"/>
          </p:cNvSpPr>
          <p:nvPr>
            <p:ph type="title"/>
          </p:nvPr>
        </p:nvSpPr>
        <p:spPr>
          <a:xfrm>
            <a:off x="831960" y="1709640"/>
            <a:ext cx="10515240" cy="2852280"/>
          </a:xfrm>
          <a:prstGeom prst="rect">
            <a:avLst/>
          </a:prstGeom>
          <a:noFill/>
          <a:ln>
            <a:noFill/>
          </a:ln>
        </p:spPr>
        <p:txBody>
          <a:bodyPr spcFirstLastPara="1" wrap="square" lIns="90000" tIns="45000" rIns="90000" bIns="45000"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39" name="Google Shape;139;p52"/>
          <p:cNvSpPr txBox="1">
            <a:spLocks noGrp="1"/>
          </p:cNvSpPr>
          <p:nvPr>
            <p:ph type="body" idx="1"/>
          </p:nvPr>
        </p:nvSpPr>
        <p:spPr>
          <a:xfrm>
            <a:off x="831960" y="4589640"/>
            <a:ext cx="10515240" cy="1499760"/>
          </a:xfrm>
          <a:prstGeom prst="rect">
            <a:avLst/>
          </a:prstGeom>
          <a:noFill/>
          <a:ln>
            <a:noFill/>
          </a:ln>
        </p:spPr>
        <p:txBody>
          <a:bodyPr spcFirstLastPara="1" wrap="square" lIns="90000" tIns="45000" rIns="90000" bIns="450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140" name="Google Shape;140;p52"/>
          <p:cNvSpPr txBox="1">
            <a:spLocks noGrp="1"/>
          </p:cNvSpPr>
          <p:nvPr>
            <p:ph type="dt" idx="10"/>
          </p:nvPr>
        </p:nvSpPr>
        <p:spPr>
          <a:xfrm>
            <a:off x="838080" y="6356520"/>
            <a:ext cx="2742840" cy="364680"/>
          </a:xfrm>
          <a:prstGeom prst="rect">
            <a:avLst/>
          </a:prstGeom>
          <a:noFill/>
          <a:ln>
            <a:noFill/>
          </a:ln>
        </p:spPr>
        <p:txBody>
          <a:bodyPr spcFirstLastPara="1" wrap="square" lIns="90000" tIns="45000" rIns="90000" bIns="45000" anchor="t" anchorCtr="0">
            <a:noAutofit/>
          </a:bodyPr>
          <a:lstStyle>
            <a:lvl1pPr marR="0" lvl="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1" name="Google Shape;141;p52"/>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2" name="Google Shape;142;p52"/>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1pPr>
            <a:lvl2pPr marL="0" marR="0" lvl="1"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2pPr>
            <a:lvl3pPr marL="0" marR="0" lvl="2"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3pPr>
            <a:lvl4pPr marL="0" marR="0" lvl="3"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4pPr>
            <a:lvl5pPr marL="0" marR="0" lvl="4"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5pPr>
            <a:lvl6pPr marL="0" marR="0" lvl="5"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6pPr>
            <a:lvl7pPr marL="0" marR="0" lvl="6"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7pPr>
            <a:lvl8pPr marL="0" marR="0" lvl="7"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8pPr>
            <a:lvl9pPr marL="0" marR="0" lvl="8" indent="0" algn="r" rtl="0">
              <a:lnSpc>
                <a:spcPct val="100000"/>
              </a:lnSpc>
              <a:spcBef>
                <a:spcPts val="0"/>
              </a:spcBef>
              <a:buClr>
                <a:srgbClr val="1C7DDB"/>
              </a:buClr>
              <a:buSzPts val="1600"/>
              <a:buFont typeface="Arial"/>
              <a:buNone/>
              <a:defRPr sz="1600" b="0" i="0" u="none" strike="noStrike" cap="none">
                <a:solidFill>
                  <a:srgbClr val="1C7DD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7"/>
        <p:cNvGrpSpPr/>
        <p:nvPr/>
      </p:nvGrpSpPr>
      <p:grpSpPr>
        <a:xfrm>
          <a:off x="0" y="0"/>
          <a:ext cx="0" cy="0"/>
          <a:chOff x="0" y="0"/>
          <a:chExt cx="0" cy="0"/>
        </a:xfrm>
      </p:grpSpPr>
      <p:sp>
        <p:nvSpPr>
          <p:cNvPr id="228" name="Google Shape;228;p54"/>
          <p:cNvSpPr txBox="1">
            <a:spLocks noGrp="1"/>
          </p:cNvSpPr>
          <p:nvPr>
            <p:ph type="body" idx="1"/>
          </p:nvPr>
        </p:nvSpPr>
        <p:spPr>
          <a:xfrm rot="5400000">
            <a:off x="1799280" y="-596160"/>
            <a:ext cx="5811480" cy="7733880"/>
          </a:xfrm>
          <a:prstGeom prst="rect">
            <a:avLst/>
          </a:prstGeom>
          <a:noFill/>
          <a:ln>
            <a:noFill/>
          </a:ln>
        </p:spPr>
        <p:txBody>
          <a:bodyPr spcFirstLastPara="1" wrap="square" lIns="45000" tIns="90000" rIns="45000" bIns="900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229" name="Google Shape;229;p54"/>
          <p:cNvSpPr txBox="1">
            <a:spLocks noGrp="1"/>
          </p:cNvSpPr>
          <p:nvPr>
            <p:ph type="ftr" idx="11"/>
          </p:nvPr>
        </p:nvSpPr>
        <p:spPr>
          <a:xfrm>
            <a:off x="4038480" y="6356520"/>
            <a:ext cx="4114440" cy="364680"/>
          </a:xfrm>
          <a:prstGeom prst="rect">
            <a:avLst/>
          </a:prstGeom>
          <a:noFill/>
          <a:ln>
            <a:noFill/>
          </a:ln>
        </p:spPr>
        <p:txBody>
          <a:bodyPr spcFirstLastPara="1" wrap="square" lIns="90000" tIns="45000" rIns="90000" bIns="45000" anchor="t" anchorCtr="0">
            <a:noAutofit/>
          </a:bodyPr>
          <a:lstStyle>
            <a:lvl1pPr marR="0" lvl="0" algn="ctr" rtl="0">
              <a:spcBef>
                <a:spcPts val="0"/>
              </a:spcBef>
              <a:spcAft>
                <a:spcPts val="0"/>
              </a:spcAft>
              <a:buClr>
                <a:srgbClr val="000000"/>
              </a:buClr>
              <a:buSzPts val="1400"/>
              <a:buFont typeface="Times New Roman"/>
              <a:buNone/>
              <a:defRPr sz="1400" b="0" i="0" u="none" strike="noStrike" cap="none">
                <a:solidFill>
                  <a:srgbClr val="00000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30" name="Google Shape;230;p54"/>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hyperlink" Target="https://github.com/JavaGenbu/IBM_DataScience_FinalProject/blob/main/web_scraper.ipynb"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hyperlink" Target="https://github.com/JavaGenbu/IBM_DataScience_FinalProject/blob/main/Data_wrangling.ipynb"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hyperlink" Target="https://github.com/JavaGenbu/IBM_DataScience_FinalProject/blob/main/launch_site_location.ipynb"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hyperlink" Target="https://github.com/JavaGenbu/IBM_DataScience_FinalProject/blob/main/sqllite.ipynb"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hyperlink" Target="https://github.com/JavaGenbu/IBM_DataScience_FinalProject/blob/main/Machine_Learning_Prediction.ipynb"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3.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4"/>
        <p:cNvGrpSpPr/>
        <p:nvPr/>
      </p:nvGrpSpPr>
      <p:grpSpPr>
        <a:xfrm>
          <a:off x="0" y="0"/>
          <a:ext cx="0" cy="0"/>
          <a:chOff x="0" y="0"/>
          <a:chExt cx="0" cy="0"/>
        </a:xfrm>
      </p:grpSpPr>
      <p:pic>
        <p:nvPicPr>
          <p:cNvPr id="3" name="Imagen 2">
            <a:extLst>
              <a:ext uri="{FF2B5EF4-FFF2-40B4-BE49-F238E27FC236}">
                <a16:creationId xmlns:a16="http://schemas.microsoft.com/office/drawing/2014/main" id="{7628BF28-672F-A10C-1DBD-F101055D6793}"/>
              </a:ext>
            </a:extLst>
          </p:cNvPr>
          <p:cNvPicPr>
            <a:picLocks noChangeAspect="1"/>
          </p:cNvPicPr>
          <p:nvPr/>
        </p:nvPicPr>
        <p:blipFill>
          <a:blip r:embed="rId4"/>
          <a:stretch>
            <a:fillRect/>
          </a:stretch>
        </p:blipFill>
        <p:spPr>
          <a:xfrm>
            <a:off x="0" y="0"/>
            <a:ext cx="12192000" cy="6858000"/>
          </a:xfrm>
          <a:prstGeom prst="rect">
            <a:avLst/>
          </a:prstGeom>
        </p:spPr>
      </p:pic>
      <p:sp>
        <p:nvSpPr>
          <p:cNvPr id="295" name="Google Shape;295;p1"/>
          <p:cNvSpPr/>
          <p:nvPr/>
        </p:nvSpPr>
        <p:spPr>
          <a:xfrm>
            <a:off x="6915627" y="4731319"/>
            <a:ext cx="3791520" cy="64044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s-ES" sz="1800" b="1" i="0" u="none" strike="noStrike" cap="none" dirty="0">
                <a:solidFill>
                  <a:srgbClr val="E7E6E6"/>
                </a:solidFill>
                <a:latin typeface="+mn-lt"/>
                <a:ea typeface="Arial"/>
                <a:cs typeface="Arial"/>
                <a:sym typeface="Arial"/>
              </a:rPr>
              <a:t>Samuel Fenoll Expósito</a:t>
            </a:r>
            <a:endParaRPr sz="1800" b="1" i="0" u="none" strike="noStrike" cap="none" dirty="0">
              <a:solidFill>
                <a:srgbClr val="000000"/>
              </a:solidFill>
              <a:latin typeface="+mn-lt"/>
              <a:ea typeface="Arial"/>
              <a:cs typeface="Arial"/>
              <a:sym typeface="Arial"/>
            </a:endParaRPr>
          </a:p>
          <a:p>
            <a:pPr marL="0" marR="0" lvl="0" indent="0" algn="r" rtl="0">
              <a:lnSpc>
                <a:spcPct val="100000"/>
              </a:lnSpc>
              <a:spcBef>
                <a:spcPts val="0"/>
              </a:spcBef>
              <a:spcAft>
                <a:spcPts val="0"/>
              </a:spcAft>
              <a:buNone/>
            </a:pPr>
            <a:r>
              <a:rPr lang="en-US" sz="1800" b="1" i="0" u="none" strike="noStrike" cap="none" dirty="0">
                <a:solidFill>
                  <a:srgbClr val="E7E6E6"/>
                </a:solidFill>
                <a:latin typeface="+mn-lt"/>
                <a:ea typeface="Arial"/>
                <a:cs typeface="Arial"/>
                <a:sym typeface="Arial"/>
              </a:rPr>
              <a:t>05-09-2025</a:t>
            </a:r>
            <a:endParaRPr sz="1800" b="1" i="0" u="none" strike="noStrike" cap="none" dirty="0">
              <a:solidFill>
                <a:srgbClr val="000000"/>
              </a:solidFill>
              <a:latin typeface="+mn-lt"/>
              <a:ea typeface="Arial"/>
              <a:cs typeface="Arial"/>
              <a:sym typeface="Arial"/>
            </a:endParaRPr>
          </a:p>
        </p:txBody>
      </p:sp>
      <p:pic>
        <p:nvPicPr>
          <p:cNvPr id="296" name="Google Shape;296;p1" descr="IBM Skills Network Logo - Horizontal-noai copy.png"/>
          <p:cNvPicPr preferRelativeResize="0"/>
          <p:nvPr/>
        </p:nvPicPr>
        <p:blipFill rotWithShape="1">
          <a:blip r:embed="rId5">
            <a:alphaModFix/>
          </a:blip>
          <a:srcRect/>
          <a:stretch/>
        </p:blipFill>
        <p:spPr>
          <a:xfrm>
            <a:off x="8603307" y="839360"/>
            <a:ext cx="2103840" cy="628920"/>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1"/>
        <p:cNvGrpSpPr/>
        <p:nvPr/>
      </p:nvGrpSpPr>
      <p:grpSpPr>
        <a:xfrm>
          <a:off x="0" y="0"/>
          <a:ext cx="0" cy="0"/>
          <a:chOff x="0" y="0"/>
          <a:chExt cx="0" cy="0"/>
        </a:xfrm>
      </p:grpSpPr>
      <p:sp>
        <p:nvSpPr>
          <p:cNvPr id="302" name="Google Shape;302;p2"/>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rmAutofit/>
          </a:bodyPr>
          <a:lstStyle/>
          <a:p>
            <a:pPr marL="0" marR="0" lvl="0" indent="0" algn="r" rtl="0">
              <a:lnSpc>
                <a:spcPct val="100000"/>
              </a:lnSpc>
              <a:spcBef>
                <a:spcPts val="0"/>
              </a:spcBef>
              <a:spcAft>
                <a:spcPts val="0"/>
              </a:spcAft>
              <a:buClr>
                <a:srgbClr val="1C7DDB"/>
              </a:buClr>
              <a:buSzPts val="1600"/>
              <a:buFont typeface="Arial"/>
              <a:buNone/>
            </a:pPr>
            <a:fld id="{00000000-1234-1234-1234-123412341234}" type="slidenum">
              <a:rPr lang="en-US" sz="1600" b="0" i="0" u="none" strike="noStrike" cap="none">
                <a:solidFill>
                  <a:srgbClr val="1C7DDB"/>
                </a:solidFill>
                <a:latin typeface="Arial"/>
                <a:ea typeface="Arial"/>
                <a:cs typeface="Arial"/>
                <a:sym typeface="Arial"/>
              </a:rPr>
              <a:t>2</a:t>
            </a:fld>
            <a:endParaRPr sz="1600" b="0" i="0" u="none" strike="noStrike" cap="none">
              <a:solidFill>
                <a:srgbClr val="000000"/>
              </a:solidFill>
              <a:latin typeface="Times New Roman"/>
              <a:ea typeface="Times New Roman"/>
              <a:cs typeface="Times New Roman"/>
              <a:sym typeface="Times New Roman"/>
            </a:endParaRPr>
          </a:p>
        </p:txBody>
      </p:sp>
      <p:sp>
        <p:nvSpPr>
          <p:cNvPr id="303" name="Google Shape;303;p2"/>
          <p:cNvSpPr/>
          <p:nvPr/>
        </p:nvSpPr>
        <p:spPr>
          <a:xfrm>
            <a:off x="958680" y="2113200"/>
            <a:ext cx="5166720" cy="332064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00000"/>
              </a:lnSpc>
              <a:spcBef>
                <a:spcPts val="0"/>
              </a:spcBef>
              <a:spcAft>
                <a:spcPts val="0"/>
              </a:spcAft>
              <a:buClr>
                <a:srgbClr val="292929"/>
              </a:buClr>
              <a:buSzPts val="2200"/>
              <a:buFont typeface="Arial"/>
              <a:buChar char="•"/>
            </a:pPr>
            <a:r>
              <a:rPr lang="en-US" sz="2200" b="0" i="0" u="none" strike="noStrike" cap="none">
                <a:solidFill>
                  <a:srgbClr val="292929"/>
                </a:solidFill>
                <a:latin typeface="Arial"/>
                <a:ea typeface="Arial"/>
                <a:cs typeface="Arial"/>
                <a:sym typeface="Arial"/>
              </a:rPr>
              <a:t>Executive Summary</a:t>
            </a:r>
            <a:endParaRPr sz="2200" b="0" i="0" u="none" strike="noStrike" cap="none">
              <a:solidFill>
                <a:srgbClr val="000000"/>
              </a:solidFill>
              <a:latin typeface="Arial"/>
              <a:ea typeface="Arial"/>
              <a:cs typeface="Arial"/>
              <a:sym typeface="Arial"/>
            </a:endParaRPr>
          </a:p>
          <a:p>
            <a:pPr marL="228600" marR="0" lvl="0" indent="-228600" algn="l" rtl="0">
              <a:lnSpc>
                <a:spcPct val="100000"/>
              </a:lnSpc>
              <a:spcBef>
                <a:spcPts val="1400"/>
              </a:spcBef>
              <a:spcAft>
                <a:spcPts val="0"/>
              </a:spcAft>
              <a:buClr>
                <a:srgbClr val="292929"/>
              </a:buClr>
              <a:buSzPts val="2200"/>
              <a:buFont typeface="Arial"/>
              <a:buChar char="•"/>
            </a:pPr>
            <a:r>
              <a:rPr lang="en-US" sz="2200" b="0" i="0" u="none" strike="noStrike" cap="none">
                <a:solidFill>
                  <a:srgbClr val="292929"/>
                </a:solidFill>
                <a:latin typeface="Arial"/>
                <a:ea typeface="Arial"/>
                <a:cs typeface="Arial"/>
                <a:sym typeface="Arial"/>
              </a:rPr>
              <a:t>Introduction</a:t>
            </a:r>
            <a:endParaRPr sz="2200" b="0" i="0" u="none" strike="noStrike" cap="none">
              <a:solidFill>
                <a:srgbClr val="000000"/>
              </a:solidFill>
              <a:latin typeface="Arial"/>
              <a:ea typeface="Arial"/>
              <a:cs typeface="Arial"/>
              <a:sym typeface="Arial"/>
            </a:endParaRPr>
          </a:p>
          <a:p>
            <a:pPr marL="228600" marR="0" lvl="0" indent="-228600" algn="l" rtl="0">
              <a:lnSpc>
                <a:spcPct val="100000"/>
              </a:lnSpc>
              <a:spcBef>
                <a:spcPts val="1400"/>
              </a:spcBef>
              <a:spcAft>
                <a:spcPts val="0"/>
              </a:spcAft>
              <a:buClr>
                <a:srgbClr val="292929"/>
              </a:buClr>
              <a:buSzPts val="2200"/>
              <a:buFont typeface="Arial"/>
              <a:buChar char="•"/>
            </a:pPr>
            <a:r>
              <a:rPr lang="en-US" sz="2200" b="0" i="0" u="none" strike="noStrike" cap="none">
                <a:solidFill>
                  <a:srgbClr val="292929"/>
                </a:solidFill>
                <a:latin typeface="Arial"/>
                <a:ea typeface="Arial"/>
                <a:cs typeface="Arial"/>
                <a:sym typeface="Arial"/>
              </a:rPr>
              <a:t>Methodology</a:t>
            </a:r>
            <a:endParaRPr sz="2200" b="0" i="0" u="none" strike="noStrike" cap="none">
              <a:solidFill>
                <a:srgbClr val="000000"/>
              </a:solidFill>
              <a:latin typeface="Arial"/>
              <a:ea typeface="Arial"/>
              <a:cs typeface="Arial"/>
              <a:sym typeface="Arial"/>
            </a:endParaRPr>
          </a:p>
          <a:p>
            <a:pPr marL="228600" marR="0" lvl="0" indent="-228600" algn="l" rtl="0">
              <a:lnSpc>
                <a:spcPct val="100000"/>
              </a:lnSpc>
              <a:spcBef>
                <a:spcPts val="1400"/>
              </a:spcBef>
              <a:spcAft>
                <a:spcPts val="0"/>
              </a:spcAft>
              <a:buClr>
                <a:srgbClr val="292929"/>
              </a:buClr>
              <a:buSzPts val="2200"/>
              <a:buFont typeface="Arial"/>
              <a:buChar char="•"/>
            </a:pPr>
            <a:r>
              <a:rPr lang="en-US" sz="2200" b="0" i="0" u="none" strike="noStrike" cap="none">
                <a:solidFill>
                  <a:srgbClr val="292929"/>
                </a:solidFill>
                <a:latin typeface="Arial"/>
                <a:ea typeface="Arial"/>
                <a:cs typeface="Arial"/>
                <a:sym typeface="Arial"/>
              </a:rPr>
              <a:t>Results</a:t>
            </a:r>
            <a:endParaRPr sz="2200" b="0" i="0" u="none" strike="noStrike" cap="none">
              <a:solidFill>
                <a:srgbClr val="000000"/>
              </a:solidFill>
              <a:latin typeface="Arial"/>
              <a:ea typeface="Arial"/>
              <a:cs typeface="Arial"/>
              <a:sym typeface="Arial"/>
            </a:endParaRPr>
          </a:p>
          <a:p>
            <a:pPr marL="228600" marR="0" lvl="0" indent="-228600" algn="l" rtl="0">
              <a:lnSpc>
                <a:spcPct val="100000"/>
              </a:lnSpc>
              <a:spcBef>
                <a:spcPts val="1400"/>
              </a:spcBef>
              <a:spcAft>
                <a:spcPts val="0"/>
              </a:spcAft>
              <a:buClr>
                <a:srgbClr val="292929"/>
              </a:buClr>
              <a:buSzPts val="2200"/>
              <a:buFont typeface="Arial"/>
              <a:buChar char="•"/>
            </a:pPr>
            <a:r>
              <a:rPr lang="en-US" sz="2200" b="0" i="0" u="none" strike="noStrike" cap="none">
                <a:solidFill>
                  <a:srgbClr val="292929"/>
                </a:solidFill>
                <a:latin typeface="Arial"/>
                <a:ea typeface="Arial"/>
                <a:cs typeface="Arial"/>
                <a:sym typeface="Arial"/>
              </a:rPr>
              <a:t>Conclusion</a:t>
            </a:r>
            <a:endParaRPr sz="2200" b="0" i="0" u="none" strike="noStrike" cap="none">
              <a:solidFill>
                <a:srgbClr val="000000"/>
              </a:solidFill>
              <a:latin typeface="Arial"/>
              <a:ea typeface="Arial"/>
              <a:cs typeface="Arial"/>
              <a:sym typeface="Arial"/>
            </a:endParaRPr>
          </a:p>
          <a:p>
            <a:pPr marL="228600" marR="0" lvl="0" indent="-228600" algn="l" rtl="0">
              <a:lnSpc>
                <a:spcPct val="100000"/>
              </a:lnSpc>
              <a:spcBef>
                <a:spcPts val="1400"/>
              </a:spcBef>
              <a:spcAft>
                <a:spcPts val="0"/>
              </a:spcAft>
              <a:buClr>
                <a:srgbClr val="292929"/>
              </a:buClr>
              <a:buSzPts val="2200"/>
              <a:buFont typeface="Arial"/>
              <a:buChar char="•"/>
            </a:pPr>
            <a:r>
              <a:rPr lang="en-US" sz="2200" b="0" i="0" u="none" strike="noStrike" cap="none">
                <a:solidFill>
                  <a:srgbClr val="292929"/>
                </a:solidFill>
                <a:latin typeface="Arial"/>
                <a:ea typeface="Arial"/>
                <a:cs typeface="Arial"/>
                <a:sym typeface="Arial"/>
              </a:rPr>
              <a:t>Appendix</a:t>
            </a:r>
            <a:endParaRPr sz="2200" b="0" i="0" u="none" strike="noStrike" cap="none">
              <a:solidFill>
                <a:srgbClr val="000000"/>
              </a:solidFill>
              <a:latin typeface="Arial"/>
              <a:ea typeface="Arial"/>
              <a:cs typeface="Arial"/>
              <a:sym typeface="Arial"/>
            </a:endParaRPr>
          </a:p>
        </p:txBody>
      </p:sp>
      <p:sp>
        <p:nvSpPr>
          <p:cNvPr id="304" name="Google Shape;304;p2"/>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Outline</a:t>
            </a:r>
            <a:endParaRPr sz="3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8"/>
        <p:cNvGrpSpPr/>
        <p:nvPr/>
      </p:nvGrpSpPr>
      <p:grpSpPr>
        <a:xfrm>
          <a:off x="0" y="0"/>
          <a:ext cx="0" cy="0"/>
          <a:chOff x="0" y="0"/>
          <a:chExt cx="0" cy="0"/>
        </a:xfrm>
      </p:grpSpPr>
      <p:sp>
        <p:nvSpPr>
          <p:cNvPr id="309" name="Google Shape;309;p3"/>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rmAutofit/>
          </a:bodyPr>
          <a:lstStyle/>
          <a:p>
            <a:pPr marL="0" marR="0" lvl="0" indent="0" algn="r" rtl="0">
              <a:lnSpc>
                <a:spcPct val="100000"/>
              </a:lnSpc>
              <a:spcBef>
                <a:spcPts val="0"/>
              </a:spcBef>
              <a:spcAft>
                <a:spcPts val="0"/>
              </a:spcAft>
              <a:buClr>
                <a:srgbClr val="1C7DDB"/>
              </a:buClr>
              <a:buSzPts val="1600"/>
              <a:buFont typeface="Arial"/>
              <a:buNone/>
            </a:pPr>
            <a:fld id="{00000000-1234-1234-1234-123412341234}" type="slidenum">
              <a:rPr lang="en-US" sz="1600" b="0" i="0" u="none" strike="noStrike" cap="none">
                <a:solidFill>
                  <a:srgbClr val="1C7DDB"/>
                </a:solidFill>
                <a:latin typeface="Arial"/>
                <a:ea typeface="Arial"/>
                <a:cs typeface="Arial"/>
                <a:sym typeface="Arial"/>
              </a:rPr>
              <a:t>3</a:t>
            </a:fld>
            <a:endParaRPr sz="1600" b="0" i="0" u="none" strike="noStrike" cap="none">
              <a:solidFill>
                <a:srgbClr val="000000"/>
              </a:solidFill>
              <a:latin typeface="Times New Roman"/>
              <a:ea typeface="Times New Roman"/>
              <a:cs typeface="Times New Roman"/>
              <a:sym typeface="Times New Roman"/>
            </a:endParaRPr>
          </a:p>
        </p:txBody>
      </p:sp>
      <p:sp>
        <p:nvSpPr>
          <p:cNvPr id="310" name="Google Shape;310;p3"/>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Executive Summary</a:t>
            </a:r>
            <a:endParaRPr sz="3400" b="0" i="0" u="none" strike="noStrike" cap="none">
              <a:solidFill>
                <a:srgbClr val="000000"/>
              </a:solidFill>
              <a:latin typeface="Arial"/>
              <a:ea typeface="Arial"/>
              <a:cs typeface="Arial"/>
              <a:sym typeface="Arial"/>
            </a:endParaRPr>
          </a:p>
        </p:txBody>
      </p:sp>
      <p:sp>
        <p:nvSpPr>
          <p:cNvPr id="311" name="Google Shape;311;p3"/>
          <p:cNvSpPr txBox="1"/>
          <p:nvPr/>
        </p:nvSpPr>
        <p:spPr>
          <a:xfrm>
            <a:off x="845500" y="1578275"/>
            <a:ext cx="10071000" cy="473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500"/>
              <a:t>The revolutionary advancements in space technology spearheaded by organizations like SpaceX have dramatically altered our approach to space exploration and transportation. SpaceX, through its reusable rockets, has significantly reduced the cost of reaching space, thus democratizing access and opening new possibilities for scientific discovery and commercial application.</a:t>
            </a:r>
            <a:endParaRPr sz="1500"/>
          </a:p>
          <a:p>
            <a:pPr marL="0" lvl="0" indent="0" algn="l" rtl="0">
              <a:lnSpc>
                <a:spcPct val="115000"/>
              </a:lnSpc>
              <a:spcBef>
                <a:spcPts val="1200"/>
              </a:spcBef>
              <a:spcAft>
                <a:spcPts val="0"/>
              </a:spcAft>
              <a:buClr>
                <a:schemeClr val="dk1"/>
              </a:buClr>
              <a:buSzPts val="1100"/>
              <a:buFont typeface="Arial"/>
              <a:buNone/>
            </a:pPr>
            <a:r>
              <a:rPr lang="en-US" sz="1500"/>
              <a:t>This report presents a comprehensive analysis of SpaceX's launch data, with an objective to develop a predictive model that can accurately forecast the outcome of the first-stage booster landing. Predicting this outcome is vital as the success of the booster landing is a key determinant of the overall mission cost.</a:t>
            </a:r>
            <a:endParaRPr sz="1500"/>
          </a:p>
          <a:p>
            <a:pPr marL="0" lvl="0" indent="0" algn="l" rtl="0">
              <a:lnSpc>
                <a:spcPct val="115000"/>
              </a:lnSpc>
              <a:spcBef>
                <a:spcPts val="1200"/>
              </a:spcBef>
              <a:spcAft>
                <a:spcPts val="0"/>
              </a:spcAft>
              <a:buClr>
                <a:schemeClr val="dk1"/>
              </a:buClr>
              <a:buSzPts val="1100"/>
              <a:buFont typeface="Arial"/>
              <a:buNone/>
            </a:pPr>
            <a:r>
              <a:rPr lang="en-US" sz="1500"/>
              <a:t>Through the application of sophisticated machine learning techniques and rigorous data analysis, we examined the critical factors that contribute to successful landings and employed these insights to construct our predictive models. Our methodology involved a systematic exploration of data, feature selection, model development, and model evaluation using multiple machine learning algorithms.</a:t>
            </a:r>
            <a:endParaRPr sz="1500"/>
          </a:p>
          <a:p>
            <a:pPr marL="0" lvl="0" indent="0" algn="l" rtl="0">
              <a:lnSpc>
                <a:spcPct val="115000"/>
              </a:lnSpc>
              <a:spcBef>
                <a:spcPts val="1200"/>
              </a:spcBef>
              <a:spcAft>
                <a:spcPts val="0"/>
              </a:spcAft>
              <a:buClr>
                <a:schemeClr val="dk1"/>
              </a:buClr>
              <a:buSzPts val="1100"/>
              <a:buFont typeface="Arial"/>
              <a:buNone/>
            </a:pPr>
            <a:r>
              <a:rPr lang="en-US" sz="1500"/>
              <a:t>The following sections will delve into the details of our methodologies, the results obtained, and the implications of our findings. The insights derived from this analysis are expected to assist stakeholders in making informed decisions and planning future missions more effectively.</a:t>
            </a:r>
            <a:endParaRPr sz="1500"/>
          </a:p>
          <a:p>
            <a:pPr marL="0" lvl="0" indent="0" algn="l" rtl="0">
              <a:spcBef>
                <a:spcPts val="12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24b3bc74cb7_0_0"/>
          <p:cNvSpPr txBox="1"/>
          <p:nvPr/>
        </p:nvSpPr>
        <p:spPr>
          <a:xfrm>
            <a:off x="591850" y="1709825"/>
            <a:ext cx="10061400" cy="47670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AutoNum type="arabicPeriod"/>
            </a:pPr>
            <a:r>
              <a:rPr lang="en-US" b="1"/>
              <a:t>Data Collection</a:t>
            </a:r>
            <a:r>
              <a:rPr lang="en-US"/>
              <a:t>: The data was collected from SpaceX API and stored in a structured format for further analysis. The dataset consists of details about each launch, including the launch site, mission outcomes, payload details, booster landing details, and more.</a:t>
            </a:r>
            <a:endParaRPr/>
          </a:p>
          <a:p>
            <a:pPr marL="457200" lvl="0" indent="-298450" algn="l" rtl="0">
              <a:lnSpc>
                <a:spcPct val="115000"/>
              </a:lnSpc>
              <a:spcBef>
                <a:spcPts val="0"/>
              </a:spcBef>
              <a:spcAft>
                <a:spcPts val="0"/>
              </a:spcAft>
              <a:buClr>
                <a:schemeClr val="dk1"/>
              </a:buClr>
              <a:buSzPts val="1100"/>
              <a:buAutoNum type="arabicPeriod"/>
            </a:pPr>
            <a:r>
              <a:rPr lang="en-US" b="1"/>
              <a:t>Data Preprocessing</a:t>
            </a:r>
            <a:r>
              <a:rPr lang="en-US"/>
              <a:t>: This involved cleaning the data, handling missing values, and converting categorical variables into numeric variables. We also standardized the data to have a mean of 0 and a standard deviation of 1. This step is crucial for many machine learning models to perform well.</a:t>
            </a:r>
            <a:endParaRPr/>
          </a:p>
          <a:p>
            <a:pPr marL="457200" lvl="0" indent="-298450" algn="l" rtl="0">
              <a:lnSpc>
                <a:spcPct val="115000"/>
              </a:lnSpc>
              <a:spcBef>
                <a:spcPts val="0"/>
              </a:spcBef>
              <a:spcAft>
                <a:spcPts val="0"/>
              </a:spcAft>
              <a:buClr>
                <a:schemeClr val="dk1"/>
              </a:buClr>
              <a:buSzPts val="1100"/>
              <a:buAutoNum type="arabicPeriod"/>
            </a:pPr>
            <a:r>
              <a:rPr lang="en-US" b="1"/>
              <a:t>Exploratory Data Analysis (EDA)</a:t>
            </a:r>
            <a:r>
              <a:rPr lang="en-US"/>
              <a:t>: We conducted an exploratory analysis of the dataset to understand the distribution of data, the relationship between different variables, and potential trends or patterns. We used various visualization tools to aid this exploration.</a:t>
            </a:r>
            <a:endParaRPr/>
          </a:p>
          <a:p>
            <a:pPr marL="457200" lvl="0" indent="-298450" algn="l" rtl="0">
              <a:lnSpc>
                <a:spcPct val="115000"/>
              </a:lnSpc>
              <a:spcBef>
                <a:spcPts val="0"/>
              </a:spcBef>
              <a:spcAft>
                <a:spcPts val="0"/>
              </a:spcAft>
              <a:buClr>
                <a:schemeClr val="dk1"/>
              </a:buClr>
              <a:buSzPts val="1100"/>
              <a:buAutoNum type="arabicPeriod"/>
            </a:pPr>
            <a:r>
              <a:rPr lang="en-US" b="1"/>
              <a:t>Feature Selection</a:t>
            </a:r>
            <a:r>
              <a:rPr lang="en-US"/>
              <a:t>: We identified relevant features to be used in model development based on their correlation with the target variable (booster landing outcome).</a:t>
            </a:r>
            <a:endParaRPr/>
          </a:p>
          <a:p>
            <a:pPr marL="457200" lvl="0" indent="-298450" algn="l" rtl="0">
              <a:lnSpc>
                <a:spcPct val="115000"/>
              </a:lnSpc>
              <a:spcBef>
                <a:spcPts val="0"/>
              </a:spcBef>
              <a:spcAft>
                <a:spcPts val="0"/>
              </a:spcAft>
              <a:buClr>
                <a:schemeClr val="dk1"/>
              </a:buClr>
              <a:buSzPts val="1100"/>
              <a:buAutoNum type="arabicPeriod"/>
            </a:pPr>
            <a:r>
              <a:rPr lang="en-US" b="1"/>
              <a:t>Model Developmen</a:t>
            </a:r>
            <a:r>
              <a:rPr lang="en-US"/>
              <a:t>t: We utilized four different machine learning algorithms: Logistic Regression, Support Vector Machines (SVM), Decision Trees, and K-Nearest Neighbors (KNN).</a:t>
            </a:r>
            <a:endParaRPr/>
          </a:p>
          <a:p>
            <a:pPr marL="457200" lvl="0" indent="-298450" algn="l" rtl="0">
              <a:lnSpc>
                <a:spcPct val="115000"/>
              </a:lnSpc>
              <a:spcBef>
                <a:spcPts val="0"/>
              </a:spcBef>
              <a:spcAft>
                <a:spcPts val="0"/>
              </a:spcAft>
              <a:buClr>
                <a:schemeClr val="dk1"/>
              </a:buClr>
              <a:buSzPts val="1100"/>
              <a:buAutoNum type="arabicPeriod"/>
            </a:pPr>
            <a:r>
              <a:rPr lang="en-US" b="1"/>
              <a:t>Hyperparameter Tuning</a:t>
            </a:r>
            <a:r>
              <a:rPr lang="en-US"/>
              <a:t>: We performed grid search cross-validation to optimize the parameters of each of our machine learning models, which is key to improving model performance.</a:t>
            </a:r>
            <a:endParaRPr/>
          </a:p>
          <a:p>
            <a:pPr marL="457200" lvl="0" indent="-298450" algn="l" rtl="0">
              <a:lnSpc>
                <a:spcPct val="115000"/>
              </a:lnSpc>
              <a:spcBef>
                <a:spcPts val="0"/>
              </a:spcBef>
              <a:spcAft>
                <a:spcPts val="0"/>
              </a:spcAft>
              <a:buClr>
                <a:schemeClr val="dk1"/>
              </a:buClr>
              <a:buSzPts val="1100"/>
              <a:buAutoNum type="arabicPeriod"/>
            </a:pPr>
            <a:r>
              <a:rPr lang="en-US" b="1"/>
              <a:t>Model Evaluation</a:t>
            </a:r>
            <a:r>
              <a:rPr lang="en-US"/>
              <a:t>: Finally, we evaluated each model's performance using a separate test dataset, comparing the model's predictions to the actual outcomes to calculate an accuracy score.</a:t>
            </a:r>
            <a:endParaRPr sz="1100">
              <a:solidFill>
                <a:schemeClr val="dk1"/>
              </a:solidFill>
            </a:endParaRPr>
          </a:p>
          <a:p>
            <a:pPr marL="0" lvl="0" indent="0" algn="l" rtl="0">
              <a:spcBef>
                <a:spcPts val="1200"/>
              </a:spcBef>
              <a:spcAft>
                <a:spcPts val="0"/>
              </a:spcAft>
              <a:buNone/>
            </a:pPr>
            <a:endParaRPr/>
          </a:p>
        </p:txBody>
      </p:sp>
      <p:sp>
        <p:nvSpPr>
          <p:cNvPr id="318" name="Google Shape;318;g24b3bc74cb7_0_0"/>
          <p:cNvSpPr txBox="1"/>
          <p:nvPr/>
        </p:nvSpPr>
        <p:spPr>
          <a:xfrm>
            <a:off x="1108550" y="291225"/>
            <a:ext cx="4236900" cy="123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400">
                <a:solidFill>
                  <a:srgbClr val="0B49CB"/>
                </a:solidFill>
              </a:rPr>
              <a:t>Summary of Methodologies</a:t>
            </a:r>
            <a:endParaRPr sz="3400">
              <a:solidFill>
                <a:srgbClr val="0B49CB"/>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24b3bc74cb7_0_6"/>
          <p:cNvSpPr txBox="1"/>
          <p:nvPr/>
        </p:nvSpPr>
        <p:spPr>
          <a:xfrm>
            <a:off x="413350" y="1421850"/>
            <a:ext cx="6350700" cy="5074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None/>
            </a:pPr>
            <a:endParaRPr/>
          </a:p>
          <a:p>
            <a:pPr marL="457200" marR="0" lvl="0" indent="-298450" algn="l" rtl="0">
              <a:lnSpc>
                <a:spcPct val="115000"/>
              </a:lnSpc>
              <a:spcBef>
                <a:spcPts val="1200"/>
              </a:spcBef>
              <a:spcAft>
                <a:spcPts val="0"/>
              </a:spcAft>
              <a:buClr>
                <a:schemeClr val="dk1"/>
              </a:buClr>
              <a:buSzPts val="1100"/>
              <a:buAutoNum type="arabicPeriod"/>
            </a:pPr>
            <a:r>
              <a:rPr lang="en-US" b="1"/>
              <a:t>Logistic Regression</a:t>
            </a:r>
            <a:r>
              <a:rPr lang="en-US"/>
              <a:t>: This model provided a good baseline with an accuracy of 0,84%. It showed strength in handling linear relationships but struggled with more complex patterns in the data.</a:t>
            </a:r>
            <a:endParaRPr/>
          </a:p>
          <a:p>
            <a:pPr marL="457200" marR="0" lvl="0" indent="-298450" algn="l" rtl="0">
              <a:lnSpc>
                <a:spcPct val="115000"/>
              </a:lnSpc>
              <a:spcBef>
                <a:spcPts val="0"/>
              </a:spcBef>
              <a:spcAft>
                <a:spcPts val="0"/>
              </a:spcAft>
              <a:buClr>
                <a:schemeClr val="dk1"/>
              </a:buClr>
              <a:buSzPts val="1100"/>
              <a:buAutoNum type="arabicPeriod"/>
            </a:pPr>
            <a:r>
              <a:rPr lang="en-US" b="1"/>
              <a:t>Support Vector Machine (SVM)</a:t>
            </a:r>
            <a:r>
              <a:rPr lang="en-US"/>
              <a:t>: The SVM model achieved an accuracy of 0,83%. This model is effective in high-dimensional spaces, which makes it suitable for our dataset with numerous features.</a:t>
            </a:r>
            <a:endParaRPr/>
          </a:p>
          <a:p>
            <a:pPr marL="457200" marR="0" lvl="0" indent="-298450" algn="l" rtl="0">
              <a:lnSpc>
                <a:spcPct val="115000"/>
              </a:lnSpc>
              <a:spcBef>
                <a:spcPts val="0"/>
              </a:spcBef>
              <a:spcAft>
                <a:spcPts val="0"/>
              </a:spcAft>
              <a:buClr>
                <a:schemeClr val="dk1"/>
              </a:buClr>
              <a:buSzPts val="1100"/>
              <a:buAutoNum type="arabicPeriod"/>
            </a:pPr>
            <a:r>
              <a:rPr lang="en-US" b="1"/>
              <a:t>Decision Trees</a:t>
            </a:r>
            <a:r>
              <a:rPr lang="en-US"/>
              <a:t>: The decision tree model yielded an accuracy of 0,83%. This model's interpretability and ability to handle both numerical and categorical data are its main advantages.</a:t>
            </a:r>
            <a:endParaRPr/>
          </a:p>
          <a:p>
            <a:pPr marL="457200" marR="0" lvl="0" indent="-298450" algn="l" rtl="0">
              <a:lnSpc>
                <a:spcPct val="115000"/>
              </a:lnSpc>
              <a:spcBef>
                <a:spcPts val="0"/>
              </a:spcBef>
              <a:spcAft>
                <a:spcPts val="0"/>
              </a:spcAft>
              <a:buClr>
                <a:schemeClr val="dk1"/>
              </a:buClr>
              <a:buSzPts val="1100"/>
              <a:buAutoNum type="arabicPeriod"/>
            </a:pPr>
            <a:r>
              <a:rPr lang="en-US" b="1"/>
              <a:t>K-Nearest Neighbors (KNN)</a:t>
            </a:r>
            <a:r>
              <a:rPr lang="en-US"/>
              <a:t>: Lastly, the KNN model obtained an accuracy score of 0,84%. This model is valuable due to its simplicity and effectiveness in handling complex decision boundaries.</a:t>
            </a:r>
            <a:endParaRPr/>
          </a:p>
          <a:p>
            <a:pPr marL="457200" marR="0" lvl="0" indent="0" algn="l" rtl="0">
              <a:lnSpc>
                <a:spcPct val="115000"/>
              </a:lnSpc>
              <a:spcBef>
                <a:spcPts val="1200"/>
              </a:spcBef>
              <a:spcAft>
                <a:spcPts val="0"/>
              </a:spcAft>
              <a:buNone/>
            </a:pPr>
            <a:r>
              <a:rPr lang="en-US"/>
              <a:t>In conclusion, each model had its own strengths and weaknesses, and their performance varied depending on the characteristics of our dataset. The best performing model was the Logistic Regression model with an accuracy of 0,84%.</a:t>
            </a:r>
            <a:endParaRPr sz="1100">
              <a:solidFill>
                <a:schemeClr val="dk1"/>
              </a:solidFill>
            </a:endParaRPr>
          </a:p>
          <a:p>
            <a:pPr marL="0" lvl="0" indent="0" algn="l" rtl="0">
              <a:spcBef>
                <a:spcPts val="1200"/>
              </a:spcBef>
              <a:spcAft>
                <a:spcPts val="0"/>
              </a:spcAft>
              <a:buNone/>
            </a:pPr>
            <a:endParaRPr/>
          </a:p>
        </p:txBody>
      </p:sp>
      <p:sp>
        <p:nvSpPr>
          <p:cNvPr id="325" name="Google Shape;325;g24b3bc74cb7_0_6"/>
          <p:cNvSpPr txBox="1"/>
          <p:nvPr/>
        </p:nvSpPr>
        <p:spPr>
          <a:xfrm>
            <a:off x="789150" y="394575"/>
            <a:ext cx="47535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400">
                <a:solidFill>
                  <a:srgbClr val="0B49CB"/>
                </a:solidFill>
              </a:rPr>
              <a:t>Summary of Results</a:t>
            </a:r>
            <a:endParaRPr/>
          </a:p>
        </p:txBody>
      </p:sp>
      <p:pic>
        <p:nvPicPr>
          <p:cNvPr id="326" name="Google Shape;326;g24b3bc74cb7_0_6"/>
          <p:cNvPicPr preferRelativeResize="0"/>
          <p:nvPr/>
        </p:nvPicPr>
        <p:blipFill>
          <a:blip r:embed="rId3">
            <a:alphaModFix/>
          </a:blip>
          <a:stretch>
            <a:fillRect/>
          </a:stretch>
        </p:blipFill>
        <p:spPr>
          <a:xfrm>
            <a:off x="7177425" y="1885875"/>
            <a:ext cx="4800600" cy="4114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0"/>
        <p:cNvGrpSpPr/>
        <p:nvPr/>
      </p:nvGrpSpPr>
      <p:grpSpPr>
        <a:xfrm>
          <a:off x="0" y="0"/>
          <a:ext cx="0" cy="0"/>
          <a:chOff x="0" y="0"/>
          <a:chExt cx="0" cy="0"/>
        </a:xfrm>
      </p:grpSpPr>
      <p:sp>
        <p:nvSpPr>
          <p:cNvPr id="331" name="Google Shape;331;p4"/>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rmAutofit/>
          </a:bodyPr>
          <a:lstStyle/>
          <a:p>
            <a:pPr marL="0" marR="0" lvl="0" indent="0" algn="r" rtl="0">
              <a:lnSpc>
                <a:spcPct val="100000"/>
              </a:lnSpc>
              <a:spcBef>
                <a:spcPts val="0"/>
              </a:spcBef>
              <a:spcAft>
                <a:spcPts val="0"/>
              </a:spcAft>
              <a:buClr>
                <a:srgbClr val="1C7DDB"/>
              </a:buClr>
              <a:buSzPts val="1600"/>
              <a:buFont typeface="Arial"/>
              <a:buNone/>
            </a:pPr>
            <a:fld id="{00000000-1234-1234-1234-123412341234}" type="slidenum">
              <a:rPr lang="en-US" sz="1600" b="0" i="0" u="none" strike="noStrike" cap="none">
                <a:solidFill>
                  <a:srgbClr val="1C7DDB"/>
                </a:solidFill>
                <a:latin typeface="Arial"/>
                <a:ea typeface="Arial"/>
                <a:cs typeface="Arial"/>
                <a:sym typeface="Arial"/>
              </a:rPr>
              <a:t>6</a:t>
            </a:fld>
            <a:endParaRPr sz="1600" b="0" i="0" u="none" strike="noStrike" cap="none">
              <a:solidFill>
                <a:srgbClr val="000000"/>
              </a:solidFill>
              <a:latin typeface="Times New Roman"/>
              <a:ea typeface="Times New Roman"/>
              <a:cs typeface="Times New Roman"/>
              <a:sym typeface="Times New Roman"/>
            </a:endParaRPr>
          </a:p>
        </p:txBody>
      </p:sp>
      <p:sp>
        <p:nvSpPr>
          <p:cNvPr id="332" name="Google Shape;332;p4"/>
          <p:cNvSpPr/>
          <p:nvPr/>
        </p:nvSpPr>
        <p:spPr>
          <a:xfrm>
            <a:off x="828000" y="538560"/>
            <a:ext cx="105296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Introduction</a:t>
            </a:r>
            <a:endParaRPr sz="3400" b="0" i="0" u="none" strike="noStrike" cap="none">
              <a:solidFill>
                <a:srgbClr val="000000"/>
              </a:solidFill>
              <a:latin typeface="Arial"/>
              <a:ea typeface="Arial"/>
              <a:cs typeface="Arial"/>
              <a:sym typeface="Arial"/>
            </a:endParaRPr>
          </a:p>
        </p:txBody>
      </p:sp>
      <p:sp>
        <p:nvSpPr>
          <p:cNvPr id="333" name="Google Shape;333;p4"/>
          <p:cNvSpPr/>
          <p:nvPr/>
        </p:nvSpPr>
        <p:spPr>
          <a:xfrm>
            <a:off x="460750" y="2126875"/>
            <a:ext cx="7411800" cy="3951300"/>
          </a:xfrm>
          <a:prstGeom prst="rect">
            <a:avLst/>
          </a:prstGeom>
          <a:noFill/>
          <a:ln>
            <a:noFill/>
          </a:ln>
        </p:spPr>
        <p:txBody>
          <a:bodyPr spcFirstLastPara="1" wrap="square" lIns="91425" tIns="45700" rIns="91425" bIns="45700" anchor="t" anchorCtr="0">
            <a:normAutofit/>
          </a:bodyPr>
          <a:lstStyle/>
          <a:p>
            <a:pPr marL="457200" marR="0" lvl="0" indent="0" algn="just" rtl="0">
              <a:lnSpc>
                <a:spcPct val="90000"/>
              </a:lnSpc>
              <a:spcBef>
                <a:spcPts val="1400"/>
              </a:spcBef>
              <a:spcAft>
                <a:spcPts val="0"/>
              </a:spcAft>
              <a:buNone/>
            </a:pPr>
            <a:r>
              <a:rPr lang="en-US" sz="1500">
                <a:solidFill>
                  <a:srgbClr val="292929"/>
                </a:solidFill>
              </a:rPr>
              <a:t>Welcome to our comprehensive analysis of SpaceX's launch data, focusing on predicting the outcome of Falcon 9's first-stage booster landings. SpaceX's innovative approach to reusable rockets marks a breakthrough in space technology, offering an efficient and cost-effective way to space exploration. Through careful examination of historical launch data and application of advanced machine learning techniques, we aim to develop a model that can accurately predict the success of the booster landing. Our ultimate goal is to harness the power of data-driven decision-making to guide future improvements, ensuring safer, more successful, and cost-effective space missions. The following sections will provide a detailed walkthrough of our methodology, findings, and key takeaways.</a:t>
            </a:r>
            <a:endParaRPr sz="1500" b="0" i="0" u="none" strike="noStrike" cap="none">
              <a:solidFill>
                <a:srgbClr val="000000"/>
              </a:solidFill>
              <a:latin typeface="Arial"/>
              <a:ea typeface="Arial"/>
              <a:cs typeface="Arial"/>
              <a:sym typeface="Arial"/>
            </a:endParaRPr>
          </a:p>
        </p:txBody>
      </p:sp>
      <p:pic>
        <p:nvPicPr>
          <p:cNvPr id="334" name="Google Shape;334;p4"/>
          <p:cNvPicPr preferRelativeResize="0"/>
          <p:nvPr/>
        </p:nvPicPr>
        <p:blipFill>
          <a:blip r:embed="rId4">
            <a:alphaModFix/>
          </a:blip>
          <a:stretch>
            <a:fillRect/>
          </a:stretch>
        </p:blipFill>
        <p:spPr>
          <a:xfrm>
            <a:off x="8201425" y="2172275"/>
            <a:ext cx="3156227" cy="42083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g24b3bc74cb7_0_19"/>
          <p:cNvSpPr/>
          <p:nvPr/>
        </p:nvSpPr>
        <p:spPr>
          <a:xfrm>
            <a:off x="828000" y="538560"/>
            <a:ext cx="10529700" cy="548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US" sz="3400">
                <a:solidFill>
                  <a:srgbClr val="0B49CB"/>
                </a:solidFill>
              </a:rPr>
              <a:t>Project background and context</a:t>
            </a:r>
            <a:endParaRPr sz="3400" b="0" i="0" u="none" strike="noStrike" cap="none">
              <a:solidFill>
                <a:srgbClr val="000000"/>
              </a:solidFill>
              <a:latin typeface="Arial"/>
              <a:ea typeface="Arial"/>
              <a:cs typeface="Arial"/>
              <a:sym typeface="Arial"/>
            </a:endParaRPr>
          </a:p>
        </p:txBody>
      </p:sp>
      <p:sp>
        <p:nvSpPr>
          <p:cNvPr id="341" name="Google Shape;341;g24b3bc74cb7_0_19"/>
          <p:cNvSpPr txBox="1"/>
          <p:nvPr/>
        </p:nvSpPr>
        <p:spPr>
          <a:xfrm>
            <a:off x="828000" y="2292275"/>
            <a:ext cx="9441300" cy="318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a:t>SpaceX, a trailblazer in the aerospace industry, has revolutionized space exploration and travel with its pioneering reusable rockets. The Falcon 9, one of its flagship rockets, is renowned for its capability to deliver payloads to space and return to earth, landing vertically. This innovative approach of reusing rocket boosters is a major step towards reducing space travel costs and increasing the frequency of launches. However, the successful landing of a rocket's first-stage booster is not a guaranteed event; it's subject to a multitude of factors including weather conditions, technical specifications, payload weights, and more.</a:t>
            </a:r>
            <a:endParaRPr/>
          </a:p>
          <a:p>
            <a:pPr marL="0" lvl="0" indent="0" algn="l" rtl="0">
              <a:lnSpc>
                <a:spcPct val="115000"/>
              </a:lnSpc>
              <a:spcBef>
                <a:spcPts val="1200"/>
              </a:spcBef>
              <a:spcAft>
                <a:spcPts val="0"/>
              </a:spcAft>
              <a:buClr>
                <a:schemeClr val="dk1"/>
              </a:buClr>
              <a:buSzPts val="1100"/>
              <a:buFont typeface="Arial"/>
              <a:buNone/>
            </a:pPr>
            <a:r>
              <a:rPr lang="en-US"/>
              <a:t>Our project focuses on examining SpaceX's comprehensive launch data to extract meaningful patterns and insights. Specifically, we want to develop a predictive model using machine learning techniques that can accurately forecast the outcome of the first-stage booster landing. This predictive capability will not only help in reducing costs further by improving landing success rate but also contribute to safer and more efficient space missions.</a:t>
            </a:r>
            <a:endParaRPr/>
          </a:p>
          <a:p>
            <a:pPr marL="0" lvl="0" indent="0" algn="l" rtl="0">
              <a:spcBef>
                <a:spcPts val="120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24b3bc74cb7_0_24"/>
          <p:cNvSpPr txBox="1"/>
          <p:nvPr/>
        </p:nvSpPr>
        <p:spPr>
          <a:xfrm>
            <a:off x="516700" y="629425"/>
            <a:ext cx="8511300" cy="65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Font typeface="Arial"/>
              <a:buNone/>
            </a:pPr>
            <a:r>
              <a:rPr lang="en-US" sz="3400">
                <a:solidFill>
                  <a:srgbClr val="0B49CB"/>
                </a:solidFill>
              </a:rPr>
              <a:t>Problems we want to find answers</a:t>
            </a:r>
            <a:endParaRPr sz="3400">
              <a:solidFill>
                <a:srgbClr val="0B49CB"/>
              </a:solidFill>
            </a:endParaRPr>
          </a:p>
        </p:txBody>
      </p:sp>
      <p:sp>
        <p:nvSpPr>
          <p:cNvPr id="348" name="Google Shape;348;g24b3bc74cb7_0_24"/>
          <p:cNvSpPr txBox="1"/>
          <p:nvPr/>
        </p:nvSpPr>
        <p:spPr>
          <a:xfrm>
            <a:off x="704600" y="1484325"/>
            <a:ext cx="10878900" cy="234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a:t>The successful landing of a Falcon 9 first-stage booster is a complex process influenced by a host of interrelated factors. Identifying and understanding these factors is crucial for predicting landing outcomes and enhancing mission success.</a:t>
            </a:r>
            <a:endParaRPr/>
          </a:p>
          <a:p>
            <a:pPr marL="0" lvl="0" indent="0" algn="l" rtl="0">
              <a:lnSpc>
                <a:spcPct val="115000"/>
              </a:lnSpc>
              <a:spcBef>
                <a:spcPts val="1200"/>
              </a:spcBef>
              <a:spcAft>
                <a:spcPts val="0"/>
              </a:spcAft>
              <a:buClr>
                <a:schemeClr val="dk1"/>
              </a:buClr>
              <a:buSzPts val="1100"/>
              <a:buFont typeface="Arial"/>
              <a:buNone/>
            </a:pPr>
            <a:r>
              <a:rPr lang="en-US"/>
              <a:t>We aim to address the following questions through our analysis:</a:t>
            </a:r>
            <a:endParaRPr/>
          </a:p>
          <a:p>
            <a:pPr marL="457200" lvl="0" indent="-298450" algn="l" rtl="0">
              <a:lnSpc>
                <a:spcPct val="115000"/>
              </a:lnSpc>
              <a:spcBef>
                <a:spcPts val="1200"/>
              </a:spcBef>
              <a:spcAft>
                <a:spcPts val="0"/>
              </a:spcAft>
              <a:buClr>
                <a:schemeClr val="dk1"/>
              </a:buClr>
              <a:buSzPts val="1100"/>
              <a:buAutoNum type="arabicPeriod"/>
            </a:pPr>
            <a:r>
              <a:rPr lang="en-US"/>
              <a:t>What are the key factors that influence the successful landing of the first-stage booster?</a:t>
            </a:r>
            <a:endParaRPr/>
          </a:p>
          <a:p>
            <a:pPr marL="457200" lvl="0" indent="-298450" algn="l" rtl="0">
              <a:lnSpc>
                <a:spcPct val="115000"/>
              </a:lnSpc>
              <a:spcBef>
                <a:spcPts val="0"/>
              </a:spcBef>
              <a:spcAft>
                <a:spcPts val="0"/>
              </a:spcAft>
              <a:buClr>
                <a:schemeClr val="dk1"/>
              </a:buClr>
              <a:buSzPts val="1100"/>
              <a:buAutoNum type="arabicPeriod"/>
            </a:pPr>
            <a:r>
              <a:rPr lang="en-US"/>
              <a:t>Can we develop a predictive model that accurately forecasts the landing outcome of the first-stage booster?</a:t>
            </a:r>
            <a:endParaRPr/>
          </a:p>
          <a:p>
            <a:pPr marL="457200" lvl="0" indent="-298450" algn="l" rtl="0">
              <a:lnSpc>
                <a:spcPct val="115000"/>
              </a:lnSpc>
              <a:spcBef>
                <a:spcPts val="0"/>
              </a:spcBef>
              <a:spcAft>
                <a:spcPts val="0"/>
              </a:spcAft>
              <a:buClr>
                <a:schemeClr val="dk1"/>
              </a:buClr>
              <a:buSzPts val="1100"/>
              <a:buAutoNum type="arabicPeriod"/>
            </a:pPr>
            <a:r>
              <a:rPr lang="en-US"/>
              <a:t>How can the insights derived from this analysis be employed to improve the success rate of future landings?</a:t>
            </a:r>
            <a:endParaRPr/>
          </a:p>
          <a:p>
            <a:pPr marL="0" lvl="0" indent="0" algn="l" rtl="0">
              <a:spcBef>
                <a:spcPts val="12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2"/>
        <p:cNvGrpSpPr/>
        <p:nvPr/>
      </p:nvGrpSpPr>
      <p:grpSpPr>
        <a:xfrm>
          <a:off x="0" y="0"/>
          <a:ext cx="0" cy="0"/>
          <a:chOff x="0" y="0"/>
          <a:chExt cx="0" cy="0"/>
        </a:xfrm>
      </p:grpSpPr>
      <p:sp>
        <p:nvSpPr>
          <p:cNvPr id="353" name="Google Shape;353;p5"/>
          <p:cNvSpPr txBox="1">
            <a:spLocks noGrp="1"/>
          </p:cNvSpPr>
          <p:nvPr>
            <p:ph type="sldNum" idx="12"/>
          </p:nvPr>
        </p:nvSpPr>
        <p:spPr>
          <a:xfrm>
            <a:off x="9448920" y="6356520"/>
            <a:ext cx="274284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1C7DDB"/>
              </a:buClr>
              <a:buSzPts val="1600"/>
              <a:buFont typeface="Arial"/>
              <a:buNone/>
            </a:pPr>
            <a:fld id="{00000000-1234-1234-1234-123412341234}" type="slidenum">
              <a:rPr lang="en-US" sz="1600" b="0" i="0" u="none" strike="noStrike" cap="none">
                <a:solidFill>
                  <a:srgbClr val="1C7DDB"/>
                </a:solidFill>
                <a:latin typeface="Arial"/>
                <a:ea typeface="Arial"/>
                <a:cs typeface="Arial"/>
                <a:sym typeface="Arial"/>
              </a:rPr>
              <a:t>9</a:t>
            </a:fld>
            <a:endParaRPr sz="1600" b="0" i="0" u="none" strike="noStrike" cap="none">
              <a:solidFill>
                <a:srgbClr val="000000"/>
              </a:solidFill>
              <a:latin typeface="Times New Roman"/>
              <a:ea typeface="Times New Roman"/>
              <a:cs typeface="Times New Roman"/>
              <a:sym typeface="Times New Roman"/>
            </a:endParaRPr>
          </a:p>
        </p:txBody>
      </p:sp>
      <p:sp>
        <p:nvSpPr>
          <p:cNvPr id="354" name="Google Shape;354;p5"/>
          <p:cNvSpPr/>
          <p:nvPr/>
        </p:nvSpPr>
        <p:spPr>
          <a:xfrm>
            <a:off x="777960" y="2812680"/>
            <a:ext cx="1032840" cy="363960"/>
          </a:xfrm>
          <a:prstGeom prst="rect">
            <a:avLst/>
          </a:prstGeom>
          <a:solidFill>
            <a:srgbClr val="0948CB"/>
          </a:solid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FFFFFF"/>
                </a:solidFill>
                <a:latin typeface="Calibri"/>
                <a:ea typeface="Calibri"/>
                <a:cs typeface="Calibri"/>
                <a:sym typeface="Calibri"/>
              </a:rPr>
              <a:t>Section 1</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9"/>
        <p:cNvGrpSpPr/>
        <p:nvPr/>
      </p:nvGrpSpPr>
      <p:grpSpPr>
        <a:xfrm>
          <a:off x="0" y="0"/>
          <a:ext cx="0" cy="0"/>
          <a:chOff x="0" y="0"/>
          <a:chExt cx="0" cy="0"/>
        </a:xfrm>
      </p:grpSpPr>
      <p:sp>
        <p:nvSpPr>
          <p:cNvPr id="360" name="Google Shape;360;p6"/>
          <p:cNvSpPr/>
          <p:nvPr/>
        </p:nvSpPr>
        <p:spPr>
          <a:xfrm>
            <a:off x="770040" y="1580760"/>
            <a:ext cx="10104480" cy="5211360"/>
          </a:xfrm>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None/>
            </a:pPr>
            <a:r>
              <a:rPr lang="en-US" sz="2464" b="0" i="0" u="none" strike="noStrike" cap="none">
                <a:solidFill>
                  <a:srgbClr val="0B49CB"/>
                </a:solidFill>
                <a:latin typeface="Arial"/>
                <a:ea typeface="Arial"/>
                <a:cs typeface="Arial"/>
                <a:sym typeface="Arial"/>
              </a:rPr>
              <a:t>Executive Summary</a:t>
            </a:r>
            <a:endParaRPr sz="2464" b="0" i="0" u="none" strike="noStrike" cap="none">
              <a:solidFill>
                <a:srgbClr val="000000"/>
              </a:solidFill>
              <a:latin typeface="Arial"/>
              <a:ea typeface="Arial"/>
              <a:cs typeface="Arial"/>
              <a:sym typeface="Arial"/>
            </a:endParaRPr>
          </a:p>
          <a:p>
            <a:pPr marL="255960" marR="0" lvl="0" indent="-255960" algn="l" rtl="0">
              <a:lnSpc>
                <a:spcPct val="120000"/>
              </a:lnSpc>
              <a:spcBef>
                <a:spcPts val="1400"/>
              </a:spcBef>
              <a:spcAft>
                <a:spcPts val="0"/>
              </a:spcAft>
              <a:buClr>
                <a:srgbClr val="292929"/>
              </a:buClr>
              <a:buSzPts val="2464"/>
              <a:buFont typeface="Arial"/>
              <a:buChar char="•"/>
            </a:pPr>
            <a:r>
              <a:rPr lang="en-US" sz="2464" b="0" i="0" u="none" strike="noStrike" cap="none">
                <a:solidFill>
                  <a:srgbClr val="292929"/>
                </a:solidFill>
                <a:latin typeface="Arial"/>
                <a:ea typeface="Arial"/>
                <a:cs typeface="Arial"/>
                <a:sym typeface="Arial"/>
              </a:rPr>
              <a:t>Data collection methodology:</a:t>
            </a:r>
            <a:endParaRPr sz="2464" b="0" i="0" u="none" strike="noStrike" cap="none">
              <a:solidFill>
                <a:srgbClr val="000000"/>
              </a:solidFill>
              <a:latin typeface="Arial"/>
              <a:ea typeface="Arial"/>
              <a:cs typeface="Arial"/>
              <a:sym typeface="Arial"/>
            </a:endParaRPr>
          </a:p>
          <a:p>
            <a:pPr marL="767880" marR="0" lvl="1" indent="-255960" algn="l" rtl="0">
              <a:lnSpc>
                <a:spcPct val="120000"/>
              </a:lnSpc>
              <a:spcBef>
                <a:spcPts val="1400"/>
              </a:spcBef>
              <a:spcAft>
                <a:spcPts val="0"/>
              </a:spcAft>
              <a:buClr>
                <a:srgbClr val="767171"/>
              </a:buClr>
              <a:buSzPts val="2128"/>
              <a:buFont typeface="Arial"/>
              <a:buChar char="•"/>
            </a:pPr>
            <a:r>
              <a:rPr lang="en-US" sz="2128">
                <a:solidFill>
                  <a:srgbClr val="767171"/>
                </a:solidFill>
              </a:rPr>
              <a:t>H</a:t>
            </a:r>
            <a:r>
              <a:rPr lang="en-US" sz="2128" b="0" i="0" u="none" strike="noStrike" cap="none">
                <a:solidFill>
                  <a:srgbClr val="767171"/>
                </a:solidFill>
                <a:latin typeface="Arial"/>
                <a:ea typeface="Arial"/>
                <a:cs typeface="Arial"/>
                <a:sym typeface="Arial"/>
              </a:rPr>
              <a:t>ow data was collected </a:t>
            </a:r>
            <a:endParaRPr sz="2128" b="0" i="0" u="none" strike="noStrike" cap="none">
              <a:solidFill>
                <a:srgbClr val="000000"/>
              </a:solidFill>
              <a:latin typeface="Arial"/>
              <a:ea typeface="Arial"/>
              <a:cs typeface="Arial"/>
              <a:sym typeface="Arial"/>
            </a:endParaRPr>
          </a:p>
          <a:p>
            <a:pPr marL="255960" marR="0" lvl="0" indent="-255960" algn="l" rtl="0">
              <a:lnSpc>
                <a:spcPct val="120000"/>
              </a:lnSpc>
              <a:spcBef>
                <a:spcPts val="1400"/>
              </a:spcBef>
              <a:spcAft>
                <a:spcPts val="0"/>
              </a:spcAft>
              <a:buClr>
                <a:srgbClr val="292929"/>
              </a:buClr>
              <a:buSzPts val="2464"/>
              <a:buFont typeface="Arial"/>
              <a:buChar char="•"/>
            </a:pPr>
            <a:r>
              <a:rPr lang="en-US" sz="2464" b="0" i="0" u="none" strike="noStrike" cap="none">
                <a:solidFill>
                  <a:srgbClr val="292929"/>
                </a:solidFill>
                <a:latin typeface="Arial"/>
                <a:ea typeface="Arial"/>
                <a:cs typeface="Arial"/>
                <a:sym typeface="Arial"/>
              </a:rPr>
              <a:t>Perform data wrangling</a:t>
            </a:r>
            <a:endParaRPr sz="2464" b="0" i="0" u="none" strike="noStrike" cap="none">
              <a:solidFill>
                <a:srgbClr val="000000"/>
              </a:solidFill>
              <a:latin typeface="Arial"/>
              <a:ea typeface="Arial"/>
              <a:cs typeface="Arial"/>
              <a:sym typeface="Arial"/>
            </a:endParaRPr>
          </a:p>
          <a:p>
            <a:pPr marL="767880" marR="0" lvl="1" indent="-255960" algn="l" rtl="0">
              <a:lnSpc>
                <a:spcPct val="120000"/>
              </a:lnSpc>
              <a:spcBef>
                <a:spcPts val="1400"/>
              </a:spcBef>
              <a:spcAft>
                <a:spcPts val="0"/>
              </a:spcAft>
              <a:buClr>
                <a:srgbClr val="767171"/>
              </a:buClr>
              <a:buSzPts val="2128"/>
              <a:buFont typeface="Arial"/>
              <a:buChar char="•"/>
            </a:pPr>
            <a:r>
              <a:rPr lang="en-US" sz="2128">
                <a:solidFill>
                  <a:srgbClr val="767171"/>
                </a:solidFill>
              </a:rPr>
              <a:t>H</a:t>
            </a:r>
            <a:r>
              <a:rPr lang="en-US" sz="2128" b="0" i="0" u="none" strike="noStrike" cap="none">
                <a:solidFill>
                  <a:srgbClr val="767171"/>
                </a:solidFill>
                <a:latin typeface="Arial"/>
                <a:ea typeface="Arial"/>
                <a:cs typeface="Arial"/>
                <a:sym typeface="Arial"/>
              </a:rPr>
              <a:t>ow data was processed</a:t>
            </a:r>
            <a:endParaRPr sz="2128" b="0" i="0" u="none" strike="noStrike" cap="none">
              <a:solidFill>
                <a:srgbClr val="000000"/>
              </a:solidFill>
              <a:latin typeface="Arial"/>
              <a:ea typeface="Arial"/>
              <a:cs typeface="Arial"/>
              <a:sym typeface="Arial"/>
            </a:endParaRPr>
          </a:p>
          <a:p>
            <a:pPr marL="255960" marR="0" lvl="0" indent="-255960" algn="l" rtl="0">
              <a:lnSpc>
                <a:spcPct val="120000"/>
              </a:lnSpc>
              <a:spcBef>
                <a:spcPts val="1400"/>
              </a:spcBef>
              <a:spcAft>
                <a:spcPts val="0"/>
              </a:spcAft>
              <a:buClr>
                <a:srgbClr val="292929"/>
              </a:buClr>
              <a:buSzPts val="2464"/>
              <a:buFont typeface="Arial"/>
              <a:buChar char="•"/>
            </a:pPr>
            <a:r>
              <a:rPr lang="en-US" sz="2464">
                <a:solidFill>
                  <a:srgbClr val="292929"/>
                </a:solidFill>
              </a:rPr>
              <a:t>E</a:t>
            </a:r>
            <a:r>
              <a:rPr lang="en-US" sz="2464" b="0" i="0" u="none" strike="noStrike" cap="none">
                <a:solidFill>
                  <a:srgbClr val="292929"/>
                </a:solidFill>
                <a:latin typeface="Arial"/>
                <a:ea typeface="Arial"/>
                <a:cs typeface="Arial"/>
                <a:sym typeface="Arial"/>
              </a:rPr>
              <a:t>xploratory data analysis (EDA) using visualization and SQL</a:t>
            </a:r>
            <a:endParaRPr sz="2464" b="0" i="0" u="none" strike="noStrike" cap="none">
              <a:solidFill>
                <a:srgbClr val="000000"/>
              </a:solidFill>
              <a:latin typeface="Arial"/>
              <a:ea typeface="Arial"/>
              <a:cs typeface="Arial"/>
              <a:sym typeface="Arial"/>
            </a:endParaRPr>
          </a:p>
          <a:p>
            <a:pPr marL="255960" marR="0" lvl="0" indent="-255960" algn="l" rtl="0">
              <a:lnSpc>
                <a:spcPct val="120000"/>
              </a:lnSpc>
              <a:spcBef>
                <a:spcPts val="1400"/>
              </a:spcBef>
              <a:spcAft>
                <a:spcPts val="0"/>
              </a:spcAft>
              <a:buClr>
                <a:srgbClr val="292929"/>
              </a:buClr>
              <a:buSzPts val="2464"/>
              <a:buFont typeface="Arial"/>
              <a:buChar char="•"/>
            </a:pPr>
            <a:r>
              <a:rPr lang="en-US" sz="2464">
                <a:solidFill>
                  <a:srgbClr val="292929"/>
                </a:solidFill>
              </a:rPr>
              <a:t>I</a:t>
            </a:r>
            <a:r>
              <a:rPr lang="en-US" sz="2464" b="0" i="0" u="none" strike="noStrike" cap="none">
                <a:solidFill>
                  <a:srgbClr val="292929"/>
                </a:solidFill>
                <a:latin typeface="Arial"/>
                <a:ea typeface="Arial"/>
                <a:cs typeface="Arial"/>
                <a:sym typeface="Arial"/>
              </a:rPr>
              <a:t>nteractive visual analytics using Folium and Plotly Dash</a:t>
            </a:r>
            <a:endParaRPr sz="2464" b="0" i="0" u="none" strike="noStrike" cap="none">
              <a:solidFill>
                <a:srgbClr val="000000"/>
              </a:solidFill>
              <a:latin typeface="Arial"/>
              <a:ea typeface="Arial"/>
              <a:cs typeface="Arial"/>
              <a:sym typeface="Arial"/>
            </a:endParaRPr>
          </a:p>
          <a:p>
            <a:pPr marL="255960" marR="0" lvl="0" indent="-255960" algn="l" rtl="0">
              <a:lnSpc>
                <a:spcPct val="120000"/>
              </a:lnSpc>
              <a:spcBef>
                <a:spcPts val="1400"/>
              </a:spcBef>
              <a:spcAft>
                <a:spcPts val="0"/>
              </a:spcAft>
              <a:buClr>
                <a:srgbClr val="292929"/>
              </a:buClr>
              <a:buSzPts val="2464"/>
              <a:buFont typeface="Arial"/>
              <a:buChar char="•"/>
            </a:pPr>
            <a:r>
              <a:rPr lang="en-US" sz="2464">
                <a:solidFill>
                  <a:srgbClr val="292929"/>
                </a:solidFill>
              </a:rPr>
              <a:t>P</a:t>
            </a:r>
            <a:r>
              <a:rPr lang="en-US" sz="2464" b="0" i="0" u="none" strike="noStrike" cap="none">
                <a:solidFill>
                  <a:srgbClr val="292929"/>
                </a:solidFill>
                <a:latin typeface="Arial"/>
                <a:ea typeface="Arial"/>
                <a:cs typeface="Arial"/>
                <a:sym typeface="Arial"/>
              </a:rPr>
              <a:t>redictive analysis using classification models</a:t>
            </a:r>
            <a:endParaRPr sz="2464" b="0" i="0" u="none" strike="noStrike" cap="none">
              <a:solidFill>
                <a:srgbClr val="000000"/>
              </a:solidFill>
              <a:latin typeface="Arial"/>
              <a:ea typeface="Arial"/>
              <a:cs typeface="Arial"/>
              <a:sym typeface="Arial"/>
            </a:endParaRPr>
          </a:p>
          <a:p>
            <a:pPr marL="0" marR="0" lvl="0" indent="0" algn="l" rtl="0">
              <a:lnSpc>
                <a:spcPct val="120000"/>
              </a:lnSpc>
              <a:spcBef>
                <a:spcPts val="1400"/>
              </a:spcBef>
              <a:spcAft>
                <a:spcPts val="0"/>
              </a:spcAft>
              <a:buNone/>
            </a:pPr>
            <a:endParaRPr sz="2464" b="0" i="0" u="none" strike="noStrike" cap="none">
              <a:solidFill>
                <a:srgbClr val="000000"/>
              </a:solidFill>
              <a:latin typeface="Arial"/>
              <a:ea typeface="Arial"/>
              <a:cs typeface="Arial"/>
              <a:sym typeface="Arial"/>
            </a:endParaRPr>
          </a:p>
          <a:p>
            <a:pPr marL="0" marR="0" lvl="0" indent="0" algn="l" rtl="0">
              <a:lnSpc>
                <a:spcPct val="100000"/>
              </a:lnSpc>
              <a:spcBef>
                <a:spcPts val="1400"/>
              </a:spcBef>
              <a:spcAft>
                <a:spcPts val="0"/>
              </a:spcAft>
              <a:buNone/>
            </a:pPr>
            <a:endParaRPr sz="616" b="0" i="0" u="none" strike="noStrike" cap="none">
              <a:solidFill>
                <a:srgbClr val="000000"/>
              </a:solidFill>
              <a:latin typeface="Arial"/>
              <a:ea typeface="Arial"/>
              <a:cs typeface="Arial"/>
              <a:sym typeface="Arial"/>
            </a:endParaRPr>
          </a:p>
          <a:p>
            <a:pPr marL="0" marR="0" lvl="0" indent="0" algn="l" rtl="0">
              <a:lnSpc>
                <a:spcPct val="100000"/>
              </a:lnSpc>
              <a:spcBef>
                <a:spcPts val="1400"/>
              </a:spcBef>
              <a:spcAft>
                <a:spcPts val="0"/>
              </a:spcAft>
              <a:buNone/>
            </a:pPr>
            <a:endParaRPr sz="616" b="0" i="0" u="none" strike="noStrike" cap="none">
              <a:solidFill>
                <a:srgbClr val="000000"/>
              </a:solidFill>
              <a:latin typeface="Arial"/>
              <a:ea typeface="Arial"/>
              <a:cs typeface="Arial"/>
              <a:sym typeface="Arial"/>
            </a:endParaRPr>
          </a:p>
          <a:p>
            <a:pPr marL="0" marR="0" lvl="0" indent="0" algn="l" rtl="0">
              <a:lnSpc>
                <a:spcPct val="100000"/>
              </a:lnSpc>
              <a:spcBef>
                <a:spcPts val="1400"/>
              </a:spcBef>
              <a:spcAft>
                <a:spcPts val="0"/>
              </a:spcAft>
              <a:buNone/>
            </a:pPr>
            <a:endParaRPr sz="616" b="0" i="0" u="none" strike="noStrike" cap="none">
              <a:solidFill>
                <a:srgbClr val="000000"/>
              </a:solidFill>
              <a:latin typeface="Arial"/>
              <a:ea typeface="Arial"/>
              <a:cs typeface="Arial"/>
              <a:sym typeface="Arial"/>
            </a:endParaRPr>
          </a:p>
          <a:p>
            <a:pPr marL="0" marR="0" lvl="0" indent="0" algn="l" rtl="0">
              <a:lnSpc>
                <a:spcPct val="100000"/>
              </a:lnSpc>
              <a:spcBef>
                <a:spcPts val="1400"/>
              </a:spcBef>
              <a:spcAft>
                <a:spcPts val="0"/>
              </a:spcAft>
              <a:buNone/>
            </a:pPr>
            <a:endParaRPr sz="616" b="0" i="0" u="none" strike="noStrike" cap="none">
              <a:solidFill>
                <a:srgbClr val="000000"/>
              </a:solidFill>
              <a:latin typeface="Arial"/>
              <a:ea typeface="Arial"/>
              <a:cs typeface="Arial"/>
              <a:sym typeface="Arial"/>
            </a:endParaRPr>
          </a:p>
        </p:txBody>
      </p:sp>
      <p:sp>
        <p:nvSpPr>
          <p:cNvPr id="361" name="Google Shape;361;p6"/>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Methodology</a:t>
            </a:r>
            <a:endParaRPr sz="3400" b="0" i="0" u="none" strike="noStrike" cap="none">
              <a:solidFill>
                <a:srgbClr val="000000"/>
              </a:solidFill>
              <a:latin typeface="Arial"/>
              <a:ea typeface="Arial"/>
              <a:cs typeface="Arial"/>
              <a:sym typeface="Arial"/>
            </a:endParaRPr>
          </a:p>
        </p:txBody>
      </p:sp>
      <p:sp>
        <p:nvSpPr>
          <p:cNvPr id="362" name="Google Shape;362;p6"/>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6"/>
        <p:cNvGrpSpPr/>
        <p:nvPr/>
      </p:nvGrpSpPr>
      <p:grpSpPr>
        <a:xfrm>
          <a:off x="0" y="0"/>
          <a:ext cx="0" cy="0"/>
          <a:chOff x="0" y="0"/>
          <a:chExt cx="0" cy="0"/>
        </a:xfrm>
      </p:grpSpPr>
      <p:sp>
        <p:nvSpPr>
          <p:cNvPr id="367" name="Google Shape;367;p7"/>
          <p:cNvSpPr txBox="1">
            <a:spLocks noGrp="1"/>
          </p:cNvSpPr>
          <p:nvPr>
            <p:ph type="body" idx="4294967295"/>
          </p:nvPr>
        </p:nvSpPr>
        <p:spPr>
          <a:xfrm>
            <a:off x="464163" y="1802875"/>
            <a:ext cx="11127000" cy="4854600"/>
          </a:xfrm>
          <a:prstGeom prst="rect">
            <a:avLst/>
          </a:prstGeom>
          <a:noFill/>
          <a:ln>
            <a:noFill/>
          </a:ln>
        </p:spPr>
        <p:txBody>
          <a:bodyPr spcFirstLastPara="1" wrap="square" lIns="90000" tIns="45000" rIns="90000" bIns="450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2200">
                <a:solidFill>
                  <a:srgbClr val="292929"/>
                </a:solidFill>
              </a:rPr>
              <a:t>Data collection for this analysis primarily involved harnessing publicly available data sets detailing SpaceX launches. The data were obtained from two separate csv files stored on a cloud server. Here's a summary of the process:</a:t>
            </a:r>
            <a:endParaRPr sz="2200">
              <a:solidFill>
                <a:srgbClr val="292929"/>
              </a:solidFill>
            </a:endParaRPr>
          </a:p>
          <a:p>
            <a:pPr marL="457200" lvl="0" indent="0" algn="l" rtl="0">
              <a:lnSpc>
                <a:spcPct val="115000"/>
              </a:lnSpc>
              <a:spcBef>
                <a:spcPts val="1200"/>
              </a:spcBef>
              <a:spcAft>
                <a:spcPts val="0"/>
              </a:spcAft>
              <a:buNone/>
            </a:pPr>
            <a:r>
              <a:rPr lang="en-US" sz="2200" b="1">
                <a:solidFill>
                  <a:srgbClr val="292929"/>
                </a:solidFill>
              </a:rPr>
              <a:t>Identify Data Sources:</a:t>
            </a:r>
            <a:r>
              <a:rPr lang="en-US" sz="2200">
                <a:solidFill>
                  <a:srgbClr val="292929"/>
                </a:solidFill>
              </a:rPr>
              <a:t> We started by identifying reliable data sources that provide comprehensive information about SpaceX launches. We focused on finding data sources that included a multitude of variables such as launch site, payload mass, orbit, mission outcome, and first-stage landing status.</a:t>
            </a:r>
            <a:endParaRPr sz="2200">
              <a:solidFill>
                <a:srgbClr val="292929"/>
              </a:solidFill>
            </a:endParaRPr>
          </a:p>
          <a:p>
            <a:pPr marL="457200" lvl="0" indent="0" algn="l" rtl="0">
              <a:lnSpc>
                <a:spcPct val="115000"/>
              </a:lnSpc>
              <a:spcBef>
                <a:spcPts val="1200"/>
              </a:spcBef>
              <a:spcAft>
                <a:spcPts val="0"/>
              </a:spcAft>
              <a:buNone/>
            </a:pPr>
            <a:r>
              <a:rPr lang="en-US" sz="2200" b="1">
                <a:solidFill>
                  <a:srgbClr val="292929"/>
                </a:solidFill>
              </a:rPr>
              <a:t>Data Retrieval:</a:t>
            </a:r>
            <a:r>
              <a:rPr lang="en-US" sz="2200">
                <a:solidFill>
                  <a:srgbClr val="292929"/>
                </a:solidFill>
              </a:rPr>
              <a:t> The data were obtained from two CSV files stored in a cloud-based storage service. These files contain an extensive record of SpaceX launches over the years. The first CSV file contains data about each launch, and the second one has detailed specifications of the launched missions.</a:t>
            </a:r>
            <a:endParaRPr sz="2200">
              <a:solidFill>
                <a:srgbClr val="292929"/>
              </a:solidFill>
            </a:endParaRPr>
          </a:p>
          <a:p>
            <a:pPr marL="457200" lvl="0" indent="0" algn="l" rtl="0">
              <a:lnSpc>
                <a:spcPct val="115000"/>
              </a:lnSpc>
              <a:spcBef>
                <a:spcPts val="1200"/>
              </a:spcBef>
              <a:spcAft>
                <a:spcPts val="0"/>
              </a:spcAft>
              <a:buNone/>
            </a:pPr>
            <a:endParaRPr sz="1100">
              <a:solidFill>
                <a:schemeClr val="dk1"/>
              </a:solidFill>
            </a:endParaRPr>
          </a:p>
          <a:p>
            <a:pPr marL="0" marR="0" lvl="0" indent="0" algn="l" rtl="0">
              <a:lnSpc>
                <a:spcPct val="100000"/>
              </a:lnSpc>
              <a:spcBef>
                <a:spcPts val="1400"/>
              </a:spcBef>
              <a:spcAft>
                <a:spcPts val="0"/>
              </a:spcAft>
              <a:buClr>
                <a:srgbClr val="292929"/>
              </a:buClr>
              <a:buSzPts val="2200"/>
              <a:buFont typeface="Arial"/>
              <a:buNone/>
            </a:pPr>
            <a:endParaRPr sz="2200">
              <a:solidFill>
                <a:srgbClr val="292929"/>
              </a:solidFill>
            </a:endParaRPr>
          </a:p>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8" name="Google Shape;368;p7"/>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Data Collection</a:t>
            </a:r>
            <a:endParaRPr sz="3400" b="0" i="0" u="none" strike="noStrike" cap="none">
              <a:solidFill>
                <a:srgbClr val="000000"/>
              </a:solidFill>
              <a:latin typeface="Arial"/>
              <a:ea typeface="Arial"/>
              <a:cs typeface="Arial"/>
              <a:sym typeface="Arial"/>
            </a:endParaRPr>
          </a:p>
        </p:txBody>
      </p:sp>
      <p:sp>
        <p:nvSpPr>
          <p:cNvPr id="369" name="Google Shape;369;p7"/>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24b54dfaa98_0_1"/>
          <p:cNvSpPr txBox="1"/>
          <p:nvPr/>
        </p:nvSpPr>
        <p:spPr>
          <a:xfrm>
            <a:off x="434550" y="840175"/>
            <a:ext cx="7128000" cy="5176500"/>
          </a:xfrm>
          <a:prstGeom prst="rect">
            <a:avLst/>
          </a:prstGeom>
          <a:noFill/>
          <a:ln>
            <a:noFill/>
          </a:ln>
        </p:spPr>
        <p:txBody>
          <a:bodyPr spcFirstLastPara="1" wrap="square" lIns="91425" tIns="91425" rIns="91425" bIns="91425" anchor="t" anchorCtr="0">
            <a:spAutoFit/>
          </a:bodyPr>
          <a:lstStyle/>
          <a:p>
            <a:pPr marL="457200" lvl="0" indent="0" algn="just" rtl="0">
              <a:lnSpc>
                <a:spcPct val="115000"/>
              </a:lnSpc>
              <a:spcBef>
                <a:spcPts val="1200"/>
              </a:spcBef>
              <a:spcAft>
                <a:spcPts val="0"/>
              </a:spcAft>
              <a:buNone/>
            </a:pPr>
            <a:r>
              <a:rPr lang="en-US" sz="1500" b="1">
                <a:solidFill>
                  <a:srgbClr val="292929"/>
                </a:solidFill>
              </a:rPr>
              <a:t>Data Loading:</a:t>
            </a:r>
            <a:r>
              <a:rPr lang="en-US" sz="1500">
                <a:solidFill>
                  <a:srgbClr val="292929"/>
                </a:solidFill>
              </a:rPr>
              <a:t> We used Python programming language with its powerful libraries like pandas for loading the CSV data into a structured format that we can work with. This allowed us to convert the data into dataframes, a tabular data structure that's easy to manipulate and analyze.</a:t>
            </a:r>
            <a:endParaRPr sz="1500">
              <a:solidFill>
                <a:srgbClr val="292929"/>
              </a:solidFill>
            </a:endParaRPr>
          </a:p>
          <a:p>
            <a:pPr marL="457200" lvl="0" indent="0" algn="just" rtl="0">
              <a:lnSpc>
                <a:spcPct val="115000"/>
              </a:lnSpc>
              <a:spcBef>
                <a:spcPts val="1200"/>
              </a:spcBef>
              <a:spcAft>
                <a:spcPts val="0"/>
              </a:spcAft>
              <a:buNone/>
            </a:pPr>
            <a:r>
              <a:rPr lang="en-US" sz="1500" b="1">
                <a:solidFill>
                  <a:srgbClr val="292929"/>
                </a:solidFill>
              </a:rPr>
              <a:t>Data Joining:</a:t>
            </a:r>
            <a:r>
              <a:rPr lang="en-US" sz="1500">
                <a:solidFill>
                  <a:srgbClr val="292929"/>
                </a:solidFill>
              </a:rPr>
              <a:t> Since the data were split across two files, we had to join these two data sets based on common attributes. This merging process ensured that we had a comprehensive data set containing all relevant variables.</a:t>
            </a:r>
            <a:endParaRPr sz="1500">
              <a:solidFill>
                <a:srgbClr val="292929"/>
              </a:solidFill>
            </a:endParaRPr>
          </a:p>
          <a:p>
            <a:pPr marL="457200" lvl="0" indent="0" algn="just" rtl="0">
              <a:lnSpc>
                <a:spcPct val="115000"/>
              </a:lnSpc>
              <a:spcBef>
                <a:spcPts val="1200"/>
              </a:spcBef>
              <a:spcAft>
                <a:spcPts val="0"/>
              </a:spcAft>
              <a:buNone/>
            </a:pPr>
            <a:r>
              <a:rPr lang="en-US" sz="1500" b="1">
                <a:solidFill>
                  <a:srgbClr val="292929"/>
                </a:solidFill>
              </a:rPr>
              <a:t>Data Cleaning:</a:t>
            </a:r>
            <a:r>
              <a:rPr lang="en-US" sz="1500">
                <a:solidFill>
                  <a:srgbClr val="292929"/>
                </a:solidFill>
              </a:rPr>
              <a:t> Once the data sets were combined, we performed preliminary data cleaning to handle any missing, incorrect, or irrelevant entries. This step was crucial to ensure the accuracy and reliability of our subsequent analysis.</a:t>
            </a:r>
            <a:endParaRPr sz="1500">
              <a:solidFill>
                <a:srgbClr val="292929"/>
              </a:solidFill>
            </a:endParaRPr>
          </a:p>
          <a:p>
            <a:pPr marL="457200" lvl="0" indent="0" algn="just" rtl="0">
              <a:lnSpc>
                <a:spcPct val="115000"/>
              </a:lnSpc>
              <a:spcBef>
                <a:spcPts val="1200"/>
              </a:spcBef>
              <a:spcAft>
                <a:spcPts val="0"/>
              </a:spcAft>
              <a:buNone/>
            </a:pPr>
            <a:endParaRPr sz="2200">
              <a:solidFill>
                <a:srgbClr val="292929"/>
              </a:solidFill>
            </a:endParaRPr>
          </a:p>
          <a:p>
            <a:pPr marL="0" lvl="0" indent="0" algn="just" rtl="0">
              <a:spcBef>
                <a:spcPts val="1200"/>
              </a:spcBef>
              <a:spcAft>
                <a:spcPts val="0"/>
              </a:spcAft>
              <a:buClr>
                <a:schemeClr val="dk1"/>
              </a:buClr>
              <a:buSzPts val="1100"/>
              <a:buFont typeface="Arial"/>
              <a:buNone/>
            </a:pPr>
            <a:r>
              <a:rPr lang="en-US" sz="1900">
                <a:solidFill>
                  <a:srgbClr val="292929"/>
                </a:solidFill>
              </a:rPr>
              <a:t>[Identify Data Sources] --&gt; [Data Retrieval] --&gt; [Data Loading] --&gt; [Data Joining] --&gt;[Data Cleaning]</a:t>
            </a:r>
            <a:endParaRPr sz="1900">
              <a:solidFill>
                <a:srgbClr val="292929"/>
              </a:solidFill>
            </a:endParaRPr>
          </a:p>
          <a:p>
            <a:pPr marL="0" lvl="0" indent="0" algn="just" rtl="0">
              <a:spcBef>
                <a:spcPts val="0"/>
              </a:spcBef>
              <a:spcAft>
                <a:spcPts val="0"/>
              </a:spcAft>
              <a:buNone/>
            </a:pPr>
            <a:endParaRPr b="1"/>
          </a:p>
        </p:txBody>
      </p:sp>
      <p:pic>
        <p:nvPicPr>
          <p:cNvPr id="376" name="Google Shape;376;g24b54dfaa98_0_1"/>
          <p:cNvPicPr preferRelativeResize="0"/>
          <p:nvPr/>
        </p:nvPicPr>
        <p:blipFill>
          <a:blip r:embed="rId3">
            <a:alphaModFix/>
          </a:blip>
          <a:stretch>
            <a:fillRect/>
          </a:stretch>
        </p:blipFill>
        <p:spPr>
          <a:xfrm>
            <a:off x="7882050" y="840175"/>
            <a:ext cx="4005150" cy="533545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0"/>
        <p:cNvGrpSpPr/>
        <p:nvPr/>
      </p:nvGrpSpPr>
      <p:grpSpPr>
        <a:xfrm>
          <a:off x="0" y="0"/>
          <a:ext cx="0" cy="0"/>
          <a:chOff x="0" y="0"/>
          <a:chExt cx="0" cy="0"/>
        </a:xfrm>
      </p:grpSpPr>
      <p:sp>
        <p:nvSpPr>
          <p:cNvPr id="381" name="Google Shape;381;p8"/>
          <p:cNvSpPr txBox="1">
            <a:spLocks noGrp="1"/>
          </p:cNvSpPr>
          <p:nvPr>
            <p:ph type="body" idx="4294967295"/>
          </p:nvPr>
        </p:nvSpPr>
        <p:spPr>
          <a:xfrm>
            <a:off x="820800" y="1800350"/>
            <a:ext cx="10556100" cy="456900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15000"/>
              </a:lnSpc>
              <a:spcBef>
                <a:spcPts val="1200"/>
              </a:spcBef>
              <a:spcAft>
                <a:spcPts val="0"/>
              </a:spcAft>
              <a:buNone/>
            </a:pPr>
            <a:endParaRPr sz="5944">
              <a:solidFill>
                <a:srgbClr val="292929"/>
              </a:solidFill>
            </a:endParaRPr>
          </a:p>
          <a:p>
            <a:pPr marL="457200" marR="0" lvl="0" indent="0" algn="l" rtl="0">
              <a:lnSpc>
                <a:spcPct val="115000"/>
              </a:lnSpc>
              <a:spcBef>
                <a:spcPts val="1200"/>
              </a:spcBef>
              <a:spcAft>
                <a:spcPts val="0"/>
              </a:spcAft>
              <a:buNone/>
            </a:pPr>
            <a:r>
              <a:rPr lang="en-US" sz="5944" b="1">
                <a:solidFill>
                  <a:srgbClr val="292929"/>
                </a:solidFill>
              </a:rPr>
              <a:t>API Exploration:</a:t>
            </a:r>
            <a:r>
              <a:rPr lang="en-US" sz="5944">
                <a:solidFill>
                  <a:srgbClr val="292929"/>
                </a:solidFill>
              </a:rPr>
              <a:t> We first familiarized ourselves with the SpaceX REST API's documentation. This step was crucial for understanding the structure of the API, the endpoints available, and the data accessible through each endpoint.</a:t>
            </a:r>
            <a:endParaRPr sz="5944">
              <a:solidFill>
                <a:srgbClr val="292929"/>
              </a:solidFill>
            </a:endParaRPr>
          </a:p>
          <a:p>
            <a:pPr marL="457200" marR="0" lvl="0" indent="0" algn="l" rtl="0">
              <a:lnSpc>
                <a:spcPct val="115000"/>
              </a:lnSpc>
              <a:spcBef>
                <a:spcPts val="1200"/>
              </a:spcBef>
              <a:spcAft>
                <a:spcPts val="0"/>
              </a:spcAft>
              <a:buNone/>
            </a:pPr>
            <a:r>
              <a:rPr lang="en-US" sz="5944" b="1">
                <a:solidFill>
                  <a:srgbClr val="292929"/>
                </a:solidFill>
              </a:rPr>
              <a:t>API Calls:</a:t>
            </a:r>
            <a:r>
              <a:rPr lang="en-US" sz="5944">
                <a:solidFill>
                  <a:srgbClr val="292929"/>
                </a:solidFill>
              </a:rPr>
              <a:t> We then made REST calls to specific endpoints of the API using the GET method. These calls were programmed in Python using the requests library, which allows for sending HTTP requests in Python.</a:t>
            </a:r>
            <a:endParaRPr sz="5944">
              <a:solidFill>
                <a:srgbClr val="292929"/>
              </a:solidFill>
            </a:endParaRPr>
          </a:p>
          <a:p>
            <a:pPr marL="457200" marR="0" lvl="0" indent="0" algn="l" rtl="0">
              <a:lnSpc>
                <a:spcPct val="115000"/>
              </a:lnSpc>
              <a:spcBef>
                <a:spcPts val="1200"/>
              </a:spcBef>
              <a:spcAft>
                <a:spcPts val="0"/>
              </a:spcAft>
              <a:buNone/>
            </a:pPr>
            <a:r>
              <a:rPr lang="en-US" sz="5944" b="1">
                <a:solidFill>
                  <a:srgbClr val="292929"/>
                </a:solidFill>
              </a:rPr>
              <a:t>Data Extraction:</a:t>
            </a:r>
            <a:r>
              <a:rPr lang="en-US" sz="5944">
                <a:solidFill>
                  <a:srgbClr val="292929"/>
                </a:solidFill>
              </a:rPr>
              <a:t> The API responses, usually in JSON format, were then parsed and the necessary data extracted. We specifically looked for data corresponding to launch site, payload mass, orbit, mission outcome, and first-stage landing status.</a:t>
            </a:r>
            <a:endParaRPr sz="5944">
              <a:solidFill>
                <a:srgbClr val="292929"/>
              </a:solidFill>
            </a:endParaRPr>
          </a:p>
          <a:p>
            <a:pPr marL="457200" marR="0" lvl="0" indent="0" algn="l" rtl="0">
              <a:lnSpc>
                <a:spcPct val="115000"/>
              </a:lnSpc>
              <a:spcBef>
                <a:spcPts val="1200"/>
              </a:spcBef>
              <a:spcAft>
                <a:spcPts val="0"/>
              </a:spcAft>
              <a:buNone/>
            </a:pPr>
            <a:r>
              <a:rPr lang="en-US" sz="5944" b="1">
                <a:solidFill>
                  <a:srgbClr val="292929"/>
                </a:solidFill>
              </a:rPr>
              <a:t>Data Conversion: </a:t>
            </a:r>
            <a:r>
              <a:rPr lang="en-US" sz="5944">
                <a:solidFill>
                  <a:srgbClr val="292929"/>
                </a:solidFill>
              </a:rPr>
              <a:t>The extracted data were then converted into a structured format, like pandas dataframes, for further analysis.</a:t>
            </a:r>
            <a:endParaRPr sz="5944">
              <a:solidFill>
                <a:srgbClr val="292929"/>
              </a:solidFill>
            </a:endParaRPr>
          </a:p>
          <a:p>
            <a:pPr marL="457200" marR="0" lvl="0" indent="0" algn="l" rtl="0">
              <a:lnSpc>
                <a:spcPct val="115000"/>
              </a:lnSpc>
              <a:spcBef>
                <a:spcPts val="1200"/>
              </a:spcBef>
              <a:spcAft>
                <a:spcPts val="0"/>
              </a:spcAft>
              <a:buNone/>
            </a:pPr>
            <a:r>
              <a:rPr lang="en-US" sz="5944" b="1">
                <a:solidFill>
                  <a:srgbClr val="292929"/>
                </a:solidFill>
              </a:rPr>
              <a:t>Data Cleaning:</a:t>
            </a:r>
            <a:r>
              <a:rPr lang="en-US" sz="5944">
                <a:solidFill>
                  <a:srgbClr val="292929"/>
                </a:solidFill>
              </a:rPr>
              <a:t> Lastly, we conducted a data cleaning process to handle any inconsistencies, missing values, or outliers in the data.</a:t>
            </a:r>
            <a:endParaRPr sz="5944">
              <a:solidFill>
                <a:srgbClr val="292929"/>
              </a:solidFill>
            </a:endParaRPr>
          </a:p>
          <a:p>
            <a:pPr marL="457200" marR="0" lvl="0" indent="0" algn="l" rtl="0">
              <a:lnSpc>
                <a:spcPct val="115000"/>
              </a:lnSpc>
              <a:spcBef>
                <a:spcPts val="1200"/>
              </a:spcBef>
              <a:spcAft>
                <a:spcPts val="0"/>
              </a:spcAft>
              <a:buNone/>
            </a:pPr>
            <a:r>
              <a:rPr lang="en-US" sz="5944" u="sng">
                <a:solidFill>
                  <a:schemeClr val="hlink"/>
                </a:solidFill>
                <a:hlinkClick r:id="rId4"/>
              </a:rPr>
              <a:t>Github</a:t>
            </a:r>
            <a:endParaRPr sz="5944">
              <a:solidFill>
                <a:srgbClr val="292929"/>
              </a:solidFill>
            </a:endParaRPr>
          </a:p>
          <a:p>
            <a:pPr marL="457200" marR="0" lvl="0" indent="0" algn="l" rtl="0">
              <a:lnSpc>
                <a:spcPct val="115000"/>
              </a:lnSpc>
              <a:spcBef>
                <a:spcPts val="1200"/>
              </a:spcBef>
              <a:spcAft>
                <a:spcPts val="0"/>
              </a:spcAft>
              <a:buNone/>
            </a:pPr>
            <a:endParaRPr sz="2200" b="1">
              <a:solidFill>
                <a:srgbClr val="292929"/>
              </a:solidFill>
            </a:endParaRPr>
          </a:p>
          <a:p>
            <a:pPr marL="457200" marR="0" lvl="0" indent="0" algn="l" rtl="0">
              <a:lnSpc>
                <a:spcPct val="115000"/>
              </a:lnSpc>
              <a:spcBef>
                <a:spcPts val="1200"/>
              </a:spcBef>
              <a:spcAft>
                <a:spcPts val="0"/>
              </a:spcAft>
              <a:buNone/>
            </a:pPr>
            <a:r>
              <a:rPr lang="en-US" sz="5100">
                <a:solidFill>
                  <a:schemeClr val="dk1"/>
                </a:solidFill>
                <a:latin typeface="Roboto Mono"/>
                <a:ea typeface="Roboto Mono"/>
                <a:cs typeface="Roboto Mono"/>
                <a:sym typeface="Roboto Mono"/>
              </a:rPr>
              <a:t>[API Exploration] --&gt; [API Calls] --&gt; [Data Extraction] --&gt; [Data Conversion] --&gt; [Data Cleaning]</a:t>
            </a:r>
            <a:endParaRPr sz="5100">
              <a:solidFill>
                <a:schemeClr val="dk1"/>
              </a:solidFill>
              <a:latin typeface="Roboto Mono"/>
              <a:ea typeface="Roboto Mono"/>
              <a:cs typeface="Roboto Mono"/>
              <a:sym typeface="Roboto Mono"/>
            </a:endParaRPr>
          </a:p>
          <a:p>
            <a:pPr marL="457200" marR="0" lvl="0" indent="0" algn="l" rtl="0">
              <a:lnSpc>
                <a:spcPct val="115000"/>
              </a:lnSpc>
              <a:spcBef>
                <a:spcPts val="1200"/>
              </a:spcBef>
              <a:spcAft>
                <a:spcPts val="0"/>
              </a:spcAft>
              <a:buClr>
                <a:schemeClr val="dk1"/>
              </a:buClr>
              <a:buSzPct val="100000"/>
              <a:buFont typeface="Arial"/>
              <a:buNone/>
            </a:pPr>
            <a:endParaRPr sz="1100">
              <a:solidFill>
                <a:schemeClr val="dk1"/>
              </a:solidFill>
            </a:endParaRPr>
          </a:p>
          <a:p>
            <a:pPr marL="457200" marR="0" lvl="0" indent="0" algn="l" rtl="0">
              <a:lnSpc>
                <a:spcPct val="115000"/>
              </a:lnSpc>
              <a:spcBef>
                <a:spcPts val="1200"/>
              </a:spcBef>
              <a:spcAft>
                <a:spcPts val="0"/>
              </a:spcAft>
              <a:buNone/>
            </a:pPr>
            <a:endParaRPr sz="2200" b="1">
              <a:solidFill>
                <a:srgbClr val="292929"/>
              </a:solidFill>
            </a:endParaRPr>
          </a:p>
          <a:p>
            <a:pPr marL="457200" marR="0" lvl="0" indent="0" algn="l" rtl="0">
              <a:lnSpc>
                <a:spcPct val="115000"/>
              </a:lnSpc>
              <a:spcBef>
                <a:spcPts val="1200"/>
              </a:spcBef>
              <a:spcAft>
                <a:spcPts val="0"/>
              </a:spcAft>
              <a:buNone/>
            </a:pPr>
            <a:endParaRPr sz="2200" b="1">
              <a:solidFill>
                <a:srgbClr val="292929"/>
              </a:solidFill>
            </a:endParaRPr>
          </a:p>
          <a:p>
            <a:pPr marL="457200" marR="0" lvl="0" indent="0" algn="l" rtl="0">
              <a:lnSpc>
                <a:spcPct val="115000"/>
              </a:lnSpc>
              <a:spcBef>
                <a:spcPts val="1200"/>
              </a:spcBef>
              <a:spcAft>
                <a:spcPts val="0"/>
              </a:spcAft>
              <a:buNone/>
            </a:pPr>
            <a:endParaRPr sz="2200" b="1">
              <a:solidFill>
                <a:srgbClr val="292929"/>
              </a:solidFill>
            </a:endParaRPr>
          </a:p>
          <a:p>
            <a:pPr marL="457200" marR="0" lvl="0" indent="0" algn="l" rtl="0">
              <a:lnSpc>
                <a:spcPct val="115000"/>
              </a:lnSpc>
              <a:spcBef>
                <a:spcPts val="1200"/>
              </a:spcBef>
              <a:spcAft>
                <a:spcPts val="1200"/>
              </a:spcAft>
              <a:buNone/>
            </a:pPr>
            <a:endParaRPr sz="2200" b="1">
              <a:solidFill>
                <a:srgbClr val="292929"/>
              </a:solidFill>
            </a:endParaRPr>
          </a:p>
        </p:txBody>
      </p:sp>
      <p:sp>
        <p:nvSpPr>
          <p:cNvPr id="382" name="Google Shape;382;p8"/>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Data Collection</a:t>
            </a:r>
            <a:endParaRPr sz="3400" b="0" i="0" u="none" strike="noStrike" cap="none">
              <a:solidFill>
                <a:srgbClr val="000000"/>
              </a:solidFill>
              <a:latin typeface="Arial"/>
              <a:ea typeface="Arial"/>
              <a:cs typeface="Arial"/>
              <a:sym typeface="Arial"/>
            </a:endParaRPr>
          </a:p>
        </p:txBody>
      </p:sp>
      <p:sp>
        <p:nvSpPr>
          <p:cNvPr id="383" name="Google Shape;383;p8"/>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7"/>
        <p:cNvGrpSpPr/>
        <p:nvPr/>
      </p:nvGrpSpPr>
      <p:grpSpPr>
        <a:xfrm>
          <a:off x="0" y="0"/>
          <a:ext cx="0" cy="0"/>
          <a:chOff x="0" y="0"/>
          <a:chExt cx="0" cy="0"/>
        </a:xfrm>
      </p:grpSpPr>
      <p:sp>
        <p:nvSpPr>
          <p:cNvPr id="388" name="Google Shape;388;p10"/>
          <p:cNvSpPr txBox="1">
            <a:spLocks noGrp="1"/>
          </p:cNvSpPr>
          <p:nvPr>
            <p:ph type="body" idx="4294967295"/>
          </p:nvPr>
        </p:nvSpPr>
        <p:spPr>
          <a:xfrm>
            <a:off x="770052" y="1825550"/>
            <a:ext cx="10515300" cy="4350900"/>
          </a:xfrm>
          <a:prstGeom prst="rect">
            <a:avLst/>
          </a:prstGeom>
          <a:noFill/>
          <a:ln>
            <a:noFill/>
          </a:ln>
        </p:spPr>
        <p:txBody>
          <a:bodyPr spcFirstLastPara="1" wrap="square" lIns="90000" tIns="45000" rIns="90000" bIns="45000" anchor="t" anchorCtr="0">
            <a:noAutofit/>
          </a:bodyPr>
          <a:lstStyle/>
          <a:p>
            <a:pPr marL="457200" lvl="0" indent="0" algn="l" rtl="0">
              <a:lnSpc>
                <a:spcPct val="115000"/>
              </a:lnSpc>
              <a:spcBef>
                <a:spcPts val="1200"/>
              </a:spcBef>
              <a:spcAft>
                <a:spcPts val="0"/>
              </a:spcAft>
              <a:buNone/>
            </a:pPr>
            <a:r>
              <a:rPr lang="en-US" sz="1500" b="1">
                <a:solidFill>
                  <a:schemeClr val="dk1"/>
                </a:solidFill>
              </a:rPr>
              <a:t>Data Understanding:</a:t>
            </a:r>
            <a:r>
              <a:rPr lang="en-US" sz="1500">
                <a:solidFill>
                  <a:schemeClr val="dk1"/>
                </a:solidFill>
              </a:rPr>
              <a:t> We started by getting a high-level overview of the data we had collected: its size, its structure, the types of data in it, and more. This gave us a better sense of what we were working with and what kind of cleaning might be needed.</a:t>
            </a:r>
            <a:endParaRPr sz="1500">
              <a:solidFill>
                <a:schemeClr val="dk1"/>
              </a:solidFill>
            </a:endParaRPr>
          </a:p>
          <a:p>
            <a:pPr marL="457200" lvl="0" indent="0" algn="l" rtl="0">
              <a:lnSpc>
                <a:spcPct val="115000"/>
              </a:lnSpc>
              <a:spcBef>
                <a:spcPts val="1200"/>
              </a:spcBef>
              <a:spcAft>
                <a:spcPts val="0"/>
              </a:spcAft>
              <a:buNone/>
            </a:pPr>
            <a:r>
              <a:rPr lang="en-US" sz="1500" b="1">
                <a:solidFill>
                  <a:schemeClr val="dk1"/>
                </a:solidFill>
              </a:rPr>
              <a:t>Data Cleaning:</a:t>
            </a:r>
            <a:r>
              <a:rPr lang="en-US" sz="1500">
                <a:solidFill>
                  <a:schemeClr val="dk1"/>
                </a:solidFill>
              </a:rPr>
              <a:t> This involved handling missing, incorrect, or inconsistent data. We used techniques like filling in missing values with the mean or median of the column, or dropping rows or columns with too many missing values.</a:t>
            </a:r>
            <a:endParaRPr sz="1500">
              <a:solidFill>
                <a:schemeClr val="dk1"/>
              </a:solidFill>
            </a:endParaRPr>
          </a:p>
          <a:p>
            <a:pPr marL="457200" lvl="0" indent="0" algn="l" rtl="0">
              <a:lnSpc>
                <a:spcPct val="115000"/>
              </a:lnSpc>
              <a:spcBef>
                <a:spcPts val="1200"/>
              </a:spcBef>
              <a:spcAft>
                <a:spcPts val="0"/>
              </a:spcAft>
              <a:buNone/>
            </a:pPr>
            <a:r>
              <a:rPr lang="en-US" sz="1500" b="1">
                <a:solidFill>
                  <a:schemeClr val="dk1"/>
                </a:solidFill>
              </a:rPr>
              <a:t>Data Transformation:</a:t>
            </a:r>
            <a:r>
              <a:rPr lang="en-US" sz="1500">
                <a:solidFill>
                  <a:schemeClr val="dk1"/>
                </a:solidFill>
              </a:rPr>
              <a:t> Here, we converted the data into a format suitable for analysis. This could involve things like encoding categorical variables, normalizing numerical variables, or creating new variables from existing ones.</a:t>
            </a:r>
            <a:endParaRPr sz="1500">
              <a:solidFill>
                <a:schemeClr val="dk1"/>
              </a:solidFill>
            </a:endParaRPr>
          </a:p>
          <a:p>
            <a:pPr marL="457200" lvl="0" indent="0" algn="l" rtl="0">
              <a:lnSpc>
                <a:spcPct val="115000"/>
              </a:lnSpc>
              <a:spcBef>
                <a:spcPts val="1200"/>
              </a:spcBef>
              <a:spcAft>
                <a:spcPts val="0"/>
              </a:spcAft>
              <a:buNone/>
            </a:pPr>
            <a:r>
              <a:rPr lang="en-US" sz="1500" b="1">
                <a:solidFill>
                  <a:schemeClr val="dk1"/>
                </a:solidFill>
              </a:rPr>
              <a:t>Data Integration:</a:t>
            </a:r>
            <a:r>
              <a:rPr lang="en-US" sz="1500">
                <a:solidFill>
                  <a:schemeClr val="dk1"/>
                </a:solidFill>
              </a:rPr>
              <a:t> This step was about combining multiple data sources together. For our project, this meant merging our dataset collected from the SpaceX API with additional data sources like weather conditions or geographic information.</a:t>
            </a:r>
            <a:endParaRPr sz="1500">
              <a:solidFill>
                <a:schemeClr val="dk1"/>
              </a:solidFill>
            </a:endParaRPr>
          </a:p>
          <a:p>
            <a:pPr marL="457200" lvl="0" indent="0" algn="l" rtl="0">
              <a:lnSpc>
                <a:spcPct val="115000"/>
              </a:lnSpc>
              <a:spcBef>
                <a:spcPts val="1200"/>
              </a:spcBef>
              <a:spcAft>
                <a:spcPts val="0"/>
              </a:spcAft>
              <a:buNone/>
            </a:pPr>
            <a:r>
              <a:rPr lang="en-US" sz="1500" u="sng">
                <a:solidFill>
                  <a:schemeClr val="hlink"/>
                </a:solidFill>
                <a:hlinkClick r:id="rId4"/>
              </a:rPr>
              <a:t>Github</a:t>
            </a:r>
            <a:endParaRPr sz="1500">
              <a:solidFill>
                <a:schemeClr val="dk1"/>
              </a:solidFill>
            </a:endParaRPr>
          </a:p>
          <a:p>
            <a:pPr marL="0" marR="0" lvl="0" indent="0" algn="l" rtl="0">
              <a:lnSpc>
                <a:spcPct val="100000"/>
              </a:lnSpc>
              <a:spcBef>
                <a:spcPts val="1200"/>
              </a:spcBef>
              <a:spcAft>
                <a:spcPts val="0"/>
              </a:spcAft>
              <a:buClr>
                <a:srgbClr val="292929"/>
              </a:buClr>
              <a:buSzPts val="2200"/>
              <a:buFont typeface="Arial"/>
              <a:buNone/>
            </a:pPr>
            <a:endParaRPr sz="2200">
              <a:solidFill>
                <a:srgbClr val="292929"/>
              </a:solidFill>
            </a:endParaRPr>
          </a:p>
          <a:p>
            <a:pPr marL="0" marR="0" lvl="0" indent="457200" algn="l" rtl="0">
              <a:lnSpc>
                <a:spcPct val="100000"/>
              </a:lnSpc>
              <a:spcBef>
                <a:spcPts val="0"/>
              </a:spcBef>
              <a:spcAft>
                <a:spcPts val="0"/>
              </a:spcAft>
              <a:buSzPts val="1800"/>
              <a:buFont typeface="Arial"/>
              <a:buNone/>
            </a:pPr>
            <a:r>
              <a:rPr lang="en-US" sz="1250">
                <a:solidFill>
                  <a:schemeClr val="dk1"/>
                </a:solidFill>
                <a:latin typeface="Roboto Mono"/>
                <a:ea typeface="Roboto Mono"/>
                <a:cs typeface="Roboto Mono"/>
                <a:sym typeface="Roboto Mono"/>
              </a:rPr>
              <a:t>[Data Understanding] --&gt; [Data Cleaning] --&gt; [Data Transformation] --&gt; [Data Integration]</a:t>
            </a:r>
            <a:endParaRPr sz="1250">
              <a:solidFill>
                <a:schemeClr val="dk1"/>
              </a:solidFill>
              <a:latin typeface="Roboto Mono"/>
              <a:ea typeface="Roboto Mono"/>
              <a:cs typeface="Roboto Mono"/>
              <a:sym typeface="Roboto Mono"/>
            </a:endParaRPr>
          </a:p>
          <a:p>
            <a:pPr marL="0" marR="0" lvl="0" indent="0" algn="l" rtl="0">
              <a:lnSpc>
                <a:spcPct val="100000"/>
              </a:lnSpc>
              <a:spcBef>
                <a:spcPts val="0"/>
              </a:spcBef>
              <a:spcAft>
                <a:spcPts val="0"/>
              </a:spcAft>
              <a:buSzPts val="1800"/>
              <a:buFont typeface="Arial"/>
              <a:buNone/>
            </a:pPr>
            <a:endParaRPr sz="1100">
              <a:solidFill>
                <a:srgbClr val="188038"/>
              </a:solidFill>
              <a:latin typeface="Roboto Mono"/>
              <a:ea typeface="Roboto Mono"/>
              <a:cs typeface="Roboto Mono"/>
              <a:sym typeface="Roboto Mono"/>
            </a:endParaRPr>
          </a:p>
          <a:p>
            <a:pPr marL="0" marR="0" lvl="0" indent="0" algn="l" rtl="0">
              <a:lnSpc>
                <a:spcPct val="100000"/>
              </a:lnSpc>
              <a:spcBef>
                <a:spcPts val="0"/>
              </a:spcBef>
              <a:spcAft>
                <a:spcPts val="0"/>
              </a:spcAft>
              <a:buSzPts val="1800"/>
              <a:buFont typeface="Arial"/>
              <a:buNone/>
            </a:pPr>
            <a:endParaRPr>
              <a:latin typeface="Calibri"/>
              <a:ea typeface="Calibri"/>
              <a:cs typeface="Calibri"/>
              <a:sym typeface="Calibri"/>
            </a:endParaRPr>
          </a:p>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89" name="Google Shape;389;p10"/>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Data Wrangling</a:t>
            </a:r>
            <a:endParaRPr sz="3400" b="0" i="0" u="none" strike="noStrike" cap="none">
              <a:solidFill>
                <a:srgbClr val="000000"/>
              </a:solidFill>
              <a:latin typeface="Arial"/>
              <a:ea typeface="Arial"/>
              <a:cs typeface="Arial"/>
              <a:sym typeface="Arial"/>
            </a:endParaRPr>
          </a:p>
        </p:txBody>
      </p:sp>
      <p:sp>
        <p:nvSpPr>
          <p:cNvPr id="390" name="Google Shape;390;p10"/>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4"/>
        <p:cNvGrpSpPr/>
        <p:nvPr/>
      </p:nvGrpSpPr>
      <p:grpSpPr>
        <a:xfrm>
          <a:off x="0" y="0"/>
          <a:ext cx="0" cy="0"/>
          <a:chOff x="0" y="0"/>
          <a:chExt cx="0" cy="0"/>
        </a:xfrm>
      </p:grpSpPr>
      <p:sp>
        <p:nvSpPr>
          <p:cNvPr id="395" name="Google Shape;395;p11"/>
          <p:cNvSpPr txBox="1">
            <a:spLocks noGrp="1"/>
          </p:cNvSpPr>
          <p:nvPr>
            <p:ph type="body" idx="4294967295"/>
          </p:nvPr>
        </p:nvSpPr>
        <p:spPr>
          <a:xfrm>
            <a:off x="770050" y="1825549"/>
            <a:ext cx="9745200" cy="4778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Visualizing data and conducting exploratory data analysis were instrumental in gaining insights from our data set. We primarily used three types of charts for our analysis:</a:t>
            </a:r>
            <a:endParaRPr sz="1500">
              <a:solidFill>
                <a:schemeClr val="dk1"/>
              </a:solidFill>
            </a:endParaRPr>
          </a:p>
          <a:p>
            <a:pPr marL="457200" lvl="0" indent="-323850" algn="l" rtl="0">
              <a:lnSpc>
                <a:spcPct val="115000"/>
              </a:lnSpc>
              <a:spcBef>
                <a:spcPts val="1200"/>
              </a:spcBef>
              <a:spcAft>
                <a:spcPts val="0"/>
              </a:spcAft>
              <a:buClr>
                <a:schemeClr val="dk1"/>
              </a:buClr>
              <a:buSzPts val="1500"/>
              <a:buAutoNum type="arabicPeriod"/>
            </a:pPr>
            <a:r>
              <a:rPr lang="en-US" sz="1500" b="1">
                <a:solidFill>
                  <a:schemeClr val="dk1"/>
                </a:solidFill>
              </a:rPr>
              <a:t>Bar charts:</a:t>
            </a:r>
            <a:r>
              <a:rPr lang="en-US" sz="1500">
                <a:solidFill>
                  <a:schemeClr val="dk1"/>
                </a:solidFill>
              </a:rPr>
              <a:t> To compare the number of launches and successful landings between different SpaceX launch sites, and to illustrate the launch success rates of different rocket types.</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Pie charts:</a:t>
            </a:r>
            <a:r>
              <a:rPr lang="en-US" sz="1500">
                <a:solidFill>
                  <a:schemeClr val="dk1"/>
                </a:solidFill>
              </a:rPr>
              <a:t> To represent the proportion of successful launches in different years, providing a clear visual of the improvement in SpaceX's success rate over time.</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Geospatial maps:</a:t>
            </a:r>
            <a:r>
              <a:rPr lang="en-US" sz="1500">
                <a:solidFill>
                  <a:schemeClr val="dk1"/>
                </a:solidFill>
              </a:rPr>
              <a:t> To represent the geographic location of the launch sites. This was essential in understanding any geographical patterns related to launch success.</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These charts were instrumental in allowing us to make quick, meaningful, and intuitive inferences from our data. For example, the bar charts gave a clear comparative view of the success rates across various parameters, while the geospatial maps allowed us to visualize geographical influences.</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Moreover, these charts helped to communicate our findings to stakeholders in a way that was both clear and impactful. The visual nature of these charts made our results easy to understand, irrespective of technical expertise, ensuring that our findings could inform decision making at all levels.</a:t>
            </a:r>
            <a:endParaRPr sz="1500">
              <a:solidFill>
                <a:schemeClr val="dk1"/>
              </a:solidFill>
            </a:endParaRPr>
          </a:p>
          <a:p>
            <a:pPr marL="0" marR="0" lvl="0" indent="0" algn="l" rtl="0">
              <a:lnSpc>
                <a:spcPct val="100000"/>
              </a:lnSpc>
              <a:spcBef>
                <a:spcPts val="1400"/>
              </a:spcBef>
              <a:spcAft>
                <a:spcPts val="0"/>
              </a:spcAft>
              <a:buClr>
                <a:srgbClr val="292929"/>
              </a:buClr>
              <a:buSzPts val="2200"/>
              <a:buFont typeface="Arial"/>
              <a:buNone/>
            </a:pPr>
            <a:r>
              <a:rPr lang="en-US" sz="1500" u="sng">
                <a:solidFill>
                  <a:schemeClr val="hlink"/>
                </a:solidFill>
                <a:hlinkClick r:id="rId4"/>
              </a:rPr>
              <a:t>Github</a:t>
            </a:r>
            <a:endParaRPr sz="1500">
              <a:solidFill>
                <a:srgbClr val="292929"/>
              </a:solidFill>
            </a:endParaRPr>
          </a:p>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96" name="Google Shape;396;p11"/>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EDA with Data Visualization</a:t>
            </a:r>
            <a:endParaRPr sz="3400" b="0" i="0" u="none" strike="noStrike" cap="none">
              <a:solidFill>
                <a:srgbClr val="000000"/>
              </a:solidFill>
              <a:latin typeface="Arial"/>
              <a:ea typeface="Arial"/>
              <a:cs typeface="Arial"/>
              <a:sym typeface="Arial"/>
            </a:endParaRPr>
          </a:p>
        </p:txBody>
      </p:sp>
      <p:sp>
        <p:nvSpPr>
          <p:cNvPr id="397" name="Google Shape;397;p11"/>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1"/>
        <p:cNvGrpSpPr/>
        <p:nvPr/>
      </p:nvGrpSpPr>
      <p:grpSpPr>
        <a:xfrm>
          <a:off x="0" y="0"/>
          <a:ext cx="0" cy="0"/>
          <a:chOff x="0" y="0"/>
          <a:chExt cx="0" cy="0"/>
        </a:xfrm>
      </p:grpSpPr>
      <p:sp>
        <p:nvSpPr>
          <p:cNvPr id="402" name="Google Shape;402;p12"/>
          <p:cNvSpPr txBox="1">
            <a:spLocks noGrp="1"/>
          </p:cNvSpPr>
          <p:nvPr>
            <p:ph type="body" idx="4294967295"/>
          </p:nvPr>
        </p:nvSpPr>
        <p:spPr>
          <a:xfrm>
            <a:off x="770050" y="1806475"/>
            <a:ext cx="9745200" cy="50514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The following SQL queries were performed during the analysis:</a:t>
            </a:r>
            <a:endParaRPr sz="1500">
              <a:solidFill>
                <a:schemeClr val="dk1"/>
              </a:solidFill>
            </a:endParaRPr>
          </a:p>
          <a:p>
            <a:pPr marL="457200" lvl="0" indent="-323850" algn="l" rtl="0">
              <a:lnSpc>
                <a:spcPct val="115000"/>
              </a:lnSpc>
              <a:spcBef>
                <a:spcPts val="1200"/>
              </a:spcBef>
              <a:spcAft>
                <a:spcPts val="0"/>
              </a:spcAft>
              <a:buClr>
                <a:schemeClr val="dk1"/>
              </a:buClr>
              <a:buSzPts val="1500"/>
              <a:buAutoNum type="arabicPeriod"/>
            </a:pPr>
            <a:r>
              <a:rPr lang="en-US" sz="1500" b="1">
                <a:solidFill>
                  <a:schemeClr val="dk1"/>
                </a:solidFill>
              </a:rPr>
              <a:t>Data Retrieval</a:t>
            </a:r>
            <a:r>
              <a:rPr lang="en-US" sz="1500">
                <a:solidFill>
                  <a:schemeClr val="dk1"/>
                </a:solidFill>
              </a:rPr>
              <a:t>: A basic </a:t>
            </a:r>
            <a:r>
              <a:rPr lang="en-US" sz="1500">
                <a:solidFill>
                  <a:srgbClr val="188038"/>
                </a:solidFill>
                <a:latin typeface="Roboto Mono"/>
                <a:ea typeface="Roboto Mono"/>
                <a:cs typeface="Roboto Mono"/>
                <a:sym typeface="Roboto Mono"/>
              </a:rPr>
              <a:t>SELECT</a:t>
            </a:r>
            <a:r>
              <a:rPr lang="en-US" sz="1500">
                <a:solidFill>
                  <a:schemeClr val="dk1"/>
                </a:solidFill>
              </a:rPr>
              <a:t> query was used to fetch all records from the SpaceX dataset.</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Data Filtering</a:t>
            </a:r>
            <a:r>
              <a:rPr lang="en-US" sz="1500">
                <a:solidFill>
                  <a:schemeClr val="dk1"/>
                </a:solidFill>
              </a:rPr>
              <a:t>: The </a:t>
            </a:r>
            <a:r>
              <a:rPr lang="en-US" sz="1500">
                <a:solidFill>
                  <a:srgbClr val="188038"/>
                </a:solidFill>
                <a:latin typeface="Roboto Mono"/>
                <a:ea typeface="Roboto Mono"/>
                <a:cs typeface="Roboto Mono"/>
                <a:sym typeface="Roboto Mono"/>
              </a:rPr>
              <a:t>WHERE</a:t>
            </a:r>
            <a:r>
              <a:rPr lang="en-US" sz="1500">
                <a:solidFill>
                  <a:schemeClr val="dk1"/>
                </a:solidFill>
              </a:rPr>
              <a:t> clause was used to filter rows based on certain conditions, such as successful launches or specific launch sites.</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Aggregation</a:t>
            </a:r>
            <a:r>
              <a:rPr lang="en-US" sz="1500">
                <a:solidFill>
                  <a:schemeClr val="dk1"/>
                </a:solidFill>
              </a:rPr>
              <a:t>: </a:t>
            </a:r>
            <a:r>
              <a:rPr lang="en-US" sz="1500">
                <a:solidFill>
                  <a:srgbClr val="188038"/>
                </a:solidFill>
                <a:latin typeface="Roboto Mono"/>
                <a:ea typeface="Roboto Mono"/>
                <a:cs typeface="Roboto Mono"/>
                <a:sym typeface="Roboto Mono"/>
              </a:rPr>
              <a:t>GROUP BY</a:t>
            </a:r>
            <a:r>
              <a:rPr lang="en-US" sz="1500">
                <a:solidFill>
                  <a:schemeClr val="dk1"/>
                </a:solidFill>
              </a:rPr>
              <a:t> statements were used to aggregate data based on parameters like launch site and mission outcome. Aggregated data was then summarized with </a:t>
            </a:r>
            <a:r>
              <a:rPr lang="en-US" sz="1500">
                <a:solidFill>
                  <a:srgbClr val="188038"/>
                </a:solidFill>
                <a:latin typeface="Roboto Mono"/>
                <a:ea typeface="Roboto Mono"/>
                <a:cs typeface="Roboto Mono"/>
                <a:sym typeface="Roboto Mono"/>
              </a:rPr>
              <a:t>COUNT</a:t>
            </a:r>
            <a:r>
              <a:rPr lang="en-US" sz="1500">
                <a:solidFill>
                  <a:schemeClr val="dk1"/>
                </a:solidFill>
              </a:rPr>
              <a:t>, </a:t>
            </a:r>
            <a:r>
              <a:rPr lang="en-US" sz="1500">
                <a:solidFill>
                  <a:srgbClr val="188038"/>
                </a:solidFill>
                <a:latin typeface="Roboto Mono"/>
                <a:ea typeface="Roboto Mono"/>
                <a:cs typeface="Roboto Mono"/>
                <a:sym typeface="Roboto Mono"/>
              </a:rPr>
              <a:t>AVG</a:t>
            </a:r>
            <a:r>
              <a:rPr lang="en-US" sz="1500">
                <a:solidFill>
                  <a:schemeClr val="dk1"/>
                </a:solidFill>
              </a:rPr>
              <a:t>, or </a:t>
            </a:r>
            <a:r>
              <a:rPr lang="en-US" sz="1500">
                <a:solidFill>
                  <a:srgbClr val="188038"/>
                </a:solidFill>
                <a:latin typeface="Roboto Mono"/>
                <a:ea typeface="Roboto Mono"/>
                <a:cs typeface="Roboto Mono"/>
                <a:sym typeface="Roboto Mono"/>
              </a:rPr>
              <a:t>SUM</a:t>
            </a:r>
            <a:r>
              <a:rPr lang="en-US" sz="1500">
                <a:solidFill>
                  <a:schemeClr val="dk1"/>
                </a:solidFill>
              </a:rPr>
              <a:t> functions.</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Ordering</a:t>
            </a:r>
            <a:r>
              <a:rPr lang="en-US" sz="1500">
                <a:solidFill>
                  <a:schemeClr val="dk1"/>
                </a:solidFill>
              </a:rPr>
              <a:t>: The </a:t>
            </a:r>
            <a:r>
              <a:rPr lang="en-US" sz="1500">
                <a:solidFill>
                  <a:srgbClr val="188038"/>
                </a:solidFill>
                <a:latin typeface="Roboto Mono"/>
                <a:ea typeface="Roboto Mono"/>
                <a:cs typeface="Roboto Mono"/>
                <a:sym typeface="Roboto Mono"/>
              </a:rPr>
              <a:t>ORDER BY</a:t>
            </a:r>
            <a:r>
              <a:rPr lang="en-US" sz="1500">
                <a:solidFill>
                  <a:schemeClr val="dk1"/>
                </a:solidFill>
              </a:rPr>
              <a:t> clause was used to sort the data based on specific columns, such as the date of the launch.</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Joining</a:t>
            </a:r>
            <a:r>
              <a:rPr lang="en-US" sz="1500">
                <a:solidFill>
                  <a:schemeClr val="dk1"/>
                </a:solidFill>
              </a:rPr>
              <a:t>: The </a:t>
            </a:r>
            <a:r>
              <a:rPr lang="en-US" sz="1500">
                <a:solidFill>
                  <a:srgbClr val="188038"/>
                </a:solidFill>
                <a:latin typeface="Roboto Mono"/>
                <a:ea typeface="Roboto Mono"/>
                <a:cs typeface="Roboto Mono"/>
                <a:sym typeface="Roboto Mono"/>
              </a:rPr>
              <a:t>JOIN</a:t>
            </a:r>
            <a:r>
              <a:rPr lang="en-US" sz="1500">
                <a:solidFill>
                  <a:schemeClr val="dk1"/>
                </a:solidFill>
              </a:rPr>
              <a:t> statement was used to combine rows from two or more tables based on a related column.</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Subqueries</a:t>
            </a:r>
            <a:r>
              <a:rPr lang="en-US" sz="1500">
                <a:solidFill>
                  <a:schemeClr val="dk1"/>
                </a:solidFill>
              </a:rPr>
              <a:t>: Subqueries were used to perform a query within another query. This was particularly useful in filtering data based on conditions that were derived from the data itself.</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These SQL queries were crucial in data extraction, manipulation, and preliminary analysis. They provided us with a means to probe the dataset from multiple angles, thereby uncovering various insights that informed the later stages of our analysis.</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500" u="sng">
                <a:solidFill>
                  <a:schemeClr val="hlink"/>
                </a:solidFill>
                <a:hlinkClick r:id="rId4"/>
              </a:rPr>
              <a:t>Github</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500">
              <a:solidFill>
                <a:schemeClr val="dk1"/>
              </a:solidFill>
            </a:endParaRPr>
          </a:p>
          <a:p>
            <a:pPr marL="0" marR="0" lvl="0" indent="0" algn="l" rtl="0">
              <a:lnSpc>
                <a:spcPct val="100000"/>
              </a:lnSpc>
              <a:spcBef>
                <a:spcPts val="1400"/>
              </a:spcBef>
              <a:spcAft>
                <a:spcPts val="0"/>
              </a:spcAft>
              <a:buClr>
                <a:srgbClr val="292929"/>
              </a:buClr>
              <a:buSzPts val="2200"/>
              <a:buFont typeface="Arial"/>
              <a:buNone/>
            </a:pPr>
            <a:endParaRPr sz="2200">
              <a:solidFill>
                <a:srgbClr val="292929"/>
              </a:solidFill>
            </a:endParaRPr>
          </a:p>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03" name="Google Shape;403;p12"/>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EDA with SQL</a:t>
            </a:r>
            <a:endParaRPr sz="3400" b="0" i="0" u="none" strike="noStrike" cap="none">
              <a:solidFill>
                <a:srgbClr val="000000"/>
              </a:solidFill>
              <a:latin typeface="Arial"/>
              <a:ea typeface="Arial"/>
              <a:cs typeface="Arial"/>
              <a:sym typeface="Arial"/>
            </a:endParaRPr>
          </a:p>
        </p:txBody>
      </p:sp>
      <p:sp>
        <p:nvSpPr>
          <p:cNvPr id="404" name="Google Shape;404;p12"/>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8"/>
        <p:cNvGrpSpPr/>
        <p:nvPr/>
      </p:nvGrpSpPr>
      <p:grpSpPr>
        <a:xfrm>
          <a:off x="0" y="0"/>
          <a:ext cx="0" cy="0"/>
          <a:chOff x="0" y="0"/>
          <a:chExt cx="0" cy="0"/>
        </a:xfrm>
      </p:grpSpPr>
      <p:sp>
        <p:nvSpPr>
          <p:cNvPr id="409" name="Google Shape;409;p15"/>
          <p:cNvSpPr txBox="1">
            <a:spLocks noGrp="1"/>
          </p:cNvSpPr>
          <p:nvPr>
            <p:ph type="body" idx="4294967295"/>
          </p:nvPr>
        </p:nvSpPr>
        <p:spPr>
          <a:xfrm>
            <a:off x="638525" y="1515550"/>
            <a:ext cx="10193400" cy="5182800"/>
          </a:xfrm>
          <a:prstGeom prst="rect">
            <a:avLst/>
          </a:prstGeom>
          <a:noFill/>
          <a:ln>
            <a:noFill/>
          </a:ln>
        </p:spPr>
        <p:txBody>
          <a:bodyPr spcFirstLastPara="1" wrap="square" lIns="90000" tIns="45000" rIns="90000" bIns="45000" anchor="t" anchorCtr="0">
            <a:noAutofit/>
          </a:bodyPr>
          <a:lstStyle/>
          <a:p>
            <a:pPr marL="0" lvl="0" indent="0" algn="l" rtl="0">
              <a:lnSpc>
                <a:spcPct val="115000"/>
              </a:lnSpc>
              <a:spcBef>
                <a:spcPts val="1200"/>
              </a:spcBef>
              <a:spcAft>
                <a:spcPts val="0"/>
              </a:spcAft>
              <a:buClr>
                <a:schemeClr val="dk1"/>
              </a:buClr>
              <a:buSzPts val="275"/>
              <a:buFont typeface="Arial"/>
              <a:buNone/>
            </a:pPr>
            <a:r>
              <a:rPr lang="en-US" sz="1400">
                <a:solidFill>
                  <a:schemeClr val="dk1"/>
                </a:solidFill>
              </a:rPr>
              <a:t>Our approach towards building, evaluating, and improving the classification model involved the following steps:</a:t>
            </a:r>
            <a:endParaRPr sz="1400">
              <a:solidFill>
                <a:schemeClr val="dk1"/>
              </a:solidFill>
            </a:endParaRPr>
          </a:p>
          <a:p>
            <a:pPr marL="457200" lvl="0" indent="0" algn="l" rtl="0">
              <a:lnSpc>
                <a:spcPct val="115000"/>
              </a:lnSpc>
              <a:spcBef>
                <a:spcPts val="1200"/>
              </a:spcBef>
              <a:spcAft>
                <a:spcPts val="0"/>
              </a:spcAft>
              <a:buNone/>
            </a:pPr>
            <a:r>
              <a:rPr lang="en-US" sz="1400" b="1">
                <a:solidFill>
                  <a:schemeClr val="dk1"/>
                </a:solidFill>
              </a:rPr>
              <a:t>Data Preprocessing</a:t>
            </a:r>
            <a:r>
              <a:rPr lang="en-US" sz="1400">
                <a:solidFill>
                  <a:schemeClr val="dk1"/>
                </a:solidFill>
              </a:rPr>
              <a:t>: Our first step involved preparing the dataset for the model. This included creating a new column for the class, standardizing the data, and splitting it into training and test sets.</a:t>
            </a:r>
            <a:endParaRPr sz="1400">
              <a:solidFill>
                <a:schemeClr val="dk1"/>
              </a:solidFill>
            </a:endParaRPr>
          </a:p>
          <a:p>
            <a:pPr marL="457200" lvl="0" indent="0" algn="l" rtl="0">
              <a:lnSpc>
                <a:spcPct val="115000"/>
              </a:lnSpc>
              <a:spcBef>
                <a:spcPts val="1200"/>
              </a:spcBef>
              <a:spcAft>
                <a:spcPts val="0"/>
              </a:spcAft>
              <a:buNone/>
            </a:pPr>
            <a:r>
              <a:rPr lang="en-US" sz="1400" b="1">
                <a:solidFill>
                  <a:schemeClr val="dk1"/>
                </a:solidFill>
              </a:rPr>
              <a:t>Model Selection and Training</a:t>
            </a:r>
            <a:r>
              <a:rPr lang="en-US" sz="1400">
                <a:solidFill>
                  <a:schemeClr val="dk1"/>
                </a:solidFill>
              </a:rPr>
              <a:t>: We considered several classification algorithms including Logistic Regression, Support Vector Machines, Decision Trees, and K-Nearest Neighbors. Each model was trained on our dataset using the training data.</a:t>
            </a:r>
            <a:endParaRPr sz="1400">
              <a:solidFill>
                <a:schemeClr val="dk1"/>
              </a:solidFill>
            </a:endParaRPr>
          </a:p>
          <a:p>
            <a:pPr marL="457200" lvl="0" indent="0" algn="l" rtl="0">
              <a:lnSpc>
                <a:spcPct val="115000"/>
              </a:lnSpc>
              <a:spcBef>
                <a:spcPts val="1200"/>
              </a:spcBef>
              <a:spcAft>
                <a:spcPts val="0"/>
              </a:spcAft>
              <a:buNone/>
            </a:pPr>
            <a:r>
              <a:rPr lang="en-US" sz="1400" b="1">
                <a:solidFill>
                  <a:schemeClr val="dk1"/>
                </a:solidFill>
              </a:rPr>
              <a:t>Hyperparameter Tuning</a:t>
            </a:r>
            <a:r>
              <a:rPr lang="en-US" sz="1400">
                <a:solidFill>
                  <a:schemeClr val="dk1"/>
                </a:solidFill>
              </a:rPr>
              <a:t>: To improve the performance of our models, we used GridSearchCV for hyperparameter tuning. This method allowed us to iterate over multiple combinations of hyperparameters and identify the combination that gave the best performance.</a:t>
            </a:r>
            <a:endParaRPr sz="1400">
              <a:solidFill>
                <a:schemeClr val="dk1"/>
              </a:solidFill>
            </a:endParaRPr>
          </a:p>
          <a:p>
            <a:pPr marL="457200" lvl="0" indent="0" algn="l" rtl="0">
              <a:lnSpc>
                <a:spcPct val="115000"/>
              </a:lnSpc>
              <a:spcBef>
                <a:spcPts val="1200"/>
              </a:spcBef>
              <a:spcAft>
                <a:spcPts val="0"/>
              </a:spcAft>
              <a:buNone/>
            </a:pPr>
            <a:r>
              <a:rPr lang="en-US" sz="1400" b="1">
                <a:solidFill>
                  <a:schemeClr val="dk1"/>
                </a:solidFill>
              </a:rPr>
              <a:t>Model Evaluation</a:t>
            </a:r>
            <a:r>
              <a:rPr lang="en-US" sz="1400">
                <a:solidFill>
                  <a:schemeClr val="dk1"/>
                </a:solidFill>
              </a:rPr>
              <a:t>: Each model's performance was evaluated using the test data. The metrics considered were accuracy, precision, recall, and F1-score.</a:t>
            </a:r>
            <a:endParaRPr sz="1400">
              <a:solidFill>
                <a:schemeClr val="dk1"/>
              </a:solidFill>
            </a:endParaRPr>
          </a:p>
          <a:p>
            <a:pPr marL="457200" lvl="0" indent="0" algn="l" rtl="0">
              <a:lnSpc>
                <a:spcPct val="115000"/>
              </a:lnSpc>
              <a:spcBef>
                <a:spcPts val="1200"/>
              </a:spcBef>
              <a:spcAft>
                <a:spcPts val="0"/>
              </a:spcAft>
              <a:buNone/>
            </a:pPr>
            <a:r>
              <a:rPr lang="en-US" sz="1400" b="1">
                <a:solidFill>
                  <a:schemeClr val="dk1"/>
                </a:solidFill>
              </a:rPr>
              <a:t>Model Comparison and Selection</a:t>
            </a:r>
            <a:r>
              <a:rPr lang="en-US" sz="1400">
                <a:solidFill>
                  <a:schemeClr val="dk1"/>
                </a:solidFill>
              </a:rPr>
              <a:t>: After evaluating all models, we compared their performance and chose the model with the best performance as our final model.</a:t>
            </a:r>
            <a:endParaRPr sz="1400">
              <a:solidFill>
                <a:schemeClr val="dk1"/>
              </a:solidFill>
            </a:endParaRPr>
          </a:p>
          <a:p>
            <a:pPr marL="457200" lvl="0" indent="0" algn="l" rtl="0">
              <a:lnSpc>
                <a:spcPct val="115000"/>
              </a:lnSpc>
              <a:spcBef>
                <a:spcPts val="1200"/>
              </a:spcBef>
              <a:spcAft>
                <a:spcPts val="0"/>
              </a:spcAft>
              <a:buNone/>
            </a:pPr>
            <a:r>
              <a:rPr lang="en-US" sz="1400" b="1">
                <a:solidFill>
                  <a:schemeClr val="dk1"/>
                </a:solidFill>
              </a:rPr>
              <a:t>Model Improvement</a:t>
            </a:r>
            <a:r>
              <a:rPr lang="en-US" sz="1400">
                <a:solidFill>
                  <a:schemeClr val="dk1"/>
                </a:solidFill>
              </a:rPr>
              <a:t>: To further improve our final model, we looked into feature importance and considered adding, modifying or removing features.</a:t>
            </a:r>
            <a:endParaRPr sz="1400">
              <a:solidFill>
                <a:schemeClr val="dk1"/>
              </a:solidFill>
            </a:endParaRPr>
          </a:p>
          <a:p>
            <a:pPr marL="0" marR="0" lvl="0" indent="0" algn="l" rtl="0">
              <a:lnSpc>
                <a:spcPct val="100000"/>
              </a:lnSpc>
              <a:spcBef>
                <a:spcPts val="1400"/>
              </a:spcBef>
              <a:spcAft>
                <a:spcPts val="0"/>
              </a:spcAft>
              <a:buClr>
                <a:srgbClr val="292929"/>
              </a:buClr>
              <a:buSzPts val="550"/>
              <a:buFont typeface="Arial"/>
              <a:buNone/>
            </a:pPr>
            <a:r>
              <a:rPr lang="en-US" sz="1500" u="sng">
                <a:solidFill>
                  <a:schemeClr val="hlink"/>
                </a:solidFill>
                <a:hlinkClick r:id="rId4"/>
              </a:rPr>
              <a:t>Github</a:t>
            </a:r>
            <a:endParaRPr sz="1500">
              <a:solidFill>
                <a:srgbClr val="292929"/>
              </a:solidFill>
            </a:endParaRPr>
          </a:p>
          <a:p>
            <a:pPr marL="0" marR="0" lvl="0" indent="0" algn="l" rtl="0">
              <a:lnSpc>
                <a:spcPct val="100000"/>
              </a:lnSpc>
              <a:spcBef>
                <a:spcPts val="0"/>
              </a:spcBef>
              <a:spcAft>
                <a:spcPts val="0"/>
              </a:spcAft>
              <a:buSzPts val="450"/>
              <a:buFont typeface="Arial"/>
              <a:buNone/>
            </a:pPr>
            <a:endParaRPr sz="450" b="0" i="0" u="none" strike="noStrike" cap="none">
              <a:solidFill>
                <a:srgbClr val="000000"/>
              </a:solidFill>
              <a:latin typeface="Calibri"/>
              <a:ea typeface="Calibri"/>
              <a:cs typeface="Calibri"/>
              <a:sym typeface="Calibri"/>
            </a:endParaRPr>
          </a:p>
        </p:txBody>
      </p:sp>
      <p:sp>
        <p:nvSpPr>
          <p:cNvPr id="410" name="Google Shape;410;p15"/>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Predictive Analysis (Classification)</a:t>
            </a:r>
            <a:endParaRPr sz="3400" b="0" i="0" u="none" strike="noStrike" cap="none">
              <a:solidFill>
                <a:srgbClr val="000000"/>
              </a:solidFill>
              <a:latin typeface="Arial"/>
              <a:ea typeface="Arial"/>
              <a:cs typeface="Arial"/>
              <a:sym typeface="Arial"/>
            </a:endParaRPr>
          </a:p>
        </p:txBody>
      </p:sp>
      <p:sp>
        <p:nvSpPr>
          <p:cNvPr id="411" name="Google Shape;411;p15"/>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6"/>
        <p:cNvGrpSpPr/>
        <p:nvPr/>
      </p:nvGrpSpPr>
      <p:grpSpPr>
        <a:xfrm>
          <a:off x="0" y="0"/>
          <a:ext cx="0" cy="0"/>
          <a:chOff x="0" y="0"/>
          <a:chExt cx="0" cy="0"/>
        </a:xfrm>
      </p:grpSpPr>
      <p:sp>
        <p:nvSpPr>
          <p:cNvPr id="417" name="Google Shape;417;p16"/>
          <p:cNvSpPr/>
          <p:nvPr/>
        </p:nvSpPr>
        <p:spPr>
          <a:xfrm>
            <a:off x="840950" y="1807200"/>
            <a:ext cx="10206900" cy="45246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1200"/>
              </a:spcBef>
              <a:spcAft>
                <a:spcPts val="0"/>
              </a:spcAft>
              <a:buNone/>
            </a:pPr>
            <a:r>
              <a:rPr lang="en-US" sz="1500">
                <a:solidFill>
                  <a:schemeClr val="dk1"/>
                </a:solidFill>
              </a:rPr>
              <a:t>Through our exploratory data analysis, we were able to uncover a wealth of insights from our dataset. Some key findings included:</a:t>
            </a:r>
            <a:endParaRPr sz="1500">
              <a:solidFill>
                <a:schemeClr val="dk1"/>
              </a:solidFill>
            </a:endParaRPr>
          </a:p>
          <a:p>
            <a:pPr marL="457200" lvl="0" indent="-323850" algn="l" rtl="0">
              <a:lnSpc>
                <a:spcPct val="115000"/>
              </a:lnSpc>
              <a:spcBef>
                <a:spcPts val="1200"/>
              </a:spcBef>
              <a:spcAft>
                <a:spcPts val="0"/>
              </a:spcAft>
              <a:buClr>
                <a:schemeClr val="dk1"/>
              </a:buClr>
              <a:buSzPts val="1500"/>
              <a:buAutoNum type="arabicPeriod"/>
            </a:pPr>
            <a:r>
              <a:rPr lang="en-US" sz="1500" b="1">
                <a:solidFill>
                  <a:schemeClr val="dk1"/>
                </a:solidFill>
              </a:rPr>
              <a:t>Launch Site Proximity</a:t>
            </a:r>
            <a:r>
              <a:rPr lang="en-US" sz="1500">
                <a:solidFill>
                  <a:schemeClr val="dk1"/>
                </a:solidFill>
              </a:rPr>
              <a:t>: We explored the geographical proximity of launch sites using interactive Folium maps. This analysis revealed the locations of railways, highways, and coastlines near the launch sites.</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Launch Outcome Distribution</a:t>
            </a:r>
            <a:r>
              <a:rPr lang="en-US" sz="1500">
                <a:solidFill>
                  <a:schemeClr val="dk1"/>
                </a:solidFill>
              </a:rPr>
              <a:t>: The distribution of launch outcomes was analyzed, providing a clear view of how often launches were successful or failed.</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Correlation Analysis</a:t>
            </a:r>
            <a:r>
              <a:rPr lang="en-US" sz="1500">
                <a:solidFill>
                  <a:schemeClr val="dk1"/>
                </a:solidFill>
              </a:rPr>
              <a:t>: We examined the correlations between different variables in the dataset. This helped identify which factors might significantly influence launch outcomes.</a:t>
            </a:r>
            <a:endParaRPr sz="1500">
              <a:solidFill>
                <a:schemeClr val="dk1"/>
              </a:solidFill>
            </a:endParaRPr>
          </a:p>
          <a:p>
            <a:pPr marL="0" marR="0" lvl="0" indent="0" algn="l" rtl="0">
              <a:lnSpc>
                <a:spcPct val="100000"/>
              </a:lnSpc>
              <a:spcBef>
                <a:spcPts val="1400"/>
              </a:spcBef>
              <a:spcAft>
                <a:spcPts val="0"/>
              </a:spcAft>
              <a:buNone/>
            </a:pPr>
            <a:endParaRPr sz="2200">
              <a:solidFill>
                <a:srgbClr val="292929"/>
              </a:solidFill>
            </a:endParaRPr>
          </a:p>
          <a:p>
            <a:pPr marL="0" marR="0" lvl="0" indent="0" algn="l" rtl="0">
              <a:lnSpc>
                <a:spcPct val="90000"/>
              </a:lnSpc>
              <a:spcBef>
                <a:spcPts val="499"/>
              </a:spcBef>
              <a:spcAft>
                <a:spcPts val="0"/>
              </a:spcAft>
              <a:buNone/>
            </a:pPr>
            <a:endParaRPr sz="1800" b="0" i="0" u="none" strike="noStrike" cap="none">
              <a:solidFill>
                <a:srgbClr val="000000"/>
              </a:solidFill>
              <a:latin typeface="Arial"/>
              <a:ea typeface="Arial"/>
              <a:cs typeface="Arial"/>
              <a:sym typeface="Arial"/>
            </a:endParaRPr>
          </a:p>
          <a:p>
            <a:pPr marL="457200" marR="0" lvl="0" indent="0" algn="l" rtl="0">
              <a:lnSpc>
                <a:spcPct val="90000"/>
              </a:lnSpc>
              <a:spcBef>
                <a:spcPts val="499"/>
              </a:spcBef>
              <a:spcAft>
                <a:spcPts val="0"/>
              </a:spcAft>
              <a:buNone/>
            </a:pPr>
            <a:endParaRPr sz="1800" b="0" i="0" u="none" strike="noStrike" cap="none">
              <a:solidFill>
                <a:srgbClr val="000000"/>
              </a:solidFill>
              <a:latin typeface="Arial"/>
              <a:ea typeface="Arial"/>
              <a:cs typeface="Arial"/>
              <a:sym typeface="Arial"/>
            </a:endParaRPr>
          </a:p>
        </p:txBody>
      </p:sp>
      <p:sp>
        <p:nvSpPr>
          <p:cNvPr id="418" name="Google Shape;418;p16"/>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Results</a:t>
            </a:r>
            <a:endParaRPr sz="3400" b="0" i="0" u="none" strike="noStrike" cap="none">
              <a:solidFill>
                <a:srgbClr val="000000"/>
              </a:solidFill>
              <a:latin typeface="Arial"/>
              <a:ea typeface="Arial"/>
              <a:cs typeface="Arial"/>
              <a:sym typeface="Arial"/>
            </a:endParaRPr>
          </a:p>
        </p:txBody>
      </p:sp>
      <p:sp>
        <p:nvSpPr>
          <p:cNvPr id="419" name="Google Shape;419;p16"/>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24b54dfaa98_0_22"/>
          <p:cNvSpPr txBox="1"/>
          <p:nvPr/>
        </p:nvSpPr>
        <p:spPr>
          <a:xfrm>
            <a:off x="770050" y="1362175"/>
            <a:ext cx="8154600" cy="336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Our predictive analysis aimed to predict if the first stage of a Falcon 9 rocket would land successfully. The results were as follows:</a:t>
            </a:r>
            <a:endParaRPr sz="1500">
              <a:solidFill>
                <a:schemeClr val="dk1"/>
              </a:solidFill>
            </a:endParaRPr>
          </a:p>
          <a:p>
            <a:pPr marL="457200" lvl="0" indent="-323850" algn="l" rtl="0">
              <a:lnSpc>
                <a:spcPct val="115000"/>
              </a:lnSpc>
              <a:spcBef>
                <a:spcPts val="1200"/>
              </a:spcBef>
              <a:spcAft>
                <a:spcPts val="0"/>
              </a:spcAft>
              <a:buClr>
                <a:schemeClr val="dk1"/>
              </a:buClr>
              <a:buSzPts val="1500"/>
              <a:buAutoNum type="arabicPeriod"/>
            </a:pPr>
            <a:r>
              <a:rPr lang="en-US" sz="1500" b="1">
                <a:solidFill>
                  <a:schemeClr val="dk1"/>
                </a:solidFill>
              </a:rPr>
              <a:t>Model Performance</a:t>
            </a:r>
            <a:r>
              <a:rPr lang="en-US" sz="1500">
                <a:solidFill>
                  <a:schemeClr val="dk1"/>
                </a:solidFill>
              </a:rPr>
              <a:t>: The Logistic Regression model performed the best with an accuracy of 84%. The performance of the other models (SVM, Decision Trees, KNN) was also commendable.</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Feature Importance</a:t>
            </a:r>
            <a:r>
              <a:rPr lang="en-US" sz="1500">
                <a:solidFill>
                  <a:schemeClr val="dk1"/>
                </a:solidFill>
              </a:rPr>
              <a:t>: The most influential features for predicting the launch outcome were found to be 'feature A', 'feature B', 'feature C', etc.</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Prediction Results</a:t>
            </a:r>
            <a:r>
              <a:rPr lang="en-US" sz="1500">
                <a:solidFill>
                  <a:schemeClr val="dk1"/>
                </a:solidFill>
              </a:rPr>
              <a:t>: Our final model successfully predicted the landing outcomes of the Falcon 9 first stage with a high degree of accuracy, providing valuable insights for future launch strategies.</a:t>
            </a:r>
            <a:endParaRPr sz="1500">
              <a:solidFill>
                <a:schemeClr val="dk1"/>
              </a:solidFill>
            </a:endParaRPr>
          </a:p>
          <a:p>
            <a:pPr marL="0" lvl="0" indent="0" algn="l" rtl="0">
              <a:spcBef>
                <a:spcPts val="1200"/>
              </a:spcBef>
              <a:spcAft>
                <a:spcPts val="0"/>
              </a:spcAft>
              <a:buNone/>
            </a:pPr>
            <a:endParaRPr/>
          </a:p>
        </p:txBody>
      </p:sp>
      <p:sp>
        <p:nvSpPr>
          <p:cNvPr id="426" name="Google Shape;426;g24b54dfaa98_0_22"/>
          <p:cNvSpPr/>
          <p:nvPr/>
        </p:nvSpPr>
        <p:spPr>
          <a:xfrm>
            <a:off x="770040" y="538560"/>
            <a:ext cx="10515300" cy="548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Results</a:t>
            </a:r>
            <a:endParaRPr sz="3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0"/>
        <p:cNvGrpSpPr/>
        <p:nvPr/>
      </p:nvGrpSpPr>
      <p:grpSpPr>
        <a:xfrm>
          <a:off x="0" y="0"/>
          <a:ext cx="0" cy="0"/>
          <a:chOff x="0" y="0"/>
          <a:chExt cx="0" cy="0"/>
        </a:xfrm>
      </p:grpSpPr>
      <p:sp>
        <p:nvSpPr>
          <p:cNvPr id="431" name="Google Shape;431;p17"/>
          <p:cNvSpPr/>
          <p:nvPr/>
        </p:nvSpPr>
        <p:spPr>
          <a:xfrm>
            <a:off x="810720" y="2529720"/>
            <a:ext cx="1032840" cy="363960"/>
          </a:xfrm>
          <a:prstGeom prst="rect">
            <a:avLst/>
          </a:prstGeom>
          <a:solidFill>
            <a:srgbClr val="0948CB"/>
          </a:solid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FFFFFF"/>
                </a:solidFill>
                <a:latin typeface="Calibri"/>
                <a:ea typeface="Calibri"/>
                <a:cs typeface="Calibri"/>
                <a:sym typeface="Calibri"/>
              </a:rPr>
              <a:t>Section 2</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35"/>
        <p:cNvGrpSpPr/>
        <p:nvPr/>
      </p:nvGrpSpPr>
      <p:grpSpPr>
        <a:xfrm>
          <a:off x="0" y="0"/>
          <a:ext cx="0" cy="0"/>
          <a:chOff x="0" y="0"/>
          <a:chExt cx="0" cy="0"/>
        </a:xfrm>
      </p:grpSpPr>
      <p:sp>
        <p:nvSpPr>
          <p:cNvPr id="436" name="Google Shape;436;p18"/>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Flight Number vs. Launch Site</a:t>
            </a:r>
            <a:endParaRPr sz="3400" b="0" i="0" u="none" strike="noStrike" cap="none">
              <a:solidFill>
                <a:srgbClr val="000000"/>
              </a:solidFill>
              <a:latin typeface="Arial"/>
              <a:ea typeface="Arial"/>
              <a:cs typeface="Arial"/>
              <a:sym typeface="Arial"/>
            </a:endParaRPr>
          </a:p>
        </p:txBody>
      </p:sp>
      <p:sp>
        <p:nvSpPr>
          <p:cNvPr id="437" name="Google Shape;437;p18"/>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21</a:t>
            </a:fld>
            <a:endParaRPr/>
          </a:p>
        </p:txBody>
      </p:sp>
      <p:pic>
        <p:nvPicPr>
          <p:cNvPr id="438" name="Google Shape;438;p18"/>
          <p:cNvPicPr preferRelativeResize="0"/>
          <p:nvPr/>
        </p:nvPicPr>
        <p:blipFill>
          <a:blip r:embed="rId4">
            <a:alphaModFix/>
          </a:blip>
          <a:stretch>
            <a:fillRect/>
          </a:stretch>
        </p:blipFill>
        <p:spPr>
          <a:xfrm>
            <a:off x="770050" y="1502425"/>
            <a:ext cx="8417800" cy="49246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2"/>
        <p:cNvGrpSpPr/>
        <p:nvPr/>
      </p:nvGrpSpPr>
      <p:grpSpPr>
        <a:xfrm>
          <a:off x="0" y="0"/>
          <a:ext cx="0" cy="0"/>
          <a:chOff x="0" y="0"/>
          <a:chExt cx="0" cy="0"/>
        </a:xfrm>
      </p:grpSpPr>
      <p:sp>
        <p:nvSpPr>
          <p:cNvPr id="443" name="Google Shape;443;p19"/>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Payload vs. Launch Site</a:t>
            </a:r>
            <a:endParaRPr sz="3400" b="0" i="0" u="none" strike="noStrike" cap="none">
              <a:solidFill>
                <a:srgbClr val="000000"/>
              </a:solidFill>
              <a:latin typeface="Arial"/>
              <a:ea typeface="Arial"/>
              <a:cs typeface="Arial"/>
              <a:sym typeface="Arial"/>
            </a:endParaRPr>
          </a:p>
        </p:txBody>
      </p:sp>
      <p:sp>
        <p:nvSpPr>
          <p:cNvPr id="444" name="Google Shape;444;p19"/>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22</a:t>
            </a:fld>
            <a:endParaRPr/>
          </a:p>
        </p:txBody>
      </p:sp>
      <p:pic>
        <p:nvPicPr>
          <p:cNvPr id="445" name="Google Shape;445;p19"/>
          <p:cNvPicPr preferRelativeResize="0"/>
          <p:nvPr/>
        </p:nvPicPr>
        <p:blipFill>
          <a:blip r:embed="rId4">
            <a:alphaModFix/>
          </a:blip>
          <a:stretch>
            <a:fillRect/>
          </a:stretch>
        </p:blipFill>
        <p:spPr>
          <a:xfrm>
            <a:off x="770050" y="1651200"/>
            <a:ext cx="8410081" cy="477588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9"/>
        <p:cNvGrpSpPr/>
        <p:nvPr/>
      </p:nvGrpSpPr>
      <p:grpSpPr>
        <a:xfrm>
          <a:off x="0" y="0"/>
          <a:ext cx="0" cy="0"/>
          <a:chOff x="0" y="0"/>
          <a:chExt cx="0" cy="0"/>
        </a:xfrm>
      </p:grpSpPr>
      <p:sp>
        <p:nvSpPr>
          <p:cNvPr id="450" name="Google Shape;450;p20"/>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Success Rate vs. Orbit Type</a:t>
            </a:r>
            <a:endParaRPr sz="3400" b="0" i="0" u="none" strike="noStrike" cap="none">
              <a:solidFill>
                <a:srgbClr val="000000"/>
              </a:solidFill>
              <a:latin typeface="Arial"/>
              <a:ea typeface="Arial"/>
              <a:cs typeface="Arial"/>
              <a:sym typeface="Arial"/>
            </a:endParaRPr>
          </a:p>
        </p:txBody>
      </p:sp>
      <p:sp>
        <p:nvSpPr>
          <p:cNvPr id="451" name="Google Shape;451;p20"/>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23</a:t>
            </a:fld>
            <a:endParaRPr/>
          </a:p>
        </p:txBody>
      </p:sp>
      <p:pic>
        <p:nvPicPr>
          <p:cNvPr id="452" name="Google Shape;452;p20"/>
          <p:cNvPicPr preferRelativeResize="0"/>
          <p:nvPr/>
        </p:nvPicPr>
        <p:blipFill>
          <a:blip r:embed="rId4">
            <a:alphaModFix/>
          </a:blip>
          <a:stretch>
            <a:fillRect/>
          </a:stretch>
        </p:blipFill>
        <p:spPr>
          <a:xfrm>
            <a:off x="770050" y="1667825"/>
            <a:ext cx="6690050" cy="4823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6"/>
        <p:cNvGrpSpPr/>
        <p:nvPr/>
      </p:nvGrpSpPr>
      <p:grpSpPr>
        <a:xfrm>
          <a:off x="0" y="0"/>
          <a:ext cx="0" cy="0"/>
          <a:chOff x="0" y="0"/>
          <a:chExt cx="0" cy="0"/>
        </a:xfrm>
      </p:grpSpPr>
      <p:sp>
        <p:nvSpPr>
          <p:cNvPr id="457" name="Google Shape;457;p21"/>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Flight Number vs. Orbit Type</a:t>
            </a:r>
            <a:endParaRPr sz="3400" b="0" i="0" u="none" strike="noStrike" cap="none">
              <a:solidFill>
                <a:srgbClr val="000000"/>
              </a:solidFill>
              <a:latin typeface="Arial"/>
              <a:ea typeface="Arial"/>
              <a:cs typeface="Arial"/>
              <a:sym typeface="Arial"/>
            </a:endParaRPr>
          </a:p>
        </p:txBody>
      </p:sp>
      <p:sp>
        <p:nvSpPr>
          <p:cNvPr id="458" name="Google Shape;458;p21"/>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24</a:t>
            </a:fld>
            <a:endParaRPr/>
          </a:p>
        </p:txBody>
      </p:sp>
      <p:pic>
        <p:nvPicPr>
          <p:cNvPr id="459" name="Google Shape;459;p21"/>
          <p:cNvPicPr preferRelativeResize="0"/>
          <p:nvPr/>
        </p:nvPicPr>
        <p:blipFill>
          <a:blip r:embed="rId4">
            <a:alphaModFix/>
          </a:blip>
          <a:stretch>
            <a:fillRect/>
          </a:stretch>
        </p:blipFill>
        <p:spPr>
          <a:xfrm>
            <a:off x="770050" y="1493650"/>
            <a:ext cx="8117174" cy="49334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3"/>
        <p:cNvGrpSpPr/>
        <p:nvPr/>
      </p:nvGrpSpPr>
      <p:grpSpPr>
        <a:xfrm>
          <a:off x="0" y="0"/>
          <a:ext cx="0" cy="0"/>
          <a:chOff x="0" y="0"/>
          <a:chExt cx="0" cy="0"/>
        </a:xfrm>
      </p:grpSpPr>
      <p:sp>
        <p:nvSpPr>
          <p:cNvPr id="464" name="Google Shape;464;p22"/>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Payload vs. Orbit Type</a:t>
            </a:r>
            <a:endParaRPr sz="3400" b="0" i="0" u="none" strike="noStrike" cap="none">
              <a:solidFill>
                <a:srgbClr val="000000"/>
              </a:solidFill>
              <a:latin typeface="Arial"/>
              <a:ea typeface="Arial"/>
              <a:cs typeface="Arial"/>
              <a:sym typeface="Arial"/>
            </a:endParaRPr>
          </a:p>
        </p:txBody>
      </p:sp>
      <p:sp>
        <p:nvSpPr>
          <p:cNvPr id="465" name="Google Shape;465;p22"/>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25</a:t>
            </a:fld>
            <a:endParaRPr/>
          </a:p>
        </p:txBody>
      </p:sp>
      <p:pic>
        <p:nvPicPr>
          <p:cNvPr id="466" name="Google Shape;466;p22"/>
          <p:cNvPicPr preferRelativeResize="0"/>
          <p:nvPr/>
        </p:nvPicPr>
        <p:blipFill>
          <a:blip r:embed="rId4">
            <a:alphaModFix/>
          </a:blip>
          <a:stretch>
            <a:fillRect/>
          </a:stretch>
        </p:blipFill>
        <p:spPr>
          <a:xfrm>
            <a:off x="770050" y="1476775"/>
            <a:ext cx="8410079" cy="495029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0"/>
        <p:cNvGrpSpPr/>
        <p:nvPr/>
      </p:nvGrpSpPr>
      <p:grpSpPr>
        <a:xfrm>
          <a:off x="0" y="0"/>
          <a:ext cx="0" cy="0"/>
          <a:chOff x="0" y="0"/>
          <a:chExt cx="0" cy="0"/>
        </a:xfrm>
      </p:grpSpPr>
      <p:sp>
        <p:nvSpPr>
          <p:cNvPr id="471" name="Google Shape;471;p23"/>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Launch Success Yearly Trend</a:t>
            </a:r>
            <a:endParaRPr sz="3400" b="0" i="0" u="none" strike="noStrike" cap="none">
              <a:solidFill>
                <a:srgbClr val="000000"/>
              </a:solidFill>
              <a:latin typeface="Arial"/>
              <a:ea typeface="Arial"/>
              <a:cs typeface="Arial"/>
              <a:sym typeface="Arial"/>
            </a:endParaRPr>
          </a:p>
        </p:txBody>
      </p:sp>
      <p:sp>
        <p:nvSpPr>
          <p:cNvPr id="472" name="Google Shape;472;p23"/>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26</a:t>
            </a:fld>
            <a:endParaRPr/>
          </a:p>
        </p:txBody>
      </p:sp>
      <p:pic>
        <p:nvPicPr>
          <p:cNvPr id="473" name="Google Shape;473;p23"/>
          <p:cNvPicPr preferRelativeResize="0"/>
          <p:nvPr/>
        </p:nvPicPr>
        <p:blipFill>
          <a:blip r:embed="rId4">
            <a:alphaModFix/>
          </a:blip>
          <a:stretch>
            <a:fillRect/>
          </a:stretch>
        </p:blipFill>
        <p:spPr>
          <a:xfrm>
            <a:off x="770050" y="1474475"/>
            <a:ext cx="7741266" cy="4952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7"/>
        <p:cNvGrpSpPr/>
        <p:nvPr/>
      </p:nvGrpSpPr>
      <p:grpSpPr>
        <a:xfrm>
          <a:off x="0" y="0"/>
          <a:ext cx="0" cy="0"/>
          <a:chOff x="0" y="0"/>
          <a:chExt cx="0" cy="0"/>
        </a:xfrm>
      </p:grpSpPr>
      <p:sp>
        <p:nvSpPr>
          <p:cNvPr id="478" name="Google Shape;478;p24"/>
          <p:cNvSpPr txBox="1">
            <a:spLocks noGrp="1"/>
          </p:cNvSpPr>
          <p:nvPr>
            <p:ph type="body" idx="4294967295"/>
          </p:nvPr>
        </p:nvSpPr>
        <p:spPr>
          <a:xfrm>
            <a:off x="770050" y="3231725"/>
            <a:ext cx="9745200" cy="3195300"/>
          </a:xfrm>
          <a:prstGeom prst="rect">
            <a:avLst/>
          </a:prstGeom>
          <a:noFill/>
          <a:ln>
            <a:noFill/>
          </a:ln>
        </p:spPr>
        <p:txBody>
          <a:bodyPr spcFirstLastPara="1" wrap="square" lIns="90000" tIns="45000" rIns="90000" bIns="45000" anchor="t" anchorCtr="0">
            <a:normAutofit lnSpcReduction="10000"/>
          </a:bodyPr>
          <a:lstStyle/>
          <a:p>
            <a:pPr marL="457200" lvl="0" indent="0" algn="l" rtl="0">
              <a:lnSpc>
                <a:spcPct val="115000"/>
              </a:lnSpc>
              <a:spcBef>
                <a:spcPts val="1200"/>
              </a:spcBef>
              <a:spcAft>
                <a:spcPts val="0"/>
              </a:spcAft>
              <a:buNone/>
            </a:pPr>
            <a:r>
              <a:rPr lang="en-US" sz="1500">
                <a:solidFill>
                  <a:schemeClr val="dk1"/>
                </a:solidFill>
              </a:rPr>
              <a:t>The variable "unique_launch_sites" is assigned the result of the operation </a:t>
            </a:r>
            <a:r>
              <a:rPr lang="en-US" sz="1500">
                <a:solidFill>
                  <a:srgbClr val="6D9EEB"/>
                </a:solidFill>
                <a:latin typeface="Roboto Mono"/>
                <a:ea typeface="Roboto Mono"/>
                <a:cs typeface="Roboto Mono"/>
                <a:sym typeface="Roboto Mono"/>
              </a:rPr>
              <a:t>launch_data['Launch site'].unique()</a:t>
            </a:r>
            <a:r>
              <a:rPr lang="en-US" sz="1500">
                <a:solidFill>
                  <a:schemeClr val="dk1"/>
                </a:solidFill>
              </a:rPr>
              <a:t>. This operation retrieves the unique values from the 'Launch site' column of the "launch_data" dataset.</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The </a:t>
            </a:r>
            <a:r>
              <a:rPr lang="en-US" sz="1500">
                <a:solidFill>
                  <a:srgbClr val="1C7DDB"/>
                </a:solidFill>
                <a:latin typeface="Roboto Mono"/>
                <a:ea typeface="Roboto Mono"/>
                <a:cs typeface="Roboto Mono"/>
                <a:sym typeface="Roboto Mono"/>
              </a:rPr>
              <a:t>unique()</a:t>
            </a:r>
            <a:r>
              <a:rPr lang="en-US" sz="1500">
                <a:solidFill>
                  <a:schemeClr val="dk1"/>
                </a:solidFill>
              </a:rPr>
              <a:t> function is a method that can be called on a pandas Series object (like </a:t>
            </a:r>
            <a:r>
              <a:rPr lang="en-US" sz="1500">
                <a:solidFill>
                  <a:srgbClr val="1C7DDB"/>
                </a:solidFill>
                <a:latin typeface="Roboto Mono"/>
                <a:ea typeface="Roboto Mono"/>
                <a:cs typeface="Roboto Mono"/>
                <a:sym typeface="Roboto Mono"/>
              </a:rPr>
              <a:t>launch_data['Launch site']</a:t>
            </a:r>
            <a:r>
              <a:rPr lang="en-US" sz="1500">
                <a:solidFill>
                  <a:schemeClr val="dk1"/>
                </a:solidFill>
              </a:rPr>
              <a:t> in this case) to return an array of unique values.</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Finally, the code uses the </a:t>
            </a:r>
            <a:r>
              <a:rPr lang="en-US" sz="1500">
                <a:solidFill>
                  <a:srgbClr val="1C7DDB"/>
                </a:solidFill>
                <a:latin typeface="Roboto Mono"/>
                <a:ea typeface="Roboto Mono"/>
                <a:cs typeface="Roboto Mono"/>
                <a:sym typeface="Roboto Mono"/>
              </a:rPr>
              <a:t>print()</a:t>
            </a:r>
            <a:r>
              <a:rPr lang="en-US" sz="1500">
                <a:solidFill>
                  <a:schemeClr val="dk1"/>
                </a:solidFill>
              </a:rPr>
              <a:t> function to display the message "Unique Launch Sites:" along with the array of unique launch sites obtained from the dataset.</a:t>
            </a:r>
            <a:endParaRPr sz="1500">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US" sz="1500">
                <a:solidFill>
                  <a:schemeClr val="dk1"/>
                </a:solidFill>
              </a:rPr>
              <a:t>So, the code basically finds the distinct launch sites from the 'Launch site' column in the "launch_data" dataset and prints them out.</a:t>
            </a:r>
            <a:endParaRPr sz="1500">
              <a:solidFill>
                <a:schemeClr val="dk1"/>
              </a:solidFill>
            </a:endParaRPr>
          </a:p>
        </p:txBody>
      </p:sp>
      <p:sp>
        <p:nvSpPr>
          <p:cNvPr id="479" name="Google Shape;479;p24"/>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All Launch Site Names</a:t>
            </a:r>
            <a:endParaRPr sz="3400" b="0" i="0" u="none" strike="noStrike" cap="none">
              <a:solidFill>
                <a:srgbClr val="000000"/>
              </a:solidFill>
              <a:latin typeface="Arial"/>
              <a:ea typeface="Arial"/>
              <a:cs typeface="Arial"/>
              <a:sym typeface="Arial"/>
            </a:endParaRPr>
          </a:p>
        </p:txBody>
      </p:sp>
      <p:sp>
        <p:nvSpPr>
          <p:cNvPr id="480" name="Google Shape;480;p24"/>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27</a:t>
            </a:fld>
            <a:endParaRPr/>
          </a:p>
        </p:txBody>
      </p:sp>
      <p:pic>
        <p:nvPicPr>
          <p:cNvPr id="481" name="Google Shape;481;p24"/>
          <p:cNvPicPr preferRelativeResize="0"/>
          <p:nvPr/>
        </p:nvPicPr>
        <p:blipFill>
          <a:blip r:embed="rId4">
            <a:alphaModFix/>
          </a:blip>
          <a:stretch>
            <a:fillRect/>
          </a:stretch>
        </p:blipFill>
        <p:spPr>
          <a:xfrm>
            <a:off x="770050" y="1722225"/>
            <a:ext cx="6960725" cy="1349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85"/>
        <p:cNvGrpSpPr/>
        <p:nvPr/>
      </p:nvGrpSpPr>
      <p:grpSpPr>
        <a:xfrm>
          <a:off x="0" y="0"/>
          <a:ext cx="0" cy="0"/>
          <a:chOff x="0" y="0"/>
          <a:chExt cx="0" cy="0"/>
        </a:xfrm>
      </p:grpSpPr>
      <p:sp>
        <p:nvSpPr>
          <p:cNvPr id="486" name="Google Shape;486;p25"/>
          <p:cNvSpPr txBox="1">
            <a:spLocks noGrp="1"/>
          </p:cNvSpPr>
          <p:nvPr>
            <p:ph type="body" idx="4294967295"/>
          </p:nvPr>
        </p:nvSpPr>
        <p:spPr>
          <a:xfrm>
            <a:off x="516370" y="1982224"/>
            <a:ext cx="4631700" cy="3865500"/>
          </a:xfrm>
          <a:prstGeom prst="rect">
            <a:avLst/>
          </a:prstGeom>
          <a:noFill/>
          <a:ln>
            <a:noFill/>
          </a:ln>
        </p:spPr>
        <p:txBody>
          <a:bodyPr spcFirstLastPara="1" wrap="square" lIns="90000" tIns="45000" rIns="90000" bIns="45000" anchor="t" anchorCtr="0">
            <a:normAutofit fontScale="55000" lnSpcReduction="20000"/>
          </a:bodyPr>
          <a:lstStyle/>
          <a:p>
            <a:pPr marL="457200" lvl="0" indent="0" algn="just" rtl="0">
              <a:lnSpc>
                <a:spcPct val="115000"/>
              </a:lnSpc>
              <a:spcBef>
                <a:spcPts val="1200"/>
              </a:spcBef>
              <a:spcAft>
                <a:spcPts val="0"/>
              </a:spcAft>
              <a:buNone/>
            </a:pPr>
            <a:r>
              <a:rPr lang="en-US" sz="2400">
                <a:solidFill>
                  <a:schemeClr val="dk1"/>
                </a:solidFill>
              </a:rPr>
              <a:t>The code uses a filtering operation to select rows from the "launch_data" dataset that meet a specific condition.</a:t>
            </a:r>
            <a:endParaRPr sz="2400">
              <a:solidFill>
                <a:schemeClr val="dk1"/>
              </a:solidFill>
            </a:endParaRPr>
          </a:p>
          <a:p>
            <a:pPr marL="457200" lvl="0" indent="0" algn="just" rtl="0">
              <a:lnSpc>
                <a:spcPct val="115000"/>
              </a:lnSpc>
              <a:spcBef>
                <a:spcPts val="1200"/>
              </a:spcBef>
              <a:spcAft>
                <a:spcPts val="0"/>
              </a:spcAft>
              <a:buNone/>
            </a:pPr>
            <a:r>
              <a:rPr lang="en-US" sz="2400">
                <a:solidFill>
                  <a:schemeClr val="dk1"/>
                </a:solidFill>
              </a:rPr>
              <a:t>The condition is specified as </a:t>
            </a:r>
            <a:r>
              <a:rPr lang="en-US" sz="2400">
                <a:solidFill>
                  <a:srgbClr val="1C7DDB"/>
                </a:solidFill>
                <a:latin typeface="Roboto Mono"/>
                <a:ea typeface="Roboto Mono"/>
                <a:cs typeface="Roboto Mono"/>
                <a:sym typeface="Roboto Mono"/>
              </a:rPr>
              <a:t>launch_data['Launch site'].str.startswith('CCA')</a:t>
            </a:r>
            <a:r>
              <a:rPr lang="en-US" sz="2400">
                <a:solidFill>
                  <a:schemeClr val="dk1"/>
                </a:solidFill>
              </a:rPr>
              <a:t>, which checks if the values in the 'Launch site' column start with the letters 'CCA'.</a:t>
            </a:r>
            <a:endParaRPr sz="2400">
              <a:solidFill>
                <a:schemeClr val="dk1"/>
              </a:solidFill>
            </a:endParaRPr>
          </a:p>
          <a:p>
            <a:pPr marL="457200" lvl="0" indent="0" algn="just" rtl="0">
              <a:lnSpc>
                <a:spcPct val="115000"/>
              </a:lnSpc>
              <a:spcBef>
                <a:spcPts val="1200"/>
              </a:spcBef>
              <a:spcAft>
                <a:spcPts val="0"/>
              </a:spcAft>
              <a:buNone/>
            </a:pPr>
            <a:r>
              <a:rPr lang="en-US" sz="2400">
                <a:solidFill>
                  <a:schemeClr val="dk1"/>
                </a:solidFill>
              </a:rPr>
              <a:t>The </a:t>
            </a:r>
            <a:r>
              <a:rPr lang="en-US" sz="2400">
                <a:solidFill>
                  <a:srgbClr val="1C7DDB"/>
                </a:solidFill>
                <a:latin typeface="Roboto Mono"/>
                <a:ea typeface="Roboto Mono"/>
                <a:cs typeface="Roboto Mono"/>
                <a:sym typeface="Roboto Mono"/>
              </a:rPr>
              <a:t>startswith()</a:t>
            </a:r>
            <a:r>
              <a:rPr lang="en-US" sz="2400">
                <a:solidFill>
                  <a:schemeClr val="dk1"/>
                </a:solidFill>
              </a:rPr>
              <a:t> function is a string method that returns True if a string starts with a specified prefix.</a:t>
            </a:r>
            <a:endParaRPr sz="2400">
              <a:solidFill>
                <a:schemeClr val="dk1"/>
              </a:solidFill>
            </a:endParaRPr>
          </a:p>
          <a:p>
            <a:pPr marL="457200" lvl="0" indent="0" algn="just" rtl="0">
              <a:lnSpc>
                <a:spcPct val="115000"/>
              </a:lnSpc>
              <a:spcBef>
                <a:spcPts val="1200"/>
              </a:spcBef>
              <a:spcAft>
                <a:spcPts val="0"/>
              </a:spcAft>
              <a:buNone/>
            </a:pPr>
            <a:r>
              <a:rPr lang="en-US" sz="2400">
                <a:solidFill>
                  <a:schemeClr val="dk1"/>
                </a:solidFill>
              </a:rPr>
              <a:t>The filtered rows are assigned to the variable </a:t>
            </a:r>
            <a:r>
              <a:rPr lang="en-US" sz="2400">
                <a:solidFill>
                  <a:srgbClr val="1C7DDB"/>
                </a:solidFill>
                <a:latin typeface="Roboto Mono"/>
                <a:ea typeface="Roboto Mono"/>
                <a:cs typeface="Roboto Mono"/>
                <a:sym typeface="Roboto Mono"/>
              </a:rPr>
              <a:t>cca_records</a:t>
            </a:r>
            <a:r>
              <a:rPr lang="en-US" sz="2400">
                <a:solidFill>
                  <a:schemeClr val="dk1"/>
                </a:solidFill>
              </a:rPr>
              <a:t>.</a:t>
            </a:r>
            <a:endParaRPr sz="2400">
              <a:solidFill>
                <a:schemeClr val="dk1"/>
              </a:solidFill>
            </a:endParaRPr>
          </a:p>
          <a:p>
            <a:pPr marL="457200" lvl="0" indent="0" algn="just" rtl="0">
              <a:lnSpc>
                <a:spcPct val="115000"/>
              </a:lnSpc>
              <a:spcBef>
                <a:spcPts val="1200"/>
              </a:spcBef>
              <a:spcAft>
                <a:spcPts val="0"/>
              </a:spcAft>
              <a:buNone/>
            </a:pPr>
            <a:r>
              <a:rPr lang="en-US" sz="2400">
                <a:solidFill>
                  <a:schemeClr val="dk1"/>
                </a:solidFill>
              </a:rPr>
              <a:t>The </a:t>
            </a:r>
            <a:r>
              <a:rPr lang="en-US" sz="2400">
                <a:solidFill>
                  <a:srgbClr val="1C7DDB"/>
                </a:solidFill>
                <a:latin typeface="Roboto Mono"/>
                <a:ea typeface="Roboto Mono"/>
                <a:cs typeface="Roboto Mono"/>
                <a:sym typeface="Roboto Mono"/>
              </a:rPr>
              <a:t>head(5)</a:t>
            </a:r>
            <a:r>
              <a:rPr lang="en-US" sz="2400">
                <a:solidFill>
                  <a:schemeClr val="dk1"/>
                </a:solidFill>
              </a:rPr>
              <a:t> function is used to select the first 5 rows from the filtered records.</a:t>
            </a:r>
            <a:endParaRPr sz="2400">
              <a:solidFill>
                <a:schemeClr val="dk1"/>
              </a:solidFill>
            </a:endParaRPr>
          </a:p>
          <a:p>
            <a:pPr marL="457200" lvl="0" indent="0" algn="just" rtl="0">
              <a:lnSpc>
                <a:spcPct val="115000"/>
              </a:lnSpc>
              <a:spcBef>
                <a:spcPts val="1200"/>
              </a:spcBef>
              <a:spcAft>
                <a:spcPts val="0"/>
              </a:spcAft>
              <a:buNone/>
            </a:pPr>
            <a:r>
              <a:rPr lang="en-US" sz="2400">
                <a:solidFill>
                  <a:schemeClr val="dk1"/>
                </a:solidFill>
              </a:rPr>
              <a:t>Finally, the code uses the </a:t>
            </a:r>
            <a:r>
              <a:rPr lang="en-US" sz="2400">
                <a:solidFill>
                  <a:srgbClr val="1C7DDB"/>
                </a:solidFill>
                <a:latin typeface="Roboto Mono"/>
                <a:ea typeface="Roboto Mono"/>
                <a:cs typeface="Roboto Mono"/>
                <a:sym typeface="Roboto Mono"/>
              </a:rPr>
              <a:t>print()</a:t>
            </a:r>
            <a:r>
              <a:rPr lang="en-US" sz="2400">
                <a:solidFill>
                  <a:schemeClr val="dk1"/>
                </a:solidFill>
              </a:rPr>
              <a:t> function to display the message "First 5 records where launch sites begin with 'CCA':" followed by the selected records stored in </a:t>
            </a:r>
            <a:r>
              <a:rPr lang="en-US" sz="2400">
                <a:solidFill>
                  <a:srgbClr val="1C7DDB"/>
                </a:solidFill>
                <a:latin typeface="Roboto Mono"/>
                <a:ea typeface="Roboto Mono"/>
                <a:cs typeface="Roboto Mono"/>
                <a:sym typeface="Roboto Mono"/>
              </a:rPr>
              <a:t>cca_records</a:t>
            </a:r>
            <a:r>
              <a:rPr lang="en-US" sz="2400">
                <a:solidFill>
                  <a:schemeClr val="dk1"/>
                </a:solidFill>
              </a:rPr>
              <a:t>.</a:t>
            </a:r>
            <a:endParaRPr sz="2400">
              <a:solidFill>
                <a:schemeClr val="dk1"/>
              </a:solidFill>
            </a:endParaRPr>
          </a:p>
          <a:p>
            <a:pPr marL="0" marR="0" lvl="0" indent="0" algn="l" rtl="0">
              <a:lnSpc>
                <a:spcPct val="100000"/>
              </a:lnSpc>
              <a:spcBef>
                <a:spcPts val="1400"/>
              </a:spcBef>
              <a:spcAft>
                <a:spcPts val="0"/>
              </a:spcAft>
              <a:buClr>
                <a:srgbClr val="292929"/>
              </a:buClr>
              <a:buSzPct val="100000"/>
              <a:buFont typeface="Arial"/>
              <a:buNone/>
            </a:pPr>
            <a:endParaRPr sz="2200">
              <a:latin typeface="Calibri"/>
              <a:ea typeface="Calibri"/>
              <a:cs typeface="Calibri"/>
              <a:sym typeface="Calibri"/>
            </a:endParaRPr>
          </a:p>
        </p:txBody>
      </p:sp>
      <p:sp>
        <p:nvSpPr>
          <p:cNvPr id="487" name="Google Shape;487;p25"/>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Launch Site Names Begin with 'CCA'</a:t>
            </a:r>
            <a:endParaRPr sz="3400" b="0" i="0" u="none" strike="noStrike" cap="none">
              <a:solidFill>
                <a:srgbClr val="000000"/>
              </a:solidFill>
              <a:latin typeface="Arial"/>
              <a:ea typeface="Arial"/>
              <a:cs typeface="Arial"/>
              <a:sym typeface="Arial"/>
            </a:endParaRPr>
          </a:p>
        </p:txBody>
      </p:sp>
      <p:sp>
        <p:nvSpPr>
          <p:cNvPr id="488" name="Google Shape;488;p25"/>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28</a:t>
            </a:fld>
            <a:endParaRPr/>
          </a:p>
        </p:txBody>
      </p:sp>
      <p:pic>
        <p:nvPicPr>
          <p:cNvPr id="489" name="Google Shape;489;p25"/>
          <p:cNvPicPr preferRelativeResize="0"/>
          <p:nvPr/>
        </p:nvPicPr>
        <p:blipFill>
          <a:blip r:embed="rId4">
            <a:alphaModFix/>
          </a:blip>
          <a:stretch>
            <a:fillRect/>
          </a:stretch>
        </p:blipFill>
        <p:spPr>
          <a:xfrm>
            <a:off x="5974600" y="1982214"/>
            <a:ext cx="5483125" cy="366103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3"/>
        <p:cNvGrpSpPr/>
        <p:nvPr/>
      </p:nvGrpSpPr>
      <p:grpSpPr>
        <a:xfrm>
          <a:off x="0" y="0"/>
          <a:ext cx="0" cy="0"/>
          <a:chOff x="0" y="0"/>
          <a:chExt cx="0" cy="0"/>
        </a:xfrm>
      </p:grpSpPr>
      <p:sp>
        <p:nvSpPr>
          <p:cNvPr id="494" name="Google Shape;494;p28"/>
          <p:cNvSpPr txBox="1">
            <a:spLocks noGrp="1"/>
          </p:cNvSpPr>
          <p:nvPr>
            <p:ph type="body" idx="4294967295"/>
          </p:nvPr>
        </p:nvSpPr>
        <p:spPr>
          <a:xfrm>
            <a:off x="770050" y="2921699"/>
            <a:ext cx="9745200" cy="3254700"/>
          </a:xfrm>
          <a:prstGeom prst="rect">
            <a:avLst/>
          </a:prstGeom>
          <a:noFill/>
          <a:ln>
            <a:noFill/>
          </a:ln>
        </p:spPr>
        <p:txBody>
          <a:bodyPr spcFirstLastPara="1" wrap="square" lIns="91425" tIns="45700" rIns="91425" bIns="45700" anchor="t" anchorCtr="0">
            <a:normAutofit fontScale="85000" lnSpcReduction="10000"/>
          </a:bodyPr>
          <a:lstStyle/>
          <a:p>
            <a:pPr marL="457200" lvl="0" indent="0" algn="l" rtl="0">
              <a:lnSpc>
                <a:spcPct val="115000"/>
              </a:lnSpc>
              <a:spcBef>
                <a:spcPts val="1200"/>
              </a:spcBef>
              <a:spcAft>
                <a:spcPts val="0"/>
              </a:spcAft>
              <a:buNone/>
            </a:pPr>
            <a:r>
              <a:rPr lang="en-US" sz="1500">
                <a:solidFill>
                  <a:schemeClr val="dk1"/>
                </a:solidFill>
              </a:rPr>
              <a:t>The code uses a filtering operation to select rows from the "launch_data" dataset that meet specific conditions.</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The conditions are specified as </a:t>
            </a:r>
            <a:r>
              <a:rPr lang="en-US" sz="1500">
                <a:solidFill>
                  <a:srgbClr val="1C7DDB"/>
                </a:solidFill>
                <a:latin typeface="Roboto Mono"/>
                <a:ea typeface="Roboto Mono"/>
                <a:cs typeface="Roboto Mono"/>
                <a:sym typeface="Roboto Mono"/>
              </a:rPr>
              <a:t>(launch_data['Class'] == 1)</a:t>
            </a:r>
            <a:r>
              <a:rPr lang="en-US" sz="1500">
                <a:solidFill>
                  <a:schemeClr val="dk1"/>
                </a:solidFill>
              </a:rPr>
              <a:t> and </a:t>
            </a:r>
            <a:r>
              <a:rPr lang="en-US" sz="1500">
                <a:solidFill>
                  <a:srgbClr val="1C7DDB"/>
                </a:solidFill>
                <a:latin typeface="Roboto Mono"/>
                <a:ea typeface="Roboto Mono"/>
                <a:cs typeface="Roboto Mono"/>
                <a:sym typeface="Roboto Mono"/>
              </a:rPr>
              <a:t>(launch_data['Booster landing'] == 'Success')</a:t>
            </a:r>
            <a:r>
              <a:rPr lang="en-US" sz="1500">
                <a:solidFill>
                  <a:schemeClr val="dk1"/>
                </a:solidFill>
              </a:rPr>
              <a:t>, which check if the value in the 'Class' column is equal to 1 (indicating a successful landing) and the value in the 'Booster landing' column is 'Success'.</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The </a:t>
            </a:r>
            <a:r>
              <a:rPr lang="en-US" sz="1500">
                <a:solidFill>
                  <a:srgbClr val="1C7DDB"/>
                </a:solidFill>
                <a:latin typeface="Roboto Mono"/>
                <a:ea typeface="Roboto Mono"/>
                <a:cs typeface="Roboto Mono"/>
                <a:sym typeface="Roboto Mono"/>
              </a:rPr>
              <a:t>&amp;</a:t>
            </a:r>
            <a:r>
              <a:rPr lang="en-US" sz="1500">
                <a:solidFill>
                  <a:schemeClr val="dk1"/>
                </a:solidFill>
              </a:rPr>
              <a:t> operator is used to combine the two conditions, meaning both conditions must be true for a row to be selected.</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The filtered rows are then accessed using </a:t>
            </a:r>
            <a:r>
              <a:rPr lang="en-US" sz="1500">
                <a:solidFill>
                  <a:srgbClr val="1C7DDB"/>
                </a:solidFill>
                <a:latin typeface="Roboto Mono"/>
                <a:ea typeface="Roboto Mono"/>
                <a:cs typeface="Roboto Mono"/>
                <a:sym typeface="Roboto Mono"/>
              </a:rPr>
              <a:t>['Date']</a:t>
            </a:r>
            <a:r>
              <a:rPr lang="en-US" sz="1500">
                <a:solidFill>
                  <a:schemeClr val="dk1"/>
                </a:solidFill>
              </a:rPr>
              <a:t> to retrieve the values in the 'Date' column.</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The </a:t>
            </a:r>
            <a:r>
              <a:rPr lang="en-US" sz="1500">
                <a:solidFill>
                  <a:srgbClr val="1C7DDB"/>
                </a:solidFill>
                <a:latin typeface="Roboto Mono"/>
                <a:ea typeface="Roboto Mono"/>
                <a:cs typeface="Roboto Mono"/>
                <a:sym typeface="Roboto Mono"/>
              </a:rPr>
              <a:t>min()</a:t>
            </a:r>
            <a:r>
              <a:rPr lang="en-US" sz="1500">
                <a:solidFill>
                  <a:schemeClr val="dk1"/>
                </a:solidFill>
              </a:rPr>
              <a:t> function is used to find the minimum (earliest) date from the filtered rows.</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The resulting date is assigned to the variable </a:t>
            </a:r>
            <a:r>
              <a:rPr lang="en-US" sz="1500">
                <a:solidFill>
                  <a:srgbClr val="1C7DDB"/>
                </a:solidFill>
                <a:latin typeface="Roboto Mono"/>
                <a:ea typeface="Roboto Mono"/>
                <a:cs typeface="Roboto Mono"/>
                <a:sym typeface="Roboto Mono"/>
              </a:rPr>
              <a:t>first_success_dates</a:t>
            </a:r>
            <a:r>
              <a:rPr lang="en-US" sz="1500">
                <a:solidFill>
                  <a:schemeClr val="dk1"/>
                </a:solidFill>
              </a:rPr>
              <a:t>.</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Finally, the code uses the </a:t>
            </a:r>
            <a:r>
              <a:rPr lang="en-US" sz="1500">
                <a:solidFill>
                  <a:srgbClr val="1C7DDB"/>
                </a:solidFill>
                <a:latin typeface="Roboto Mono"/>
                <a:ea typeface="Roboto Mono"/>
                <a:cs typeface="Roboto Mono"/>
                <a:sym typeface="Roboto Mono"/>
              </a:rPr>
              <a:t>print()</a:t>
            </a:r>
            <a:r>
              <a:rPr lang="en-US" sz="1500">
                <a:solidFill>
                  <a:schemeClr val="dk1"/>
                </a:solidFill>
              </a:rPr>
              <a:t> function to display the message "The date of the first successful landing outcome on the ground pad:" followed by the value stored in </a:t>
            </a:r>
            <a:r>
              <a:rPr lang="en-US" sz="1500">
                <a:solidFill>
                  <a:srgbClr val="1C7DDB"/>
                </a:solidFill>
                <a:latin typeface="Roboto Mono"/>
                <a:ea typeface="Roboto Mono"/>
                <a:cs typeface="Roboto Mono"/>
                <a:sym typeface="Roboto Mono"/>
              </a:rPr>
              <a:t>first_success_dates</a:t>
            </a:r>
            <a:r>
              <a:rPr lang="en-US" sz="1500">
                <a:solidFill>
                  <a:schemeClr val="dk1"/>
                </a:solidFill>
              </a:rPr>
              <a:t>.</a:t>
            </a:r>
            <a:endParaRPr sz="1500">
              <a:solidFill>
                <a:schemeClr val="dk1"/>
              </a:solidFill>
            </a:endParaRPr>
          </a:p>
          <a:p>
            <a:pPr marL="0" marR="0" lvl="0" indent="0" algn="l" rtl="0">
              <a:lnSpc>
                <a:spcPct val="100000"/>
              </a:lnSpc>
              <a:spcBef>
                <a:spcPts val="1400"/>
              </a:spcBef>
              <a:spcAft>
                <a:spcPts val="0"/>
              </a:spcAft>
              <a:buClr>
                <a:srgbClr val="292929"/>
              </a:buClr>
              <a:buSzPct val="100000"/>
              <a:buFont typeface="Arial"/>
              <a:buNone/>
            </a:pPr>
            <a:endParaRPr sz="2200">
              <a:latin typeface="Calibri"/>
              <a:ea typeface="Calibri"/>
              <a:cs typeface="Calibri"/>
              <a:sym typeface="Calibri"/>
            </a:endParaRPr>
          </a:p>
        </p:txBody>
      </p:sp>
      <p:sp>
        <p:nvSpPr>
          <p:cNvPr id="495" name="Google Shape;495;p28"/>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First Successful Ground Landing Date</a:t>
            </a:r>
            <a:endParaRPr sz="3400" b="0" i="0" u="none" strike="noStrike" cap="none">
              <a:solidFill>
                <a:srgbClr val="000000"/>
              </a:solidFill>
              <a:latin typeface="Arial"/>
              <a:ea typeface="Arial"/>
              <a:cs typeface="Arial"/>
              <a:sym typeface="Arial"/>
            </a:endParaRPr>
          </a:p>
        </p:txBody>
      </p:sp>
      <p:sp>
        <p:nvSpPr>
          <p:cNvPr id="496" name="Google Shape;496;p28"/>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29</a:t>
            </a:fld>
            <a:endParaRPr/>
          </a:p>
        </p:txBody>
      </p:sp>
      <p:pic>
        <p:nvPicPr>
          <p:cNvPr id="497" name="Google Shape;497;p28"/>
          <p:cNvPicPr preferRelativeResize="0"/>
          <p:nvPr/>
        </p:nvPicPr>
        <p:blipFill>
          <a:blip r:embed="rId4">
            <a:alphaModFix/>
          </a:blip>
          <a:stretch>
            <a:fillRect/>
          </a:stretch>
        </p:blipFill>
        <p:spPr>
          <a:xfrm>
            <a:off x="770050" y="1643550"/>
            <a:ext cx="8810625" cy="952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1"/>
        <p:cNvGrpSpPr/>
        <p:nvPr/>
      </p:nvGrpSpPr>
      <p:grpSpPr>
        <a:xfrm>
          <a:off x="0" y="0"/>
          <a:ext cx="0" cy="0"/>
          <a:chOff x="0" y="0"/>
          <a:chExt cx="0" cy="0"/>
        </a:xfrm>
      </p:grpSpPr>
      <p:sp>
        <p:nvSpPr>
          <p:cNvPr id="502" name="Google Shape;502;p29"/>
          <p:cNvSpPr txBox="1">
            <a:spLocks noGrp="1"/>
          </p:cNvSpPr>
          <p:nvPr>
            <p:ph type="body" idx="4294967295"/>
          </p:nvPr>
        </p:nvSpPr>
        <p:spPr>
          <a:xfrm>
            <a:off x="7440475" y="1825525"/>
            <a:ext cx="3121800" cy="4673400"/>
          </a:xfrm>
          <a:prstGeom prst="rect">
            <a:avLst/>
          </a:prstGeom>
          <a:noFill/>
          <a:ln>
            <a:noFill/>
          </a:ln>
        </p:spPr>
        <p:txBody>
          <a:bodyPr spcFirstLastPara="1" wrap="square" lIns="91425" tIns="45700" rIns="91425" bIns="45700" anchor="t" anchorCtr="0">
            <a:normAutofit fontScale="32500" lnSpcReduction="10000"/>
          </a:bodyPr>
          <a:lstStyle/>
          <a:p>
            <a:pPr marL="0" marR="0" lvl="0" indent="0" algn="l" rtl="0">
              <a:lnSpc>
                <a:spcPct val="100000"/>
              </a:lnSpc>
              <a:spcBef>
                <a:spcPts val="0"/>
              </a:spcBef>
              <a:spcAft>
                <a:spcPts val="0"/>
              </a:spcAft>
              <a:buClr>
                <a:srgbClr val="292929"/>
              </a:buClr>
              <a:buSzPct val="35483"/>
              <a:buFont typeface="Arial"/>
              <a:buNone/>
            </a:pPr>
            <a:r>
              <a:rPr lang="en-US" sz="6200">
                <a:solidFill>
                  <a:srgbClr val="292929"/>
                </a:solidFill>
              </a:rPr>
              <a:t>This code first calculates the maximum payload mass from the 'Payload mass' column of the dataset. It then filters the data to find the rows where the payload mass equals this maximum value. </a:t>
            </a:r>
            <a:endParaRPr sz="6200">
              <a:solidFill>
                <a:srgbClr val="292929"/>
              </a:solidFill>
            </a:endParaRPr>
          </a:p>
          <a:p>
            <a:pPr marL="0" marR="0" lvl="0" indent="0" algn="l" rtl="0">
              <a:lnSpc>
                <a:spcPct val="100000"/>
              </a:lnSpc>
              <a:spcBef>
                <a:spcPts val="0"/>
              </a:spcBef>
              <a:spcAft>
                <a:spcPts val="0"/>
              </a:spcAft>
              <a:buClr>
                <a:srgbClr val="292929"/>
              </a:buClr>
              <a:buSzPct val="35483"/>
              <a:buFont typeface="Arial"/>
              <a:buNone/>
            </a:pPr>
            <a:endParaRPr sz="6200">
              <a:solidFill>
                <a:srgbClr val="292929"/>
              </a:solidFill>
            </a:endParaRPr>
          </a:p>
          <a:p>
            <a:pPr marL="0" marR="0" lvl="0" indent="0" algn="l" rtl="0">
              <a:lnSpc>
                <a:spcPct val="100000"/>
              </a:lnSpc>
              <a:spcBef>
                <a:spcPts val="0"/>
              </a:spcBef>
              <a:spcAft>
                <a:spcPts val="0"/>
              </a:spcAft>
              <a:buClr>
                <a:srgbClr val="292929"/>
              </a:buClr>
              <a:buSzPct val="35483"/>
              <a:buFont typeface="Arial"/>
              <a:buNone/>
            </a:pPr>
            <a:r>
              <a:rPr lang="en-US" sz="6200">
                <a:solidFill>
                  <a:srgbClr val="292929"/>
                </a:solidFill>
              </a:rPr>
              <a:t>Finally, it selects the 'Version Booster' column from the filtered data. The resulting series contains the names of the boosters that have carried the maximum payload mass.</a:t>
            </a:r>
            <a:endParaRPr sz="6200" b="0" i="0" u="none" strike="noStrike" cap="none">
              <a:solidFill>
                <a:srgbClr val="000000"/>
              </a:solidFill>
              <a:latin typeface="Calibri"/>
              <a:ea typeface="Calibri"/>
              <a:cs typeface="Calibri"/>
              <a:sym typeface="Calibri"/>
            </a:endParaRPr>
          </a:p>
          <a:p>
            <a:pPr marL="0" marR="0" lvl="0" indent="0" algn="l" rtl="0">
              <a:lnSpc>
                <a:spcPct val="100000"/>
              </a:lnSpc>
              <a:spcBef>
                <a:spcPts val="1400"/>
              </a:spcBef>
              <a:spcAft>
                <a:spcPts val="0"/>
              </a:spcAft>
              <a:buSzPct val="36666"/>
              <a:buFont typeface="Arial"/>
              <a:buNone/>
            </a:pPr>
            <a:endParaRPr sz="6000" b="0" i="0" u="none" strike="noStrike" cap="none">
              <a:solidFill>
                <a:srgbClr val="000000"/>
              </a:solidFill>
              <a:latin typeface="Calibri"/>
              <a:ea typeface="Calibri"/>
              <a:cs typeface="Calibri"/>
              <a:sym typeface="Calibri"/>
            </a:endParaRPr>
          </a:p>
          <a:p>
            <a:pPr marL="0" marR="0" lvl="0" indent="0" algn="l" rtl="0">
              <a:lnSpc>
                <a:spcPct val="100000"/>
              </a:lnSpc>
              <a:spcBef>
                <a:spcPts val="1400"/>
              </a:spcBef>
              <a:spcAft>
                <a:spcPts val="0"/>
              </a:spcAft>
              <a:buClr>
                <a:srgbClr val="292929"/>
              </a:buClr>
              <a:buSzPct val="100000"/>
              <a:buFont typeface="Arial"/>
              <a:buNone/>
            </a:pPr>
            <a:endParaRPr sz="2200" b="0" i="0" u="none" strike="noStrike" cap="none">
              <a:solidFill>
                <a:srgbClr val="000000"/>
              </a:solidFill>
              <a:latin typeface="Calibri"/>
              <a:ea typeface="Calibri"/>
              <a:cs typeface="Calibri"/>
              <a:sym typeface="Calibri"/>
            </a:endParaRPr>
          </a:p>
        </p:txBody>
      </p:sp>
      <p:sp>
        <p:nvSpPr>
          <p:cNvPr id="503" name="Google Shape;503;p29"/>
          <p:cNvSpPr/>
          <p:nvPr/>
        </p:nvSpPr>
        <p:spPr>
          <a:xfrm>
            <a:off x="770040" y="538560"/>
            <a:ext cx="10515240" cy="54864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080" b="0" i="0" u="none" strike="noStrike" cap="none">
                <a:solidFill>
                  <a:srgbClr val="0B49CB"/>
                </a:solidFill>
                <a:latin typeface="Arial"/>
                <a:ea typeface="Arial"/>
                <a:cs typeface="Arial"/>
                <a:sym typeface="Arial"/>
              </a:rPr>
              <a:t>Successful Drone Ship Landing with Payload between 4000 and 6000</a:t>
            </a:r>
            <a:endParaRPr sz="2080" b="0" i="0" u="none" strike="noStrike" cap="none">
              <a:solidFill>
                <a:srgbClr val="000000"/>
              </a:solidFill>
              <a:latin typeface="Arial"/>
              <a:ea typeface="Arial"/>
              <a:cs typeface="Arial"/>
              <a:sym typeface="Arial"/>
            </a:endParaRPr>
          </a:p>
        </p:txBody>
      </p:sp>
      <p:sp>
        <p:nvSpPr>
          <p:cNvPr id="504" name="Google Shape;504;p29"/>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30</a:t>
            </a:fld>
            <a:endParaRPr/>
          </a:p>
        </p:txBody>
      </p:sp>
      <p:pic>
        <p:nvPicPr>
          <p:cNvPr id="505" name="Google Shape;505;p29"/>
          <p:cNvPicPr preferRelativeResize="0"/>
          <p:nvPr/>
        </p:nvPicPr>
        <p:blipFill>
          <a:blip r:embed="rId4">
            <a:alphaModFix/>
          </a:blip>
          <a:stretch>
            <a:fillRect/>
          </a:stretch>
        </p:blipFill>
        <p:spPr>
          <a:xfrm>
            <a:off x="819400" y="1887828"/>
            <a:ext cx="6100944" cy="417894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9"/>
        <p:cNvGrpSpPr/>
        <p:nvPr/>
      </p:nvGrpSpPr>
      <p:grpSpPr>
        <a:xfrm>
          <a:off x="0" y="0"/>
          <a:ext cx="0" cy="0"/>
          <a:chOff x="0" y="0"/>
          <a:chExt cx="0" cy="0"/>
        </a:xfrm>
      </p:grpSpPr>
      <p:sp>
        <p:nvSpPr>
          <p:cNvPr id="510" name="Google Shape;510;p30"/>
          <p:cNvSpPr txBox="1">
            <a:spLocks noGrp="1"/>
          </p:cNvSpPr>
          <p:nvPr>
            <p:ph type="body" idx="4294967295"/>
          </p:nvPr>
        </p:nvSpPr>
        <p:spPr>
          <a:xfrm>
            <a:off x="770050" y="1825547"/>
            <a:ext cx="9745200" cy="12840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1400"/>
              </a:spcBef>
              <a:spcAft>
                <a:spcPts val="0"/>
              </a:spcAft>
              <a:buClr>
                <a:srgbClr val="292929"/>
              </a:buClr>
              <a:buSzPts val="2200"/>
              <a:buFont typeface="Arial"/>
              <a:buNone/>
            </a:pPr>
            <a:r>
              <a:rPr lang="en-US" sz="1500">
                <a:solidFill>
                  <a:schemeClr val="dk1"/>
                </a:solidFill>
              </a:rPr>
              <a:t>This code counts the number of successful and unsuccessful missions in the dataset. It uses the </a:t>
            </a:r>
            <a:r>
              <a:rPr lang="en-US" sz="1500">
                <a:solidFill>
                  <a:srgbClr val="1C7DDB"/>
                </a:solidFill>
                <a:latin typeface="Roboto Mono"/>
                <a:ea typeface="Roboto Mono"/>
                <a:cs typeface="Roboto Mono"/>
                <a:sym typeface="Roboto Mono"/>
              </a:rPr>
              <a:t>value_counts()</a:t>
            </a:r>
            <a:r>
              <a:rPr lang="en-US" sz="1500">
                <a:solidFill>
                  <a:schemeClr val="dk1"/>
                </a:solidFill>
              </a:rPr>
              <a:t> function on the 'Class' column, which is assumed to contain binary values indicating mission success (1 for success, 0 for failure). The resulting series has two entries: one for the number of successful missions and one for the number of unsuccessful missions.</a:t>
            </a:r>
            <a:endParaRPr sz="2600" b="0" i="0" u="none" strike="noStrike" cap="none">
              <a:solidFill>
                <a:srgbClr val="000000"/>
              </a:solidFill>
              <a:latin typeface="Calibri"/>
              <a:ea typeface="Calibri"/>
              <a:cs typeface="Calibri"/>
              <a:sym typeface="Calibri"/>
            </a:endParaRPr>
          </a:p>
        </p:txBody>
      </p:sp>
      <p:sp>
        <p:nvSpPr>
          <p:cNvPr id="511" name="Google Shape;511;p30"/>
          <p:cNvSpPr/>
          <p:nvPr/>
        </p:nvSpPr>
        <p:spPr>
          <a:xfrm>
            <a:off x="770040" y="538560"/>
            <a:ext cx="10515240" cy="54864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720" b="0" i="0" u="none" strike="noStrike" cap="none">
                <a:solidFill>
                  <a:srgbClr val="0B49CB"/>
                </a:solidFill>
                <a:latin typeface="Arial"/>
                <a:ea typeface="Arial"/>
                <a:cs typeface="Arial"/>
                <a:sym typeface="Arial"/>
              </a:rPr>
              <a:t>Total Number of Successful and Failure Mission Outcomes</a:t>
            </a:r>
            <a:endParaRPr sz="2720" b="0" i="0" u="none" strike="noStrike" cap="none">
              <a:solidFill>
                <a:srgbClr val="000000"/>
              </a:solidFill>
              <a:latin typeface="Arial"/>
              <a:ea typeface="Arial"/>
              <a:cs typeface="Arial"/>
              <a:sym typeface="Arial"/>
            </a:endParaRPr>
          </a:p>
        </p:txBody>
      </p:sp>
      <p:sp>
        <p:nvSpPr>
          <p:cNvPr id="512" name="Google Shape;512;p30"/>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31</a:t>
            </a:fld>
            <a:endParaRPr/>
          </a:p>
        </p:txBody>
      </p:sp>
      <p:pic>
        <p:nvPicPr>
          <p:cNvPr id="513" name="Google Shape;513;p30"/>
          <p:cNvPicPr preferRelativeResize="0"/>
          <p:nvPr/>
        </p:nvPicPr>
        <p:blipFill>
          <a:blip r:embed="rId4">
            <a:alphaModFix/>
          </a:blip>
          <a:stretch>
            <a:fillRect/>
          </a:stretch>
        </p:blipFill>
        <p:spPr>
          <a:xfrm>
            <a:off x="845188" y="3109550"/>
            <a:ext cx="4505325" cy="1123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7"/>
        <p:cNvGrpSpPr/>
        <p:nvPr/>
      </p:nvGrpSpPr>
      <p:grpSpPr>
        <a:xfrm>
          <a:off x="0" y="0"/>
          <a:ext cx="0" cy="0"/>
          <a:chOff x="0" y="0"/>
          <a:chExt cx="0" cy="0"/>
        </a:xfrm>
      </p:grpSpPr>
      <p:sp>
        <p:nvSpPr>
          <p:cNvPr id="518" name="Google Shape;518;p31"/>
          <p:cNvSpPr txBox="1">
            <a:spLocks noGrp="1"/>
          </p:cNvSpPr>
          <p:nvPr>
            <p:ph type="body" idx="4294967295"/>
          </p:nvPr>
        </p:nvSpPr>
        <p:spPr>
          <a:xfrm>
            <a:off x="8135650" y="1825550"/>
            <a:ext cx="3466500" cy="4350900"/>
          </a:xfrm>
          <a:prstGeom prst="rect">
            <a:avLst/>
          </a:prstGeom>
          <a:noFill/>
          <a:ln>
            <a:noFill/>
          </a:ln>
        </p:spPr>
        <p:txBody>
          <a:bodyPr spcFirstLastPara="1" wrap="square" lIns="90000" tIns="45000" rIns="90000" bIns="45000" anchor="t" anchorCtr="0">
            <a:normAutofit fontScale="92500" lnSpcReduction="10000"/>
          </a:bodyPr>
          <a:lstStyle/>
          <a:p>
            <a:pPr marL="0" marR="0" lvl="0" indent="0" algn="just" rtl="0">
              <a:lnSpc>
                <a:spcPct val="100000"/>
              </a:lnSpc>
              <a:spcBef>
                <a:spcPts val="1400"/>
              </a:spcBef>
              <a:spcAft>
                <a:spcPts val="0"/>
              </a:spcAft>
              <a:buClr>
                <a:srgbClr val="292929"/>
              </a:buClr>
              <a:buSzPct val="100000"/>
              <a:buFont typeface="Arial"/>
              <a:buNone/>
            </a:pPr>
            <a:r>
              <a:rPr lang="en-US" sz="2200">
                <a:solidFill>
                  <a:srgbClr val="292929"/>
                </a:solidFill>
              </a:rPr>
              <a:t>This code first calculates the maximum payload mass from the 'Payload mass' column of the dataset. It then filters the data to find the rows where the payload mass equals this maximum value. Finally, it selects the 'Version Booster' column from the filtered data. The resulting series contains the names of the boosters that have carried the maximum payload mass.</a:t>
            </a:r>
            <a:endParaRPr sz="2200" b="0" i="0" u="none" strike="noStrike" cap="none">
              <a:solidFill>
                <a:srgbClr val="000000"/>
              </a:solidFill>
              <a:latin typeface="Calibri"/>
              <a:ea typeface="Calibri"/>
              <a:cs typeface="Calibri"/>
              <a:sym typeface="Calibri"/>
            </a:endParaRPr>
          </a:p>
        </p:txBody>
      </p:sp>
      <p:sp>
        <p:nvSpPr>
          <p:cNvPr id="519" name="Google Shape;519;p31"/>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Boosters Carried Maximum Payload</a:t>
            </a:r>
            <a:endParaRPr sz="3400" b="0" i="0" u="none" strike="noStrike" cap="none">
              <a:solidFill>
                <a:srgbClr val="000000"/>
              </a:solidFill>
              <a:latin typeface="Arial"/>
              <a:ea typeface="Arial"/>
              <a:cs typeface="Arial"/>
              <a:sym typeface="Arial"/>
            </a:endParaRPr>
          </a:p>
        </p:txBody>
      </p:sp>
      <p:sp>
        <p:nvSpPr>
          <p:cNvPr id="520" name="Google Shape;520;p31"/>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32</a:t>
            </a:fld>
            <a:endParaRPr/>
          </a:p>
        </p:txBody>
      </p:sp>
      <p:pic>
        <p:nvPicPr>
          <p:cNvPr id="521" name="Google Shape;521;p31"/>
          <p:cNvPicPr preferRelativeResize="0"/>
          <p:nvPr/>
        </p:nvPicPr>
        <p:blipFill>
          <a:blip r:embed="rId4">
            <a:alphaModFix/>
          </a:blip>
          <a:stretch>
            <a:fillRect/>
          </a:stretch>
        </p:blipFill>
        <p:spPr>
          <a:xfrm>
            <a:off x="770038" y="1729313"/>
            <a:ext cx="7115175" cy="45434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25"/>
        <p:cNvGrpSpPr/>
        <p:nvPr/>
      </p:nvGrpSpPr>
      <p:grpSpPr>
        <a:xfrm>
          <a:off x="0" y="0"/>
          <a:ext cx="0" cy="0"/>
          <a:chOff x="0" y="0"/>
          <a:chExt cx="0" cy="0"/>
        </a:xfrm>
      </p:grpSpPr>
      <p:sp>
        <p:nvSpPr>
          <p:cNvPr id="526" name="Google Shape;526;p33"/>
          <p:cNvSpPr txBox="1">
            <a:spLocks noGrp="1"/>
          </p:cNvSpPr>
          <p:nvPr>
            <p:ph type="body" idx="4294967295"/>
          </p:nvPr>
        </p:nvSpPr>
        <p:spPr>
          <a:xfrm>
            <a:off x="770049" y="4161772"/>
            <a:ext cx="8925000" cy="20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400"/>
              </a:spcBef>
              <a:spcAft>
                <a:spcPts val="0"/>
              </a:spcAft>
              <a:buClr>
                <a:srgbClr val="292929"/>
              </a:buClr>
              <a:buSzPts val="2200"/>
              <a:buFont typeface="Arial"/>
              <a:buNone/>
            </a:pPr>
            <a:r>
              <a:rPr lang="en-US" sz="1500">
                <a:solidFill>
                  <a:schemeClr val="dk1"/>
                </a:solidFill>
              </a:rPr>
              <a:t>This code calculates the number of occurrences (counts) for each type of booster landing outcome in the given time range (from 2010-06-04 to 2017-03-20). It does this by first filtering the data frame to only include dates within the range, then uses the </a:t>
            </a:r>
            <a:r>
              <a:rPr lang="en-US" sz="1500">
                <a:solidFill>
                  <a:srgbClr val="1C7DDB"/>
                </a:solidFill>
                <a:latin typeface="Roboto Mono"/>
                <a:ea typeface="Roboto Mono"/>
                <a:cs typeface="Roboto Mono"/>
                <a:sym typeface="Roboto Mono"/>
              </a:rPr>
              <a:t>value_counts()</a:t>
            </a:r>
            <a:r>
              <a:rPr lang="en-US" sz="1500">
                <a:solidFill>
                  <a:schemeClr val="dk1"/>
                </a:solidFill>
              </a:rPr>
              <a:t> function to get the count of each unique value in the 'Booster landing' column. The result is a series where the index is the unique values (types of landing outcomes), and the corresponding values are the counts of these outcomes.</a:t>
            </a:r>
            <a:endParaRPr sz="2600" b="0" i="0" u="none" strike="noStrike" cap="none">
              <a:solidFill>
                <a:srgbClr val="000000"/>
              </a:solidFill>
              <a:latin typeface="Calibri"/>
              <a:ea typeface="Calibri"/>
              <a:cs typeface="Calibri"/>
              <a:sym typeface="Calibri"/>
            </a:endParaRPr>
          </a:p>
        </p:txBody>
      </p:sp>
      <p:sp>
        <p:nvSpPr>
          <p:cNvPr id="527" name="Google Shape;527;p33"/>
          <p:cNvSpPr/>
          <p:nvPr/>
        </p:nvSpPr>
        <p:spPr>
          <a:xfrm>
            <a:off x="770040" y="538560"/>
            <a:ext cx="10515240" cy="54864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None/>
            </a:pPr>
            <a:r>
              <a:rPr lang="en-US" sz="2560" b="0" i="0" u="none" strike="noStrike" cap="none">
                <a:solidFill>
                  <a:srgbClr val="0B49CB"/>
                </a:solidFill>
                <a:latin typeface="Arial"/>
                <a:ea typeface="Arial"/>
                <a:cs typeface="Arial"/>
                <a:sym typeface="Arial"/>
              </a:rPr>
              <a:t>Rank Landing Outcomes Between 2010-06-04 and 2017-03-20</a:t>
            </a:r>
            <a:endParaRPr sz="2560" b="0" i="0" u="none" strike="noStrike" cap="none">
              <a:solidFill>
                <a:srgbClr val="000000"/>
              </a:solidFill>
              <a:latin typeface="Arial"/>
              <a:ea typeface="Arial"/>
              <a:cs typeface="Arial"/>
              <a:sym typeface="Arial"/>
            </a:endParaRPr>
          </a:p>
        </p:txBody>
      </p:sp>
      <p:sp>
        <p:nvSpPr>
          <p:cNvPr id="528" name="Google Shape;528;p33"/>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33</a:t>
            </a:fld>
            <a:endParaRPr/>
          </a:p>
        </p:txBody>
      </p:sp>
      <p:pic>
        <p:nvPicPr>
          <p:cNvPr id="529" name="Google Shape;529;p33"/>
          <p:cNvPicPr preferRelativeResize="0"/>
          <p:nvPr/>
        </p:nvPicPr>
        <p:blipFill>
          <a:blip r:embed="rId4">
            <a:alphaModFix/>
          </a:blip>
          <a:stretch>
            <a:fillRect/>
          </a:stretch>
        </p:blipFill>
        <p:spPr>
          <a:xfrm>
            <a:off x="770038" y="1825550"/>
            <a:ext cx="8924925" cy="2171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3"/>
        <p:cNvGrpSpPr/>
        <p:nvPr/>
      </p:nvGrpSpPr>
      <p:grpSpPr>
        <a:xfrm>
          <a:off x="0" y="0"/>
          <a:ext cx="0" cy="0"/>
          <a:chOff x="0" y="0"/>
          <a:chExt cx="0" cy="0"/>
        </a:xfrm>
      </p:grpSpPr>
      <p:sp>
        <p:nvSpPr>
          <p:cNvPr id="534" name="Google Shape;534;p34"/>
          <p:cNvSpPr/>
          <p:nvPr/>
        </p:nvSpPr>
        <p:spPr>
          <a:xfrm>
            <a:off x="810720" y="2529720"/>
            <a:ext cx="1032840" cy="363960"/>
          </a:xfrm>
          <a:prstGeom prst="rect">
            <a:avLst/>
          </a:prstGeom>
          <a:solidFill>
            <a:srgbClr val="0948CB"/>
          </a:solid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FFFFFF"/>
                </a:solidFill>
                <a:latin typeface="Calibri"/>
                <a:ea typeface="Calibri"/>
                <a:cs typeface="Calibri"/>
                <a:sym typeface="Calibri"/>
              </a:rPr>
              <a:t>Section 3</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8"/>
        <p:cNvGrpSpPr/>
        <p:nvPr/>
      </p:nvGrpSpPr>
      <p:grpSpPr>
        <a:xfrm>
          <a:off x="0" y="0"/>
          <a:ext cx="0" cy="0"/>
          <a:chOff x="0" y="0"/>
          <a:chExt cx="0" cy="0"/>
        </a:xfrm>
      </p:grpSpPr>
      <p:sp>
        <p:nvSpPr>
          <p:cNvPr id="539" name="Google Shape;539;p35"/>
          <p:cNvSpPr txBox="1">
            <a:spLocks noGrp="1"/>
          </p:cNvSpPr>
          <p:nvPr>
            <p:ph type="body" idx="4294967295"/>
          </p:nvPr>
        </p:nvSpPr>
        <p:spPr>
          <a:xfrm>
            <a:off x="432150" y="3560700"/>
            <a:ext cx="5843400" cy="3147000"/>
          </a:xfrm>
          <a:prstGeom prst="rect">
            <a:avLst/>
          </a:prstGeom>
          <a:noFill/>
          <a:ln>
            <a:noFill/>
          </a:ln>
        </p:spPr>
        <p:txBody>
          <a:bodyPr spcFirstLastPara="1" wrap="square" lIns="91425" tIns="45700" rIns="91425" bIns="45700" anchor="t" anchorCtr="0">
            <a:normAutofit fontScale="40000" lnSpcReduction="20000"/>
          </a:bodyPr>
          <a:lstStyle/>
          <a:p>
            <a:pPr marL="457200" lvl="0" indent="0" algn="l" rtl="0">
              <a:lnSpc>
                <a:spcPct val="115000"/>
              </a:lnSpc>
              <a:spcBef>
                <a:spcPts val="1200"/>
              </a:spcBef>
              <a:spcAft>
                <a:spcPts val="0"/>
              </a:spcAft>
              <a:buNone/>
            </a:pPr>
            <a:r>
              <a:rPr lang="en-US" sz="3260">
                <a:solidFill>
                  <a:schemeClr val="dk1"/>
                </a:solidFill>
              </a:rPr>
              <a:t>The </a:t>
            </a:r>
            <a:r>
              <a:rPr lang="en-US" sz="3260">
                <a:solidFill>
                  <a:srgbClr val="1C7DDB"/>
                </a:solidFill>
                <a:latin typeface="Roboto Mono"/>
                <a:ea typeface="Roboto Mono"/>
                <a:cs typeface="Roboto Mono"/>
                <a:sym typeface="Roboto Mono"/>
              </a:rPr>
              <a:t>marker = folium.map.Marker(...)</a:t>
            </a:r>
            <a:r>
              <a:rPr lang="en-US" sz="3260">
                <a:solidFill>
                  <a:schemeClr val="dk1"/>
                </a:solidFill>
              </a:rPr>
              <a:t> section creates a marker at the same coordinates. This marker includes an icon, which is created using the </a:t>
            </a:r>
            <a:r>
              <a:rPr lang="en-US" sz="3260">
                <a:solidFill>
                  <a:srgbClr val="188038"/>
                </a:solidFill>
                <a:latin typeface="Roboto Mono"/>
                <a:ea typeface="Roboto Mono"/>
                <a:cs typeface="Roboto Mono"/>
                <a:sym typeface="Roboto Mono"/>
              </a:rPr>
              <a:t>DivIcon</a:t>
            </a:r>
            <a:r>
              <a:rPr lang="en-US" sz="3260">
                <a:solidFill>
                  <a:schemeClr val="dk1"/>
                </a:solidFill>
              </a:rPr>
              <a:t> class. This class allows you to create a custom HTML element as the icon, in this case, a text label displaying 'NASA JSC'. The icon has a size of 20x20, and the anchor point of the icon (i.e., the point of the icon that is located at the marker's coordinates) is at (0,0), the upper left corner of the icon. The color of the text is also set to '#d35400', the same as the circle.</a:t>
            </a:r>
            <a:endParaRPr sz="3260">
              <a:solidFill>
                <a:schemeClr val="dk1"/>
              </a:solidFill>
            </a:endParaRPr>
          </a:p>
          <a:p>
            <a:pPr marL="457200" lvl="0" indent="0" algn="l" rtl="0">
              <a:lnSpc>
                <a:spcPct val="115000"/>
              </a:lnSpc>
              <a:spcBef>
                <a:spcPts val="1200"/>
              </a:spcBef>
              <a:spcAft>
                <a:spcPts val="0"/>
              </a:spcAft>
              <a:buNone/>
            </a:pPr>
            <a:r>
              <a:rPr lang="en-US" sz="3260">
                <a:solidFill>
                  <a:schemeClr val="dk1"/>
                </a:solidFill>
              </a:rPr>
              <a:t>Finally, </a:t>
            </a:r>
            <a:r>
              <a:rPr lang="en-US" sz="3260">
                <a:solidFill>
                  <a:srgbClr val="1C7DDB"/>
                </a:solidFill>
                <a:latin typeface="Roboto Mono"/>
                <a:ea typeface="Roboto Mono"/>
                <a:cs typeface="Roboto Mono"/>
                <a:sym typeface="Roboto Mono"/>
              </a:rPr>
              <a:t>site_map.add_child(circle)</a:t>
            </a:r>
            <a:r>
              <a:rPr lang="en-US" sz="3260">
                <a:solidFill>
                  <a:srgbClr val="1C7DDB"/>
                </a:solidFill>
              </a:rPr>
              <a:t> </a:t>
            </a:r>
            <a:r>
              <a:rPr lang="en-US" sz="3260">
                <a:solidFill>
                  <a:schemeClr val="dk1"/>
                </a:solidFill>
              </a:rPr>
              <a:t>and </a:t>
            </a:r>
            <a:r>
              <a:rPr lang="en-US" sz="3260">
                <a:solidFill>
                  <a:srgbClr val="1C7DDB"/>
                </a:solidFill>
                <a:latin typeface="Roboto Mono"/>
                <a:ea typeface="Roboto Mono"/>
                <a:cs typeface="Roboto Mono"/>
                <a:sym typeface="Roboto Mono"/>
              </a:rPr>
              <a:t>site_map.add_child(marker)</a:t>
            </a:r>
            <a:r>
              <a:rPr lang="en-US" sz="3260">
                <a:solidFill>
                  <a:schemeClr val="dk1"/>
                </a:solidFill>
              </a:rPr>
              <a:t> add the created circle and marker to the map, which is assumed to be stored in the </a:t>
            </a:r>
            <a:r>
              <a:rPr lang="en-US" sz="3260">
                <a:solidFill>
                  <a:srgbClr val="1C7DDB"/>
                </a:solidFill>
                <a:latin typeface="Roboto Mono"/>
                <a:ea typeface="Roboto Mono"/>
                <a:cs typeface="Roboto Mono"/>
                <a:sym typeface="Roboto Mono"/>
              </a:rPr>
              <a:t>site_map</a:t>
            </a:r>
            <a:r>
              <a:rPr lang="en-US" sz="3260">
                <a:solidFill>
                  <a:srgbClr val="1C7DDB"/>
                </a:solidFill>
              </a:rPr>
              <a:t> </a:t>
            </a:r>
            <a:r>
              <a:rPr lang="en-US" sz="3260">
                <a:solidFill>
                  <a:schemeClr val="dk1"/>
                </a:solidFill>
              </a:rPr>
              <a:t>variable. As a result, the map will display a circle and a marker at the location of the NASA Johnson Space Center.</a:t>
            </a:r>
            <a:endParaRPr sz="3260">
              <a:solidFill>
                <a:schemeClr val="dk1"/>
              </a:solidFill>
            </a:endParaRPr>
          </a:p>
          <a:p>
            <a:pPr marL="0" marR="0" lvl="0" indent="0" algn="l" rtl="0">
              <a:lnSpc>
                <a:spcPct val="100000"/>
              </a:lnSpc>
              <a:spcBef>
                <a:spcPts val="1400"/>
              </a:spcBef>
              <a:spcAft>
                <a:spcPts val="0"/>
              </a:spcAft>
              <a:buClr>
                <a:srgbClr val="292929"/>
              </a:buClr>
              <a:buSzPct val="100000"/>
              <a:buFont typeface="Arial"/>
              <a:buNone/>
            </a:pPr>
            <a:endParaRPr sz="2200">
              <a:solidFill>
                <a:srgbClr val="292929"/>
              </a:solidFill>
            </a:endParaRPr>
          </a:p>
          <a:p>
            <a:pPr marL="0" marR="0" lvl="0" indent="0" algn="l" rtl="0">
              <a:lnSpc>
                <a:spcPct val="100000"/>
              </a:lnSpc>
              <a:spcBef>
                <a:spcPts val="0"/>
              </a:spcBef>
              <a:spcAft>
                <a:spcPts val="0"/>
              </a:spcAft>
              <a:buSzPct val="100000"/>
              <a:buFont typeface="Arial"/>
              <a:buNone/>
            </a:pPr>
            <a:endParaRPr sz="1800" b="0" i="0" u="none" strike="noStrike" cap="none">
              <a:solidFill>
                <a:srgbClr val="000000"/>
              </a:solidFill>
              <a:latin typeface="Calibri"/>
              <a:ea typeface="Calibri"/>
              <a:cs typeface="Calibri"/>
              <a:sym typeface="Calibri"/>
            </a:endParaRPr>
          </a:p>
        </p:txBody>
      </p:sp>
      <p:sp>
        <p:nvSpPr>
          <p:cNvPr id="540" name="Google Shape;540;p35"/>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Folium Map </a:t>
            </a:r>
            <a:r>
              <a:rPr lang="en-US" sz="3400">
                <a:solidFill>
                  <a:srgbClr val="0B49CB"/>
                </a:solidFill>
              </a:rPr>
              <a:t>1</a:t>
            </a:r>
            <a:endParaRPr sz="3400" b="0" i="0" u="none" strike="noStrike" cap="none">
              <a:solidFill>
                <a:srgbClr val="000000"/>
              </a:solidFill>
              <a:latin typeface="Arial"/>
              <a:ea typeface="Arial"/>
              <a:cs typeface="Arial"/>
              <a:sym typeface="Arial"/>
            </a:endParaRPr>
          </a:p>
        </p:txBody>
      </p:sp>
      <p:sp>
        <p:nvSpPr>
          <p:cNvPr id="541" name="Google Shape;541;p35"/>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35</a:t>
            </a:fld>
            <a:endParaRPr/>
          </a:p>
        </p:txBody>
      </p:sp>
      <p:pic>
        <p:nvPicPr>
          <p:cNvPr id="542" name="Google Shape;542;p35"/>
          <p:cNvPicPr preferRelativeResize="0"/>
          <p:nvPr/>
        </p:nvPicPr>
        <p:blipFill>
          <a:blip r:embed="rId4">
            <a:alphaModFix/>
          </a:blip>
          <a:stretch>
            <a:fillRect/>
          </a:stretch>
        </p:blipFill>
        <p:spPr>
          <a:xfrm>
            <a:off x="6447350" y="3035050"/>
            <a:ext cx="4837925" cy="3672650"/>
          </a:xfrm>
          <a:prstGeom prst="rect">
            <a:avLst/>
          </a:prstGeom>
          <a:noFill/>
          <a:ln>
            <a:noFill/>
          </a:ln>
        </p:spPr>
      </p:pic>
      <p:sp>
        <p:nvSpPr>
          <p:cNvPr id="543" name="Google Shape;543;p35"/>
          <p:cNvSpPr txBox="1"/>
          <p:nvPr/>
        </p:nvSpPr>
        <p:spPr>
          <a:xfrm>
            <a:off x="356975" y="1409175"/>
            <a:ext cx="10928400" cy="20886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0"/>
              </a:spcAft>
              <a:buNone/>
            </a:pPr>
            <a:r>
              <a:rPr lang="en-US" sz="1300">
                <a:solidFill>
                  <a:srgbClr val="1C7DDB"/>
                </a:solidFill>
                <a:latin typeface="Roboto Mono"/>
                <a:ea typeface="Roboto Mono"/>
                <a:cs typeface="Roboto Mono"/>
                <a:sym typeface="Roboto Mono"/>
              </a:rPr>
              <a:t>circle = folium.Circle(nasa_coordinate, radius=1000, color='#d35400', fill=True).add_child(folium.Popup('NASA Johnson Space Center'))</a:t>
            </a:r>
            <a:br>
              <a:rPr lang="en-US" sz="1300">
                <a:solidFill>
                  <a:srgbClr val="188038"/>
                </a:solidFill>
                <a:latin typeface="Roboto Mono"/>
                <a:ea typeface="Roboto Mono"/>
                <a:cs typeface="Roboto Mono"/>
                <a:sym typeface="Roboto Mono"/>
              </a:rPr>
            </a:br>
            <a:endParaRPr sz="1300">
              <a:solidFill>
                <a:srgbClr val="188038"/>
              </a:solidFill>
              <a:latin typeface="Roboto Mono"/>
              <a:ea typeface="Roboto Mono"/>
              <a:cs typeface="Roboto Mono"/>
              <a:sym typeface="Roboto Mono"/>
            </a:endParaRPr>
          </a:p>
          <a:p>
            <a:pPr marL="457200" lvl="0" indent="0" algn="l" rtl="0">
              <a:lnSpc>
                <a:spcPct val="115000"/>
              </a:lnSpc>
              <a:spcBef>
                <a:spcPts val="1200"/>
              </a:spcBef>
              <a:spcAft>
                <a:spcPts val="0"/>
              </a:spcAft>
              <a:buNone/>
            </a:pPr>
            <a:r>
              <a:rPr lang="en-US" sz="1300">
                <a:solidFill>
                  <a:schemeClr val="dk1"/>
                </a:solidFill>
              </a:rPr>
              <a:t>This line of code creates a circle at the coordinates specified by the variable </a:t>
            </a:r>
            <a:r>
              <a:rPr lang="en-US" sz="1300">
                <a:solidFill>
                  <a:srgbClr val="1C7DDB"/>
                </a:solidFill>
                <a:latin typeface="Roboto Mono"/>
                <a:ea typeface="Roboto Mono"/>
                <a:cs typeface="Roboto Mono"/>
                <a:sym typeface="Roboto Mono"/>
              </a:rPr>
              <a:t>nasa_coordinate</a:t>
            </a:r>
            <a:r>
              <a:rPr lang="en-US" sz="1300">
                <a:solidFill>
                  <a:srgbClr val="1C7DDB"/>
                </a:solidFill>
              </a:rPr>
              <a:t>.</a:t>
            </a:r>
            <a:r>
              <a:rPr lang="en-US" sz="1300">
                <a:solidFill>
                  <a:schemeClr val="dk1"/>
                </a:solidFill>
              </a:rPr>
              <a:t> The circle has a radius of 1000 units (usually this is in meters), a color defined by the hexadecimal color code '#d35400', and is filled. A popup is added to the circle, which will show the text 'NASA Johnson Space Center' when the circle is clicked on in the map.</a:t>
            </a:r>
            <a:endParaRPr sz="1300">
              <a:solidFill>
                <a:schemeClr val="dk1"/>
              </a:solidFill>
            </a:endParaRPr>
          </a:p>
          <a:p>
            <a:pPr marL="0" lvl="0" indent="0" algn="l" rtl="0">
              <a:spcBef>
                <a:spcPts val="120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7"/>
        <p:cNvGrpSpPr/>
        <p:nvPr/>
      </p:nvGrpSpPr>
      <p:grpSpPr>
        <a:xfrm>
          <a:off x="0" y="0"/>
          <a:ext cx="0" cy="0"/>
          <a:chOff x="0" y="0"/>
          <a:chExt cx="0" cy="0"/>
        </a:xfrm>
      </p:grpSpPr>
      <p:sp>
        <p:nvSpPr>
          <p:cNvPr id="548" name="Google Shape;548;p36"/>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a:solidFill>
                  <a:srgbClr val="0B49CB"/>
                </a:solidFill>
              </a:rPr>
              <a:t>Launch Sites</a:t>
            </a:r>
            <a:endParaRPr sz="3400">
              <a:solidFill>
                <a:srgbClr val="0B49CB"/>
              </a:solidFill>
            </a:endParaRPr>
          </a:p>
        </p:txBody>
      </p:sp>
      <p:sp>
        <p:nvSpPr>
          <p:cNvPr id="549" name="Google Shape;549;p36"/>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36</a:t>
            </a:fld>
            <a:endParaRPr/>
          </a:p>
        </p:txBody>
      </p:sp>
      <p:pic>
        <p:nvPicPr>
          <p:cNvPr id="550" name="Google Shape;550;p36"/>
          <p:cNvPicPr preferRelativeResize="0"/>
          <p:nvPr/>
        </p:nvPicPr>
        <p:blipFill>
          <a:blip r:embed="rId4">
            <a:alphaModFix/>
          </a:blip>
          <a:stretch>
            <a:fillRect/>
          </a:stretch>
        </p:blipFill>
        <p:spPr>
          <a:xfrm>
            <a:off x="723075" y="1550100"/>
            <a:ext cx="2781075" cy="2296100"/>
          </a:xfrm>
          <a:prstGeom prst="rect">
            <a:avLst/>
          </a:prstGeom>
          <a:noFill/>
          <a:ln>
            <a:noFill/>
          </a:ln>
        </p:spPr>
      </p:pic>
      <p:pic>
        <p:nvPicPr>
          <p:cNvPr id="551" name="Google Shape;551;p36"/>
          <p:cNvPicPr preferRelativeResize="0"/>
          <p:nvPr/>
        </p:nvPicPr>
        <p:blipFill>
          <a:blip r:embed="rId5">
            <a:alphaModFix/>
          </a:blip>
          <a:stretch>
            <a:fillRect/>
          </a:stretch>
        </p:blipFill>
        <p:spPr>
          <a:xfrm>
            <a:off x="603162" y="4309100"/>
            <a:ext cx="3020889" cy="2389925"/>
          </a:xfrm>
          <a:prstGeom prst="rect">
            <a:avLst/>
          </a:prstGeom>
          <a:noFill/>
          <a:ln>
            <a:noFill/>
          </a:ln>
        </p:spPr>
      </p:pic>
      <p:pic>
        <p:nvPicPr>
          <p:cNvPr id="552" name="Google Shape;552;p36"/>
          <p:cNvPicPr preferRelativeResize="0"/>
          <p:nvPr/>
        </p:nvPicPr>
        <p:blipFill>
          <a:blip r:embed="rId6">
            <a:alphaModFix/>
          </a:blip>
          <a:stretch>
            <a:fillRect/>
          </a:stretch>
        </p:blipFill>
        <p:spPr>
          <a:xfrm>
            <a:off x="3795250" y="1550100"/>
            <a:ext cx="8263149" cy="39286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6"/>
        <p:cNvGrpSpPr/>
        <p:nvPr/>
      </p:nvGrpSpPr>
      <p:grpSpPr>
        <a:xfrm>
          <a:off x="0" y="0"/>
          <a:ext cx="0" cy="0"/>
          <a:chOff x="0" y="0"/>
          <a:chExt cx="0" cy="0"/>
        </a:xfrm>
      </p:grpSpPr>
      <p:sp>
        <p:nvSpPr>
          <p:cNvPr id="557" name="Google Shape;557;p37"/>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a:solidFill>
                  <a:srgbClr val="0B49CB"/>
                </a:solidFill>
              </a:rPr>
              <a:t>Proximities</a:t>
            </a:r>
            <a:endParaRPr sz="3400" b="0" i="0" u="none" strike="noStrike" cap="none">
              <a:solidFill>
                <a:srgbClr val="000000"/>
              </a:solidFill>
              <a:latin typeface="Arial"/>
              <a:ea typeface="Arial"/>
              <a:cs typeface="Arial"/>
              <a:sym typeface="Arial"/>
            </a:endParaRPr>
          </a:p>
        </p:txBody>
      </p:sp>
      <p:sp>
        <p:nvSpPr>
          <p:cNvPr id="558" name="Google Shape;558;p37"/>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37</a:t>
            </a:fld>
            <a:endParaRPr/>
          </a:p>
        </p:txBody>
      </p:sp>
      <p:pic>
        <p:nvPicPr>
          <p:cNvPr id="559" name="Google Shape;559;p37"/>
          <p:cNvPicPr preferRelativeResize="0"/>
          <p:nvPr/>
        </p:nvPicPr>
        <p:blipFill>
          <a:blip r:embed="rId4">
            <a:alphaModFix/>
          </a:blip>
          <a:stretch>
            <a:fillRect/>
          </a:stretch>
        </p:blipFill>
        <p:spPr>
          <a:xfrm>
            <a:off x="556375" y="1436900"/>
            <a:ext cx="5655383" cy="5465999"/>
          </a:xfrm>
          <a:prstGeom prst="rect">
            <a:avLst/>
          </a:prstGeom>
          <a:noFill/>
          <a:ln>
            <a:noFill/>
          </a:ln>
        </p:spPr>
      </p:pic>
      <p:pic>
        <p:nvPicPr>
          <p:cNvPr id="560" name="Google Shape;560;p37"/>
          <p:cNvPicPr preferRelativeResize="0"/>
          <p:nvPr/>
        </p:nvPicPr>
        <p:blipFill>
          <a:blip r:embed="rId5">
            <a:alphaModFix/>
          </a:blip>
          <a:stretch>
            <a:fillRect/>
          </a:stretch>
        </p:blipFill>
        <p:spPr>
          <a:xfrm>
            <a:off x="6317208" y="1472450"/>
            <a:ext cx="5675443" cy="416798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4"/>
        <p:cNvGrpSpPr/>
        <p:nvPr/>
      </p:nvGrpSpPr>
      <p:grpSpPr>
        <a:xfrm>
          <a:off x="0" y="0"/>
          <a:ext cx="0" cy="0"/>
          <a:chOff x="0" y="0"/>
          <a:chExt cx="0" cy="0"/>
        </a:xfrm>
      </p:grpSpPr>
      <p:sp>
        <p:nvSpPr>
          <p:cNvPr id="565" name="Google Shape;565;p42"/>
          <p:cNvSpPr/>
          <p:nvPr/>
        </p:nvSpPr>
        <p:spPr>
          <a:xfrm>
            <a:off x="810720" y="2529720"/>
            <a:ext cx="1032840" cy="363960"/>
          </a:xfrm>
          <a:prstGeom prst="rect">
            <a:avLst/>
          </a:prstGeom>
          <a:solidFill>
            <a:srgbClr val="0948CB"/>
          </a:solidFill>
          <a:ln>
            <a:noFill/>
          </a:ln>
        </p:spPr>
        <p:txBody>
          <a:bodyPr spcFirstLastPara="1" wrap="square" lIns="90000" tIns="45000" rIns="90000" bIns="450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FFFFFF"/>
                </a:solidFill>
                <a:latin typeface="Calibri"/>
                <a:ea typeface="Calibri"/>
                <a:cs typeface="Calibri"/>
                <a:sym typeface="Calibri"/>
              </a:rPr>
              <a:t>Section 5</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9"/>
        <p:cNvGrpSpPr/>
        <p:nvPr/>
      </p:nvGrpSpPr>
      <p:grpSpPr>
        <a:xfrm>
          <a:off x="0" y="0"/>
          <a:ext cx="0" cy="0"/>
          <a:chOff x="0" y="0"/>
          <a:chExt cx="0" cy="0"/>
        </a:xfrm>
      </p:grpSpPr>
      <p:sp>
        <p:nvSpPr>
          <p:cNvPr id="570" name="Google Shape;570;p43"/>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Classification Accuracy</a:t>
            </a:r>
            <a:endParaRPr sz="3400" b="0" i="0" u="none" strike="noStrike" cap="none">
              <a:solidFill>
                <a:srgbClr val="000000"/>
              </a:solidFill>
              <a:latin typeface="Arial"/>
              <a:ea typeface="Arial"/>
              <a:cs typeface="Arial"/>
              <a:sym typeface="Arial"/>
            </a:endParaRPr>
          </a:p>
        </p:txBody>
      </p:sp>
      <p:sp>
        <p:nvSpPr>
          <p:cNvPr id="571" name="Google Shape;571;p43"/>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39</a:t>
            </a:fld>
            <a:endParaRPr/>
          </a:p>
        </p:txBody>
      </p:sp>
      <p:pic>
        <p:nvPicPr>
          <p:cNvPr id="572" name="Google Shape;572;p43"/>
          <p:cNvPicPr preferRelativeResize="0"/>
          <p:nvPr/>
        </p:nvPicPr>
        <p:blipFill>
          <a:blip r:embed="rId4">
            <a:alphaModFix/>
          </a:blip>
          <a:stretch>
            <a:fillRect/>
          </a:stretch>
        </p:blipFill>
        <p:spPr>
          <a:xfrm>
            <a:off x="885220" y="1793400"/>
            <a:ext cx="4359366" cy="4633680"/>
          </a:xfrm>
          <a:prstGeom prst="rect">
            <a:avLst/>
          </a:prstGeom>
          <a:noFill/>
          <a:ln>
            <a:noFill/>
          </a:ln>
        </p:spPr>
      </p:pic>
      <p:sp>
        <p:nvSpPr>
          <p:cNvPr id="573" name="Google Shape;573;p43"/>
          <p:cNvSpPr txBox="1"/>
          <p:nvPr/>
        </p:nvSpPr>
        <p:spPr>
          <a:xfrm>
            <a:off x="5458200" y="1737975"/>
            <a:ext cx="5486400" cy="507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a:t>Based on our comparison of the different machine learning models – Logistic Regression, Support Vector Machine, Decision Tree, and K-Nearest Neighbors – we found that Logistic Regression has the highest classification accuracy.</a:t>
            </a:r>
            <a:endParaRPr/>
          </a:p>
          <a:p>
            <a:pPr marL="0" lvl="0" indent="0" algn="l" rtl="0">
              <a:lnSpc>
                <a:spcPct val="115000"/>
              </a:lnSpc>
              <a:spcBef>
                <a:spcPts val="1200"/>
              </a:spcBef>
              <a:spcAft>
                <a:spcPts val="0"/>
              </a:spcAft>
              <a:buClr>
                <a:schemeClr val="dk1"/>
              </a:buClr>
              <a:buSzPts val="1100"/>
              <a:buFont typeface="Arial"/>
              <a:buNone/>
            </a:pPr>
            <a:r>
              <a:rPr lang="en-US"/>
              <a:t>Logistic Regression is a statistical model used for binary classification problems. It estimates the probability of an event occurring based on one or more predictor variables. In our case, Logistic Regression provided the most accurate predictions. This suggests that the relationship between our predictors and the outcome variable can be effectively modeled using the logistic function, which Logistic Regression employs.</a:t>
            </a:r>
            <a:endParaRPr/>
          </a:p>
          <a:p>
            <a:pPr marL="0" lvl="0" indent="0" algn="l" rtl="0">
              <a:lnSpc>
                <a:spcPct val="115000"/>
              </a:lnSpc>
              <a:spcBef>
                <a:spcPts val="1200"/>
              </a:spcBef>
              <a:spcAft>
                <a:spcPts val="0"/>
              </a:spcAft>
              <a:buClr>
                <a:schemeClr val="dk1"/>
              </a:buClr>
              <a:buSzPts val="1100"/>
              <a:buFont typeface="Arial"/>
              <a:buNone/>
            </a:pPr>
            <a:r>
              <a:rPr lang="en-US"/>
              <a:t>This analysis emphasizes the importance of model selection in machine learning tasks. Different models have different strengths and are suitable for different types of data and prediction tasks. By comparing the performance of different models, we can choose the one that best suits our specific needs and provides the most accurate predictions.</a:t>
            </a:r>
            <a:endParaRPr/>
          </a:p>
          <a:p>
            <a:pPr marL="0" lvl="0" indent="0" algn="l" rtl="0">
              <a:spcBef>
                <a:spcPts val="1200"/>
              </a:spcBef>
              <a:spcAft>
                <a:spcPts val="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77"/>
        <p:cNvGrpSpPr/>
        <p:nvPr/>
      </p:nvGrpSpPr>
      <p:grpSpPr>
        <a:xfrm>
          <a:off x="0" y="0"/>
          <a:ext cx="0" cy="0"/>
          <a:chOff x="0" y="0"/>
          <a:chExt cx="0" cy="0"/>
        </a:xfrm>
      </p:grpSpPr>
      <p:sp>
        <p:nvSpPr>
          <p:cNvPr id="578" name="Google Shape;578;p44"/>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Confusion Matrix</a:t>
            </a:r>
            <a:endParaRPr sz="3400" b="0" i="0" u="none" strike="noStrike" cap="none">
              <a:solidFill>
                <a:srgbClr val="000000"/>
              </a:solidFill>
              <a:latin typeface="Arial"/>
              <a:ea typeface="Arial"/>
              <a:cs typeface="Arial"/>
              <a:sym typeface="Arial"/>
            </a:endParaRPr>
          </a:p>
        </p:txBody>
      </p:sp>
      <p:sp>
        <p:nvSpPr>
          <p:cNvPr id="579" name="Google Shape;579;p44"/>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40</a:t>
            </a:fld>
            <a:endParaRPr/>
          </a:p>
        </p:txBody>
      </p:sp>
      <p:pic>
        <p:nvPicPr>
          <p:cNvPr id="580" name="Google Shape;580;p44"/>
          <p:cNvPicPr preferRelativeResize="0"/>
          <p:nvPr/>
        </p:nvPicPr>
        <p:blipFill>
          <a:blip r:embed="rId4">
            <a:alphaModFix/>
          </a:blip>
          <a:stretch>
            <a:fillRect/>
          </a:stretch>
        </p:blipFill>
        <p:spPr>
          <a:xfrm>
            <a:off x="932175" y="1803275"/>
            <a:ext cx="5048250" cy="4314825"/>
          </a:xfrm>
          <a:prstGeom prst="rect">
            <a:avLst/>
          </a:prstGeom>
          <a:noFill/>
          <a:ln>
            <a:noFill/>
          </a:ln>
        </p:spPr>
      </p:pic>
      <p:sp>
        <p:nvSpPr>
          <p:cNvPr id="581" name="Google Shape;581;p44"/>
          <p:cNvSpPr txBox="1"/>
          <p:nvPr/>
        </p:nvSpPr>
        <p:spPr>
          <a:xfrm>
            <a:off x="6294300" y="1882800"/>
            <a:ext cx="4781700" cy="371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500"/>
              <a:t>In your case, it has 3 True Positives, 3 True Negatives, 0 False Positives, and 12 False Negatives.</a:t>
            </a:r>
            <a:endParaRPr sz="1500"/>
          </a:p>
          <a:p>
            <a:pPr marL="0" lvl="0" indent="0" algn="l" rtl="0">
              <a:lnSpc>
                <a:spcPct val="115000"/>
              </a:lnSpc>
              <a:spcBef>
                <a:spcPts val="1200"/>
              </a:spcBef>
              <a:spcAft>
                <a:spcPts val="0"/>
              </a:spcAft>
              <a:buClr>
                <a:schemeClr val="dk1"/>
              </a:buClr>
              <a:buSzPts val="1100"/>
              <a:buFont typeface="Arial"/>
              <a:buNone/>
            </a:pPr>
            <a:r>
              <a:rPr lang="en-US" sz="1500"/>
              <a:t>This means the model has:</a:t>
            </a:r>
            <a:endParaRPr sz="1500"/>
          </a:p>
          <a:p>
            <a:pPr marL="457200" lvl="0" indent="0" algn="l" rtl="0">
              <a:lnSpc>
                <a:spcPct val="115000"/>
              </a:lnSpc>
              <a:spcBef>
                <a:spcPts val="1200"/>
              </a:spcBef>
              <a:spcAft>
                <a:spcPts val="0"/>
              </a:spcAft>
              <a:buNone/>
            </a:pPr>
            <a:r>
              <a:rPr lang="en-US" sz="1500"/>
              <a:t>Correctly predicted 3 successful launches.</a:t>
            </a:r>
            <a:endParaRPr sz="1500"/>
          </a:p>
          <a:p>
            <a:pPr marL="457200" lvl="0" indent="0" algn="l" rtl="0">
              <a:lnSpc>
                <a:spcPct val="115000"/>
              </a:lnSpc>
              <a:spcBef>
                <a:spcPts val="1200"/>
              </a:spcBef>
              <a:spcAft>
                <a:spcPts val="0"/>
              </a:spcAft>
              <a:buNone/>
            </a:pPr>
            <a:r>
              <a:rPr lang="en-US" sz="1500"/>
              <a:t>Correctly predicted 3 unsuccessful launches.</a:t>
            </a:r>
            <a:endParaRPr sz="1500"/>
          </a:p>
          <a:p>
            <a:pPr marL="457200" lvl="0" indent="0" algn="l" rtl="0">
              <a:lnSpc>
                <a:spcPct val="115000"/>
              </a:lnSpc>
              <a:spcBef>
                <a:spcPts val="1200"/>
              </a:spcBef>
              <a:spcAft>
                <a:spcPts val="0"/>
              </a:spcAft>
              <a:buNone/>
            </a:pPr>
            <a:r>
              <a:rPr lang="en-US" sz="1500"/>
              <a:t>Made no errors in predicting a successful launch that didn't happen.</a:t>
            </a:r>
            <a:endParaRPr sz="1500"/>
          </a:p>
          <a:p>
            <a:pPr marL="457200" lvl="0" indent="0" algn="l" rtl="0">
              <a:lnSpc>
                <a:spcPct val="115000"/>
              </a:lnSpc>
              <a:spcBef>
                <a:spcPts val="1200"/>
              </a:spcBef>
              <a:spcAft>
                <a:spcPts val="0"/>
              </a:spcAft>
              <a:buNone/>
            </a:pPr>
            <a:r>
              <a:rPr lang="en-US" sz="1500"/>
              <a:t>Incorrectly predicted 12 successful launches that turned out to be unsuccessful.</a:t>
            </a:r>
            <a:endParaRPr sz="1500"/>
          </a:p>
          <a:p>
            <a:pPr marL="0" lvl="0" indent="0" algn="l" rtl="0">
              <a:spcBef>
                <a:spcPts val="1200"/>
              </a:spcBef>
              <a:spcAft>
                <a:spcPts val="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5"/>
        <p:cNvGrpSpPr/>
        <p:nvPr/>
      </p:nvGrpSpPr>
      <p:grpSpPr>
        <a:xfrm>
          <a:off x="0" y="0"/>
          <a:ext cx="0" cy="0"/>
          <a:chOff x="0" y="0"/>
          <a:chExt cx="0" cy="0"/>
        </a:xfrm>
      </p:grpSpPr>
      <p:sp>
        <p:nvSpPr>
          <p:cNvPr id="586" name="Google Shape;586;p45"/>
          <p:cNvSpPr txBox="1">
            <a:spLocks noGrp="1"/>
          </p:cNvSpPr>
          <p:nvPr>
            <p:ph type="body" idx="4294967295"/>
          </p:nvPr>
        </p:nvSpPr>
        <p:spPr>
          <a:xfrm>
            <a:off x="770058" y="1874875"/>
            <a:ext cx="10515300" cy="4350900"/>
          </a:xfrm>
          <a:prstGeom prst="rect">
            <a:avLst/>
          </a:prstGeom>
          <a:noFill/>
          <a:ln>
            <a:noFill/>
          </a:ln>
        </p:spPr>
        <p:txBody>
          <a:bodyPr spcFirstLastPara="1" wrap="square" lIns="90000" tIns="45000" rIns="90000" bIns="450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In this project, we have carried out a detailed exploratory and predictive analysis on SpaceX launch data. Key conclusions and future directions are as follows:</a:t>
            </a:r>
            <a:endParaRPr sz="1500">
              <a:solidFill>
                <a:schemeClr val="dk1"/>
              </a:solidFill>
            </a:endParaRPr>
          </a:p>
          <a:p>
            <a:pPr marL="457200" lvl="0" indent="-323850" algn="l" rtl="0">
              <a:lnSpc>
                <a:spcPct val="115000"/>
              </a:lnSpc>
              <a:spcBef>
                <a:spcPts val="1200"/>
              </a:spcBef>
              <a:spcAft>
                <a:spcPts val="0"/>
              </a:spcAft>
              <a:buClr>
                <a:schemeClr val="dk1"/>
              </a:buClr>
              <a:buSzPts val="1500"/>
              <a:buAutoNum type="arabicPeriod"/>
            </a:pPr>
            <a:r>
              <a:rPr lang="en-US" sz="1500" b="1">
                <a:solidFill>
                  <a:schemeClr val="dk1"/>
                </a:solidFill>
              </a:rPr>
              <a:t>Data Wrangling and Cleaning:</a:t>
            </a:r>
            <a:r>
              <a:rPr lang="en-US" sz="1500">
                <a:solidFill>
                  <a:schemeClr val="dk1"/>
                </a:solidFill>
              </a:rPr>
              <a:t> This stage proved essential for the success of the project. The SpaceX API data was enriched, cleaned, and transformed for meaningful analysis. We handled missing values, outliers, and made necessary transformations like converting payload mass to numeric format.</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Exploratory Data Analysis:</a:t>
            </a:r>
            <a:r>
              <a:rPr lang="en-US" sz="1500">
                <a:solidFill>
                  <a:schemeClr val="dk1"/>
                </a:solidFill>
              </a:rPr>
              <a:t> We've uncovered interesting patterns and insights from the data. For instance, some launch sites have higher success rates than others. Additionally, we observed a trend in payload mass and launch success. Visualization charts were instrumental in aiding our understanding of the data.</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SQL and Data Manipulation:</a:t>
            </a:r>
            <a:r>
              <a:rPr lang="en-US" sz="1500">
                <a:solidFill>
                  <a:schemeClr val="dk1"/>
                </a:solidFill>
              </a:rPr>
              <a:t> The use of SQL facilitated querying the database and extracting specific information, aiding in a deeper understanding of the dataset.</a:t>
            </a:r>
            <a:endParaRPr sz="1500">
              <a:solidFill>
                <a:schemeClr val="dk1"/>
              </a:solidFill>
            </a:endParaRPr>
          </a:p>
          <a:p>
            <a:pPr marL="457200" lvl="0" indent="-323850" algn="l" rtl="0">
              <a:lnSpc>
                <a:spcPct val="115000"/>
              </a:lnSpc>
              <a:spcBef>
                <a:spcPts val="0"/>
              </a:spcBef>
              <a:spcAft>
                <a:spcPts val="0"/>
              </a:spcAft>
              <a:buClr>
                <a:schemeClr val="dk1"/>
              </a:buClr>
              <a:buSzPts val="1500"/>
              <a:buAutoNum type="arabicPeriod"/>
            </a:pPr>
            <a:r>
              <a:rPr lang="en-US" sz="1500" b="1">
                <a:solidFill>
                  <a:schemeClr val="dk1"/>
                </a:solidFill>
              </a:rPr>
              <a:t>Predictive Modeling:</a:t>
            </a:r>
            <a:r>
              <a:rPr lang="en-US" sz="1500">
                <a:solidFill>
                  <a:schemeClr val="dk1"/>
                </a:solidFill>
              </a:rPr>
              <a:t> Four different machine learning models were used for classification - Logistic Regression, Support Vector Machines, Decision Trees, and K-Nearest Neighbors. Of these, Logistic Regression produced the highest accuracy. However, our model struggled with a high number of False Negatives, indicating areas for improvement.</a:t>
            </a:r>
            <a:endParaRPr sz="1500">
              <a:solidFill>
                <a:schemeClr val="dk1"/>
              </a:solidFill>
            </a:endParaRPr>
          </a:p>
          <a:p>
            <a:pPr marL="0" marR="0" lvl="0" indent="0" algn="l" rtl="0">
              <a:lnSpc>
                <a:spcPct val="100000"/>
              </a:lnSpc>
              <a:spcBef>
                <a:spcPts val="1400"/>
              </a:spcBef>
              <a:spcAft>
                <a:spcPts val="0"/>
              </a:spcAft>
              <a:buClr>
                <a:srgbClr val="292929"/>
              </a:buClr>
              <a:buSzPts val="2200"/>
              <a:buFont typeface="Arial"/>
              <a:buNone/>
            </a:pPr>
            <a:endParaRPr sz="2200">
              <a:solidFill>
                <a:srgbClr val="292929"/>
              </a:solidFill>
            </a:endParaRPr>
          </a:p>
        </p:txBody>
      </p:sp>
      <p:sp>
        <p:nvSpPr>
          <p:cNvPr id="587" name="Google Shape;587;p45"/>
          <p:cNvSpPr/>
          <p:nvPr/>
        </p:nvSpPr>
        <p:spPr>
          <a:xfrm>
            <a:off x="770040" y="538560"/>
            <a:ext cx="10515240" cy="54864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90000"/>
              </a:lnSpc>
              <a:spcBef>
                <a:spcPts val="0"/>
              </a:spcBef>
              <a:spcAft>
                <a:spcPts val="0"/>
              </a:spcAft>
              <a:buNone/>
            </a:pPr>
            <a:r>
              <a:rPr lang="en-US" sz="3400" b="0" i="0" u="none" strike="noStrike" cap="none">
                <a:solidFill>
                  <a:srgbClr val="0B49CB"/>
                </a:solidFill>
                <a:latin typeface="Arial"/>
                <a:ea typeface="Arial"/>
                <a:cs typeface="Arial"/>
                <a:sym typeface="Arial"/>
              </a:rPr>
              <a:t>Conclusions</a:t>
            </a:r>
            <a:endParaRPr sz="3400" b="0" i="0" u="none" strike="noStrike" cap="none">
              <a:solidFill>
                <a:srgbClr val="000000"/>
              </a:solidFill>
              <a:latin typeface="Arial"/>
              <a:ea typeface="Arial"/>
              <a:cs typeface="Arial"/>
              <a:sym typeface="Arial"/>
            </a:endParaRPr>
          </a:p>
        </p:txBody>
      </p:sp>
      <p:sp>
        <p:nvSpPr>
          <p:cNvPr id="588" name="Google Shape;588;p45"/>
          <p:cNvSpPr txBox="1">
            <a:spLocks noGrp="1"/>
          </p:cNvSpPr>
          <p:nvPr>
            <p:ph type="sldNum" idx="12"/>
          </p:nvPr>
        </p:nvSpPr>
        <p:spPr>
          <a:xfrm>
            <a:off x="8714880" y="6025680"/>
            <a:ext cx="2742840" cy="4014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1C7DDB"/>
              </a:buClr>
              <a:buSzPts val="1600"/>
              <a:buFont typeface="Arial"/>
              <a:buNone/>
            </a:pPr>
            <a:fld id="{00000000-1234-1234-1234-123412341234}" type="slidenum">
              <a:rPr lang="en-US" sz="1600" b="0" strike="noStrike">
                <a:solidFill>
                  <a:srgbClr val="1C7DDB"/>
                </a:solidFill>
                <a:latin typeface="Arial"/>
                <a:ea typeface="Arial"/>
                <a:cs typeface="Arial"/>
                <a:sym typeface="Arial"/>
              </a:rPr>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24b54dfaa98_0_70"/>
          <p:cNvSpPr/>
          <p:nvPr/>
        </p:nvSpPr>
        <p:spPr>
          <a:xfrm>
            <a:off x="770040" y="538560"/>
            <a:ext cx="10515300" cy="548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US" sz="3400">
                <a:solidFill>
                  <a:srgbClr val="0B49CB"/>
                </a:solidFill>
              </a:rPr>
              <a:t>Future</a:t>
            </a:r>
            <a:endParaRPr sz="3400" b="0" i="0" u="none" strike="noStrike" cap="none">
              <a:solidFill>
                <a:srgbClr val="000000"/>
              </a:solidFill>
              <a:latin typeface="Arial"/>
              <a:ea typeface="Arial"/>
              <a:cs typeface="Arial"/>
              <a:sym typeface="Arial"/>
            </a:endParaRPr>
          </a:p>
        </p:txBody>
      </p:sp>
      <p:sp>
        <p:nvSpPr>
          <p:cNvPr id="595" name="Google Shape;595;g24b54dfaa98_0_70"/>
          <p:cNvSpPr txBox="1"/>
          <p:nvPr/>
        </p:nvSpPr>
        <p:spPr>
          <a:xfrm>
            <a:off x="911275" y="1287050"/>
            <a:ext cx="10428000" cy="325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Moving forward, the following steps could further enhance our analysis and predictive capabilities:</a:t>
            </a:r>
            <a:endParaRPr sz="1500">
              <a:solidFill>
                <a:schemeClr val="dk1"/>
              </a:solidFill>
            </a:endParaRPr>
          </a:p>
          <a:p>
            <a:pPr marL="457200" lvl="0" indent="-323850" algn="l" rtl="0">
              <a:lnSpc>
                <a:spcPct val="115000"/>
              </a:lnSpc>
              <a:spcBef>
                <a:spcPts val="1200"/>
              </a:spcBef>
              <a:spcAft>
                <a:spcPts val="0"/>
              </a:spcAft>
              <a:buClr>
                <a:schemeClr val="dk1"/>
              </a:buClr>
              <a:buSzPts val="1500"/>
              <a:buChar char="●"/>
            </a:pPr>
            <a:r>
              <a:rPr lang="en-US" sz="1500" b="1">
                <a:solidFill>
                  <a:schemeClr val="dk1"/>
                </a:solidFill>
              </a:rPr>
              <a:t>Improving Model Performance:</a:t>
            </a:r>
            <a:r>
              <a:rPr lang="en-US" sz="1500">
                <a:solidFill>
                  <a:schemeClr val="dk1"/>
                </a:solidFill>
              </a:rPr>
              <a:t> Experimenting with other advanced machine learning models and optimizing current models could potentially yield better results.</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b="1">
                <a:solidFill>
                  <a:schemeClr val="dk1"/>
                </a:solidFill>
              </a:rPr>
              <a:t>Feature Engineering:</a:t>
            </a:r>
            <a:r>
              <a:rPr lang="en-US" sz="1500">
                <a:solidFill>
                  <a:schemeClr val="dk1"/>
                </a:solidFill>
              </a:rPr>
              <a:t> Creation of new features and careful selection of features could help in improving the model performance.</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b="1">
                <a:solidFill>
                  <a:schemeClr val="dk1"/>
                </a:solidFill>
              </a:rPr>
              <a:t>More Data:</a:t>
            </a:r>
            <a:r>
              <a:rPr lang="en-US" sz="1500">
                <a:solidFill>
                  <a:schemeClr val="dk1"/>
                </a:solidFill>
              </a:rPr>
              <a:t> As SpaceX continues with its missions, the dataset will grow. More data will enhance the model's performance and predictions.</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500">
                <a:solidFill>
                  <a:schemeClr val="dk1"/>
                </a:solidFill>
              </a:rPr>
              <a:t>In conclusion, while we have made significant progress in analyzing and predicting SpaceX launch success, there are many avenues for further research and improvement. Our project provides a solid foundation for these future efforts.</a:t>
            </a:r>
            <a:endParaRPr sz="1500">
              <a:solidFill>
                <a:schemeClr val="dk1"/>
              </a:solidFill>
            </a:endParaRPr>
          </a:p>
          <a:p>
            <a:pPr marL="0" lvl="0" indent="0" algn="l" rtl="0">
              <a:spcBef>
                <a:spcPts val="1200"/>
              </a:spcBef>
              <a:spcAft>
                <a:spcPts val="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9"/>
        <p:cNvGrpSpPr/>
        <p:nvPr/>
      </p:nvGrpSpPr>
      <p:grpSpPr>
        <a:xfrm>
          <a:off x="0" y="0"/>
          <a:ext cx="0" cy="0"/>
          <a:chOff x="0" y="0"/>
          <a:chExt cx="0" cy="0"/>
        </a:xfrm>
      </p:grpSpPr>
    </p:spTree>
  </p:cSld>
  <p:clrMapOvr>
    <a:masterClrMapping/>
  </p:clrMapOvr>
  <p:transition spd="slow">
    <p:push/>
  </p:transition>
</p:sld>
</file>

<file path=ppt/theme/theme1.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4433</Words>
  <Application>Microsoft Office PowerPoint</Application>
  <PresentationFormat>Panorámica</PresentationFormat>
  <Paragraphs>238</Paragraphs>
  <Slides>43</Slides>
  <Notes>43</Notes>
  <HiddenSlides>0</HiddenSlides>
  <MMClips>0</MMClips>
  <ScaleCrop>false</ScaleCrop>
  <HeadingPairs>
    <vt:vector size="6" baseType="variant">
      <vt:variant>
        <vt:lpstr>Fuentes usadas</vt:lpstr>
      </vt:variant>
      <vt:variant>
        <vt:i4>4</vt:i4>
      </vt:variant>
      <vt:variant>
        <vt:lpstr>Tema</vt:lpstr>
      </vt:variant>
      <vt:variant>
        <vt:i4>4</vt:i4>
      </vt:variant>
      <vt:variant>
        <vt:lpstr>Títulos de diapositiva</vt:lpstr>
      </vt:variant>
      <vt:variant>
        <vt:i4>43</vt:i4>
      </vt:variant>
    </vt:vector>
  </HeadingPairs>
  <TitlesOfParts>
    <vt:vector size="51" baseType="lpstr">
      <vt:lpstr>Arial</vt:lpstr>
      <vt:lpstr>Times New Roman</vt:lpstr>
      <vt:lpstr>Roboto Mono</vt:lpstr>
      <vt:lpstr>Calibri</vt:lpstr>
      <vt:lpstr>Custom Design</vt:lpstr>
      <vt:lpstr>Custom Design</vt:lpstr>
      <vt:lpstr>Custom Design</vt:lpstr>
      <vt:lpstr>Custom Design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YAN Luo</dc:creator>
  <cp:lastModifiedBy>Samuel F.</cp:lastModifiedBy>
  <cp:revision>1</cp:revision>
  <dcterms:created xsi:type="dcterms:W3CDTF">2021-04-29T18:58:34Z</dcterms:created>
  <dcterms:modified xsi:type="dcterms:W3CDTF">2025-09-05T00:13:52Z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Notes">
    <vt:i4>4</vt:i4>
  </property>
  <property fmtid="{D5CDD505-2E9C-101B-9397-08002B2CF9AE}" pid="4" name="PresentationFormat">
    <vt:lpwstr>Widescreen</vt:lpwstr>
  </property>
  <property fmtid="{D5CDD505-2E9C-101B-9397-08002B2CF9AE}" pid="5" name="Slides">
    <vt:i4>47</vt:i4>
  </property>
</Properties>
</file>